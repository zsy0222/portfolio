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56" r:id="rId2"/>
    <p:sldId id="257" r:id="rId3"/>
    <p:sldId id="293" r:id="rId4"/>
    <p:sldId id="294" r:id="rId5"/>
    <p:sldId id="295" r:id="rId6"/>
    <p:sldId id="307" r:id="rId7"/>
    <p:sldId id="306" r:id="rId8"/>
    <p:sldId id="296" r:id="rId9"/>
    <p:sldId id="297" r:id="rId10"/>
    <p:sldId id="298" r:id="rId11"/>
    <p:sldId id="299" r:id="rId12"/>
    <p:sldId id="300" r:id="rId13"/>
    <p:sldId id="301" r:id="rId14"/>
    <p:sldId id="302" r:id="rId15"/>
    <p:sldId id="303" r:id="rId16"/>
    <p:sldId id="304" r:id="rId17"/>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81" autoAdjust="0"/>
    <p:restoredTop sz="94660"/>
  </p:normalViewPr>
  <p:slideViewPr>
    <p:cSldViewPr snapToGrid="0">
      <p:cViewPr varScale="1">
        <p:scale>
          <a:sx n="115" d="100"/>
          <a:sy n="115" d="100"/>
        </p:scale>
        <p:origin x="1362"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39002E-6663-44C7-8136-2276ECC2B749}" type="datetimeFigureOut">
              <a:rPr lang="zh-CN" altLang="en-US" smtClean="0"/>
              <a:t>2021/12/20</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BD2699-BFC2-46FE-A849-DE58F412D66F}" type="slidenum">
              <a:rPr lang="zh-CN" altLang="en-US" smtClean="0"/>
              <a:t>‹#›</a:t>
            </a:fld>
            <a:endParaRPr lang="zh-CN" altLang="en-US"/>
          </a:p>
        </p:txBody>
      </p:sp>
    </p:spTree>
    <p:extLst>
      <p:ext uri="{BB962C8B-B14F-4D97-AF65-F5344CB8AC3E}">
        <p14:creationId xmlns:p14="http://schemas.microsoft.com/office/powerpoint/2010/main" val="15221692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74133" y="2404536"/>
            <a:ext cx="7772400" cy="715963"/>
          </a:xfrm>
        </p:spPr>
        <p:txBody>
          <a:bodyPr anchor="b">
            <a:normAutofit/>
          </a:bodyPr>
          <a:lstStyle>
            <a:lvl1pPr algn="l">
              <a:defRPr sz="3600">
                <a:solidFill>
                  <a:schemeClr val="bg1"/>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en-US" dirty="0"/>
          </a:p>
        </p:txBody>
      </p:sp>
      <p:sp>
        <p:nvSpPr>
          <p:cNvPr id="3" name="Subtitle 2"/>
          <p:cNvSpPr>
            <a:spLocks noGrp="1"/>
          </p:cNvSpPr>
          <p:nvPr>
            <p:ph type="subTitle" idx="1" hasCustomPrompt="1"/>
          </p:nvPr>
        </p:nvSpPr>
        <p:spPr>
          <a:xfrm>
            <a:off x="533399" y="3407310"/>
            <a:ext cx="6858000" cy="495829"/>
          </a:xfrm>
        </p:spPr>
        <p:txBody>
          <a:bodyPr>
            <a:normAutofit/>
          </a:bodyPr>
          <a:lstStyle>
            <a:lvl1pPr marL="0" indent="0" algn="l">
              <a:buNone/>
              <a:defRPr sz="2000" baseline="0">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dirty="0" smtClean="0"/>
              <a:t>— </a:t>
            </a:r>
            <a:r>
              <a:rPr lang="zh-CN" altLang="en-US" dirty="0" smtClean="0"/>
              <a:t>单击此处编辑母版副标题样式</a:t>
            </a:r>
            <a:endParaRPr lang="en-US" dirty="0"/>
          </a:p>
        </p:txBody>
      </p:sp>
      <p:sp>
        <p:nvSpPr>
          <p:cNvPr id="4" name="Date Placeholder 3"/>
          <p:cNvSpPr>
            <a:spLocks noGrp="1"/>
          </p:cNvSpPr>
          <p:nvPr>
            <p:ph type="dt" sz="half" idx="10"/>
          </p:nvPr>
        </p:nvSpPr>
        <p:spPr/>
        <p:txBody>
          <a:bodyPr/>
          <a:lstStyle/>
          <a:p>
            <a:fld id="{261D6E3F-3296-44D2-823C-DE11DCBDC05C}" type="datetime1">
              <a:rPr lang="zh-CN" altLang="en-US" smtClean="0"/>
              <a:t>2021/12/20</a:t>
            </a:fld>
            <a:endParaRPr lang="zh-CN" altLang="en-US"/>
          </a:p>
        </p:txBody>
      </p:sp>
      <p:sp>
        <p:nvSpPr>
          <p:cNvPr id="5" name="Footer Placeholder 4"/>
          <p:cNvSpPr>
            <a:spLocks noGrp="1"/>
          </p:cNvSpPr>
          <p:nvPr>
            <p:ph type="ftr" sz="quarter" idx="11"/>
          </p:nvPr>
        </p:nvSpPr>
        <p:spPr>
          <a:xfrm>
            <a:off x="3028950" y="6533093"/>
            <a:ext cx="3086100" cy="365125"/>
          </a:xfrm>
        </p:spPr>
        <p:txBody>
          <a:bodyPr/>
          <a:lstStyle>
            <a:lvl1pPr>
              <a:defRPr>
                <a:solidFill>
                  <a:schemeClr val="bg2">
                    <a:lumMod val="25000"/>
                  </a:schemeClr>
                </a:solidFill>
              </a:defRPr>
            </a:lvl1pPr>
          </a:lstStyle>
          <a:p>
            <a:r>
              <a:rPr lang="zh-CN" altLang="en-US" dirty="0" smtClean="0"/>
              <a:t>南京大学商学院</a:t>
            </a:r>
            <a:endParaRPr lang="zh-CN" altLang="en-US" dirty="0"/>
          </a:p>
        </p:txBody>
      </p:sp>
      <p:sp>
        <p:nvSpPr>
          <p:cNvPr id="6" name="Slide Number Placeholder 5"/>
          <p:cNvSpPr>
            <a:spLocks noGrp="1"/>
          </p:cNvSpPr>
          <p:nvPr>
            <p:ph type="sldNum" sz="quarter" idx="12"/>
          </p:nvPr>
        </p:nvSpPr>
        <p:spPr/>
        <p:txBody>
          <a:bodyPr/>
          <a:lstStyle/>
          <a:p>
            <a:fld id="{10F2143F-0457-4E80-A290-5DB1806D65E5}" type="slidenum">
              <a:rPr lang="zh-CN" altLang="en-US" smtClean="0"/>
              <a:t>‹#›</a:t>
            </a:fld>
            <a:endParaRPr lang="zh-CN" altLang="en-US"/>
          </a:p>
        </p:txBody>
      </p:sp>
    </p:spTree>
    <p:extLst>
      <p:ext uri="{BB962C8B-B14F-4D97-AF65-F5344CB8AC3E}">
        <p14:creationId xmlns:p14="http://schemas.microsoft.com/office/powerpoint/2010/main" val="1162771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8650" y="804332"/>
            <a:ext cx="5755217" cy="778931"/>
          </a:xfrm>
        </p:spPr>
        <p:txBody>
          <a:bodyPr>
            <a:normAutofit/>
          </a:bodyPr>
          <a:lstStyle>
            <a:lvl1pPr>
              <a:defRPr sz="2800">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628650" y="1701799"/>
            <a:ext cx="7886700" cy="4555067"/>
          </a:xfrm>
        </p:spPr>
        <p:txBody>
          <a:bodyPr/>
          <a:lstStyle>
            <a:lvl1pPr>
              <a:lnSpc>
                <a:spcPct val="150000"/>
              </a:lnSpc>
              <a:spcBef>
                <a:spcPts val="0"/>
              </a:spcBef>
              <a:defRPr sz="2400" baseline="0">
                <a:latin typeface="微软雅黑" panose="020B0503020204020204" pitchFamily="34" charset="-122"/>
                <a:ea typeface="微软雅黑" panose="020B0503020204020204" pitchFamily="34" charset="-122"/>
              </a:defRPr>
            </a:lvl1pPr>
            <a:lvl2pPr>
              <a:lnSpc>
                <a:spcPct val="150000"/>
              </a:lnSpc>
              <a:spcBef>
                <a:spcPts val="0"/>
              </a:spcBef>
              <a:defRPr sz="2000" baseline="0">
                <a:latin typeface="微软雅黑" panose="020B0503020204020204" pitchFamily="34" charset="-122"/>
                <a:ea typeface="微软雅黑" panose="020B0503020204020204" pitchFamily="34" charset="-122"/>
              </a:defRPr>
            </a:lvl2pPr>
            <a:lvl3pPr>
              <a:lnSpc>
                <a:spcPct val="150000"/>
              </a:lnSpc>
              <a:spcBef>
                <a:spcPts val="0"/>
              </a:spcBef>
              <a:defRPr>
                <a:latin typeface="微软雅黑" panose="020B0503020204020204" pitchFamily="34" charset="-122"/>
                <a:ea typeface="微软雅黑" panose="020B0503020204020204" pitchFamily="34" charset="-122"/>
              </a:defRPr>
            </a:lvl3pPr>
            <a:lvl4pPr>
              <a:lnSpc>
                <a:spcPct val="150000"/>
              </a:lnSpc>
              <a:spcBef>
                <a:spcPts val="0"/>
              </a:spcBef>
              <a:defRPr>
                <a:latin typeface="微软雅黑" panose="020B0503020204020204" pitchFamily="34" charset="-122"/>
                <a:ea typeface="微软雅黑" panose="020B0503020204020204" pitchFamily="34" charset="-122"/>
              </a:defRPr>
            </a:lvl4pPr>
            <a:lvl5pPr>
              <a:lnSpc>
                <a:spcPct val="150000"/>
              </a:lnSpc>
              <a:spcBef>
                <a:spcPts val="0"/>
              </a:spcBef>
              <a:defRPr>
                <a:latin typeface="微软雅黑" panose="020B0503020204020204" pitchFamily="34" charset="-122"/>
                <a:ea typeface="微软雅黑" panose="020B0503020204020204" pitchFamily="34" charset="-122"/>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dirty="0"/>
          </a:p>
        </p:txBody>
      </p:sp>
      <p:sp>
        <p:nvSpPr>
          <p:cNvPr id="4" name="Date Placeholder 3"/>
          <p:cNvSpPr>
            <a:spLocks noGrp="1"/>
          </p:cNvSpPr>
          <p:nvPr>
            <p:ph type="dt" sz="half" idx="10"/>
          </p:nvPr>
        </p:nvSpPr>
        <p:spPr/>
        <p:txBody>
          <a:bodyPr/>
          <a:lstStyle/>
          <a:p>
            <a:fld id="{E0D2E42A-1E66-431D-BB59-EBF8D47B9C24}" type="datetime1">
              <a:rPr lang="zh-CN" altLang="en-US" smtClean="0"/>
              <a:t>2021/12/20</a:t>
            </a:fld>
            <a:endParaRPr lang="zh-CN" altLang="en-US"/>
          </a:p>
        </p:txBody>
      </p:sp>
      <p:sp>
        <p:nvSpPr>
          <p:cNvPr id="5" name="Footer Placeholder 4"/>
          <p:cNvSpPr>
            <a:spLocks noGrp="1"/>
          </p:cNvSpPr>
          <p:nvPr>
            <p:ph type="ftr" sz="quarter" idx="11"/>
          </p:nvPr>
        </p:nvSpPr>
        <p:spPr>
          <a:xfrm>
            <a:off x="3028950" y="6519864"/>
            <a:ext cx="3086100" cy="365125"/>
          </a:xfrm>
        </p:spPr>
        <p:txBody>
          <a:bodyPr/>
          <a:lstStyle>
            <a:lvl1pPr>
              <a:defRPr>
                <a:solidFill>
                  <a:schemeClr val="bg2">
                    <a:lumMod val="25000"/>
                  </a:schemeClr>
                </a:solidFill>
              </a:defRPr>
            </a:lvl1pPr>
          </a:lstStyle>
          <a:p>
            <a:r>
              <a:rPr lang="zh-CN" altLang="en-US" dirty="0" smtClean="0"/>
              <a:t>南京大学商学院</a:t>
            </a:r>
            <a:endParaRPr lang="zh-CN" altLang="en-US" dirty="0"/>
          </a:p>
        </p:txBody>
      </p:sp>
      <p:sp>
        <p:nvSpPr>
          <p:cNvPr id="6" name="Slide Number Placeholder 5"/>
          <p:cNvSpPr>
            <a:spLocks noGrp="1"/>
          </p:cNvSpPr>
          <p:nvPr>
            <p:ph type="sldNum" sz="quarter" idx="12"/>
          </p:nvPr>
        </p:nvSpPr>
        <p:spPr/>
        <p:txBody>
          <a:bodyPr/>
          <a:lstStyle/>
          <a:p>
            <a:fld id="{10F2143F-0457-4E80-A290-5DB1806D65E5}" type="slidenum">
              <a:rPr lang="zh-CN" altLang="en-US" smtClean="0"/>
              <a:t>‹#›</a:t>
            </a:fld>
            <a:endParaRPr lang="zh-CN" altLang="en-US"/>
          </a:p>
        </p:txBody>
      </p:sp>
    </p:spTree>
    <p:extLst>
      <p:ext uri="{BB962C8B-B14F-4D97-AF65-F5344CB8AC3E}">
        <p14:creationId xmlns:p14="http://schemas.microsoft.com/office/powerpoint/2010/main" val="89806664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dirty="0" smtClean="0"/>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9AFE1E-691E-4A3D-978C-4DE990FF2C2C}" type="datetime1">
              <a:rPr lang="zh-CN" altLang="en-US" smtClean="0"/>
              <a:t>2021/12/20</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smtClean="0"/>
              <a:t>南京大学商学院</a:t>
            </a:r>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F2143F-0457-4E80-A290-5DB1806D65E5}" type="slidenum">
              <a:rPr lang="zh-CN" altLang="en-US" smtClean="0"/>
              <a:t>‹#›</a:t>
            </a:fld>
            <a:endParaRPr lang="zh-CN" altLang="en-US"/>
          </a:p>
        </p:txBody>
      </p:sp>
    </p:spTree>
    <p:extLst>
      <p:ext uri="{BB962C8B-B14F-4D97-AF65-F5344CB8AC3E}">
        <p14:creationId xmlns:p14="http://schemas.microsoft.com/office/powerpoint/2010/main" val="3960140058"/>
      </p:ext>
    </p:extLst>
  </p:cSld>
  <p:clrMap bg1="lt1" tx1="dk1" bg2="lt2" tx2="dk2" accent1="accent1" accent2="accent2" accent3="accent3" accent4="accent4" accent5="accent5" accent6="accent6" hlink="hlink" folHlink="folHlink"/>
  <p:sldLayoutIdLst>
    <p:sldLayoutId id="2147483661" r:id="rId1"/>
    <p:sldLayoutId id="2147483662"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第八章 资本主义经济危机和历史趋势</a:t>
            </a:r>
          </a:p>
        </p:txBody>
      </p:sp>
      <p:sp>
        <p:nvSpPr>
          <p:cNvPr id="5" name="副标题 4"/>
          <p:cNvSpPr>
            <a:spLocks noGrp="1"/>
          </p:cNvSpPr>
          <p:nvPr>
            <p:ph type="subTitle" idx="1"/>
          </p:nvPr>
        </p:nvSpPr>
        <p:spPr/>
        <p:txBody>
          <a:bodyPr/>
          <a:lstStyle/>
          <a:p>
            <a:endParaRPr lang="zh-CN" altLang="en-US"/>
          </a:p>
        </p:txBody>
      </p:sp>
      <p:sp>
        <p:nvSpPr>
          <p:cNvPr id="3" name="灯片编号占位符 2"/>
          <p:cNvSpPr>
            <a:spLocks noGrp="1"/>
          </p:cNvSpPr>
          <p:nvPr>
            <p:ph type="sldNum" sz="quarter" idx="12"/>
          </p:nvPr>
        </p:nvSpPr>
        <p:spPr/>
        <p:txBody>
          <a:bodyPr/>
          <a:lstStyle/>
          <a:p>
            <a:fld id="{10F2143F-0457-4E80-A290-5DB1806D65E5}" type="slidenum">
              <a:rPr lang="zh-CN" altLang="en-US" smtClean="0"/>
              <a:t>1</a:t>
            </a:fld>
            <a:endParaRPr lang="zh-CN" altLang="en-US"/>
          </a:p>
        </p:txBody>
      </p:sp>
    </p:spTree>
    <p:extLst>
      <p:ext uri="{BB962C8B-B14F-4D97-AF65-F5344CB8AC3E}">
        <p14:creationId xmlns:p14="http://schemas.microsoft.com/office/powerpoint/2010/main" val="32241511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主要内容</a:t>
            </a:r>
            <a:endParaRPr lang="zh-CN" altLang="en-US" dirty="0"/>
          </a:p>
        </p:txBody>
      </p:sp>
      <p:sp>
        <p:nvSpPr>
          <p:cNvPr id="3" name="内容占位符 2"/>
          <p:cNvSpPr>
            <a:spLocks noGrp="1"/>
          </p:cNvSpPr>
          <p:nvPr>
            <p:ph idx="1"/>
          </p:nvPr>
        </p:nvSpPr>
        <p:spPr/>
        <p:txBody>
          <a:bodyPr/>
          <a:lstStyle/>
          <a:p>
            <a:r>
              <a:rPr lang="zh-CN" altLang="en-US" dirty="0" smtClean="0"/>
              <a:t>第一节 资本主义经济危机</a:t>
            </a:r>
            <a:endParaRPr lang="en-US" altLang="zh-CN" dirty="0" smtClean="0"/>
          </a:p>
          <a:p>
            <a:r>
              <a:rPr lang="zh-CN" altLang="en-US" dirty="0" smtClean="0"/>
              <a:t>第二节 资本主义的历史地位</a:t>
            </a:r>
            <a:endParaRPr lang="en-US" altLang="zh-CN" dirty="0" smtClean="0"/>
          </a:p>
          <a:p>
            <a:r>
              <a:rPr lang="zh-CN" altLang="en-US" dirty="0"/>
              <a:t>第三</a:t>
            </a:r>
            <a:r>
              <a:rPr lang="zh-CN" altLang="en-US" dirty="0" smtClean="0"/>
              <a:t>节 资本主义发展的历史趋势</a:t>
            </a:r>
            <a:endParaRPr lang="zh-CN" altLang="en-US" dirty="0"/>
          </a:p>
        </p:txBody>
      </p:sp>
      <p:sp>
        <p:nvSpPr>
          <p:cNvPr id="5" name="灯片编号占位符 4"/>
          <p:cNvSpPr>
            <a:spLocks noGrp="1"/>
          </p:cNvSpPr>
          <p:nvPr>
            <p:ph type="sldNum" sz="quarter" idx="12"/>
          </p:nvPr>
        </p:nvSpPr>
        <p:spPr/>
        <p:txBody>
          <a:bodyPr/>
          <a:lstStyle/>
          <a:p>
            <a:fld id="{10F2143F-0457-4E80-A290-5DB1806D65E5}" type="slidenum">
              <a:rPr lang="zh-CN" altLang="en-US" smtClean="0"/>
              <a:t>2</a:t>
            </a:fld>
            <a:endParaRPr lang="zh-CN" altLang="en-US"/>
          </a:p>
        </p:txBody>
      </p:sp>
    </p:spTree>
    <p:extLst>
      <p:ext uri="{BB962C8B-B14F-4D97-AF65-F5344CB8AC3E}">
        <p14:creationId xmlns:p14="http://schemas.microsoft.com/office/powerpoint/2010/main" val="10286023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lstStyle/>
          <a:p>
            <a:endParaRPr lang="en-US" altLang="zh-CN" dirty="0" smtClean="0"/>
          </a:p>
          <a:p>
            <a:endParaRPr lang="en-US" altLang="zh-CN" dirty="0"/>
          </a:p>
          <a:p>
            <a:endParaRPr lang="en-US" altLang="zh-CN" dirty="0" smtClean="0"/>
          </a:p>
          <a:p>
            <a:r>
              <a:rPr lang="zh-CN" altLang="en-US" dirty="0" smtClean="0"/>
              <a:t>第一节 </a:t>
            </a:r>
            <a:r>
              <a:rPr lang="zh-CN" altLang="en-US" dirty="0"/>
              <a:t>资本主义经济危机</a:t>
            </a:r>
          </a:p>
          <a:p>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3</a:t>
            </a:fld>
            <a:endParaRPr lang="zh-CN" altLang="en-US"/>
          </a:p>
        </p:txBody>
      </p:sp>
    </p:spTree>
    <p:extLst>
      <p:ext uri="{BB962C8B-B14F-4D97-AF65-F5344CB8AC3E}">
        <p14:creationId xmlns:p14="http://schemas.microsoft.com/office/powerpoint/2010/main" val="19460702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资本主义经济危机的实质和原因</a:t>
            </a:r>
            <a:endParaRPr lang="zh-CN" altLang="en-US" dirty="0"/>
          </a:p>
        </p:txBody>
      </p:sp>
      <p:sp>
        <p:nvSpPr>
          <p:cNvPr id="3" name="内容占位符 2"/>
          <p:cNvSpPr>
            <a:spLocks noGrp="1"/>
          </p:cNvSpPr>
          <p:nvPr>
            <p:ph idx="1"/>
          </p:nvPr>
        </p:nvSpPr>
        <p:spPr/>
        <p:txBody>
          <a:bodyPr/>
          <a:lstStyle/>
          <a:p>
            <a:r>
              <a:rPr lang="zh-CN" altLang="en-US" dirty="0" smtClean="0"/>
              <a:t>实质</a:t>
            </a:r>
            <a:endParaRPr lang="en-US" altLang="zh-CN" dirty="0" smtClean="0"/>
          </a:p>
          <a:p>
            <a:pPr lvl="1"/>
            <a:r>
              <a:rPr lang="zh-CN" altLang="en-US" dirty="0" smtClean="0"/>
              <a:t>生产相对过剩</a:t>
            </a:r>
            <a:endParaRPr lang="en-US" altLang="zh-CN" dirty="0" smtClean="0"/>
          </a:p>
          <a:p>
            <a:r>
              <a:rPr lang="zh-CN" altLang="en-US" dirty="0" smtClean="0"/>
              <a:t>原因</a:t>
            </a:r>
            <a:endParaRPr lang="en-US" altLang="zh-CN" dirty="0" smtClean="0"/>
          </a:p>
          <a:p>
            <a:pPr lvl="1"/>
            <a:r>
              <a:rPr lang="zh-CN" altLang="en-US" dirty="0" smtClean="0"/>
              <a:t>资本主义生产无限扩大趋势和人们有支付能力的需求相对缩小的矛盾导致经济危机</a:t>
            </a:r>
            <a:endParaRPr lang="en-US" altLang="zh-CN" dirty="0" smtClean="0"/>
          </a:p>
          <a:p>
            <a:pPr lvl="1"/>
            <a:r>
              <a:rPr lang="zh-CN" altLang="en-US" dirty="0" smtClean="0"/>
              <a:t>资本主义个别企业内部生产的有组织性与整个社会生产的无政府状态之间的矛盾</a:t>
            </a:r>
            <a:endParaRPr lang="en-US" altLang="zh-CN" dirty="0" smtClean="0"/>
          </a:p>
          <a:p>
            <a:pPr lvl="1"/>
            <a:r>
              <a:rPr lang="zh-CN" altLang="en-US" dirty="0" smtClean="0"/>
              <a:t>信用的发展是加剧资本主义经济危机的重要因素</a:t>
            </a:r>
            <a:endParaRPr lang="en-US" altLang="zh-CN" dirty="0" smtClean="0"/>
          </a:p>
          <a:p>
            <a:pPr lvl="1"/>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4</a:t>
            </a:fld>
            <a:endParaRPr lang="zh-CN" altLang="en-US"/>
          </a:p>
        </p:txBody>
      </p:sp>
    </p:spTree>
    <p:extLst>
      <p:ext uri="{BB962C8B-B14F-4D97-AF65-F5344CB8AC3E}">
        <p14:creationId xmlns:p14="http://schemas.microsoft.com/office/powerpoint/2010/main" val="8167243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资本主义经济危机的</a:t>
            </a:r>
            <a:r>
              <a:rPr lang="zh-CN" altLang="en-US" dirty="0" smtClean="0"/>
              <a:t>周期性</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smtClean="0"/>
              <a:t>周期性：危机阶段、萧条阶段、复苏阶段、繁荣阶段</a:t>
            </a:r>
            <a:endParaRPr lang="en-US" altLang="zh-CN" dirty="0" smtClean="0"/>
          </a:p>
          <a:p>
            <a:pPr lvl="1"/>
            <a:r>
              <a:rPr lang="zh-CN" altLang="en-US" dirty="0" smtClean="0"/>
              <a:t>危机阶段</a:t>
            </a:r>
            <a:endParaRPr lang="en-US" altLang="zh-CN" dirty="0" smtClean="0"/>
          </a:p>
          <a:p>
            <a:pPr lvl="2"/>
            <a:r>
              <a:rPr lang="zh-CN" altLang="en-US" dirty="0" smtClean="0"/>
              <a:t>商品生产过剩，价格猛跌，信用关系破坏，生产急剧缩小，失业急剧增长、工资下降</a:t>
            </a:r>
            <a:endParaRPr lang="en-US" altLang="zh-CN" dirty="0" smtClean="0"/>
          </a:p>
          <a:p>
            <a:pPr lvl="1"/>
            <a:r>
              <a:rPr lang="zh-CN" altLang="en-US" dirty="0" smtClean="0"/>
              <a:t>萧条阶段</a:t>
            </a:r>
            <a:endParaRPr lang="en-US" altLang="zh-CN" dirty="0" smtClean="0"/>
          </a:p>
          <a:p>
            <a:pPr lvl="2"/>
            <a:r>
              <a:rPr lang="zh-CN" altLang="en-US" dirty="0" smtClean="0"/>
              <a:t>社会购买力低，信用关系呆滞，一部分企业开始恢复生产，寻找降低成本途径（加大剥削，降低工资和提高劳动强度；采用先进生产技术）</a:t>
            </a:r>
            <a:endParaRPr lang="en-US" altLang="zh-CN" dirty="0" smtClean="0"/>
          </a:p>
          <a:p>
            <a:pPr lvl="2"/>
            <a:r>
              <a:rPr lang="zh-CN" altLang="en-US" dirty="0" smtClean="0"/>
              <a:t>固定资本大规模更新推动生产资料和生活资料全面恢复和增长</a:t>
            </a:r>
            <a:endParaRPr lang="en-US" altLang="zh-CN" dirty="0" smtClean="0"/>
          </a:p>
        </p:txBody>
      </p:sp>
      <p:sp>
        <p:nvSpPr>
          <p:cNvPr id="4" name="灯片编号占位符 3"/>
          <p:cNvSpPr>
            <a:spLocks noGrp="1"/>
          </p:cNvSpPr>
          <p:nvPr>
            <p:ph type="sldNum" sz="quarter" idx="12"/>
          </p:nvPr>
        </p:nvSpPr>
        <p:spPr/>
        <p:txBody>
          <a:bodyPr/>
          <a:lstStyle/>
          <a:p>
            <a:fld id="{10F2143F-0457-4E80-A290-5DB1806D65E5}" type="slidenum">
              <a:rPr lang="zh-CN" altLang="en-US" smtClean="0"/>
              <a:t>5</a:t>
            </a:fld>
            <a:endParaRPr lang="zh-CN" altLang="en-US"/>
          </a:p>
        </p:txBody>
      </p:sp>
    </p:spTree>
    <p:extLst>
      <p:ext uri="{BB962C8B-B14F-4D97-AF65-F5344CB8AC3E}">
        <p14:creationId xmlns:p14="http://schemas.microsoft.com/office/powerpoint/2010/main" val="42640456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资本主义经济危机的周期性</a:t>
            </a:r>
          </a:p>
        </p:txBody>
      </p:sp>
      <p:sp>
        <p:nvSpPr>
          <p:cNvPr id="3" name="内容占位符 2"/>
          <p:cNvSpPr>
            <a:spLocks noGrp="1"/>
          </p:cNvSpPr>
          <p:nvPr>
            <p:ph idx="1"/>
          </p:nvPr>
        </p:nvSpPr>
        <p:spPr/>
        <p:txBody>
          <a:bodyPr>
            <a:normAutofit lnSpcReduction="10000"/>
          </a:bodyPr>
          <a:lstStyle/>
          <a:p>
            <a:r>
              <a:rPr lang="zh-CN" altLang="en-US" dirty="0"/>
              <a:t>周期性：危机阶段、萧条阶段、复苏阶段</a:t>
            </a:r>
            <a:r>
              <a:rPr lang="zh-CN" altLang="en-US" dirty="0" smtClean="0"/>
              <a:t>、</a:t>
            </a:r>
            <a:r>
              <a:rPr lang="zh-CN" altLang="en-US" dirty="0"/>
              <a:t>繁荣</a:t>
            </a:r>
            <a:r>
              <a:rPr lang="zh-CN" altLang="en-US" dirty="0" smtClean="0"/>
              <a:t>阶段</a:t>
            </a:r>
            <a:endParaRPr lang="en-US" altLang="zh-CN" dirty="0" smtClean="0"/>
          </a:p>
          <a:p>
            <a:pPr lvl="1"/>
            <a:r>
              <a:rPr lang="zh-CN" altLang="en-US" dirty="0" smtClean="0"/>
              <a:t>复苏阶段</a:t>
            </a:r>
            <a:endParaRPr lang="en-US" altLang="zh-CN" dirty="0" smtClean="0"/>
          </a:p>
          <a:p>
            <a:pPr lvl="2"/>
            <a:r>
              <a:rPr lang="zh-CN" altLang="en-US" dirty="0" smtClean="0"/>
              <a:t>经济开始增长、市场销售量增加，物价回升，就业人数增加；信用关系活跃，资本家进一步扩大生产经营，</a:t>
            </a:r>
            <a:r>
              <a:rPr lang="zh-CN" altLang="en-US" dirty="0"/>
              <a:t>社会生产达到并超过危机前的</a:t>
            </a:r>
            <a:r>
              <a:rPr lang="zh-CN" altLang="en-US" dirty="0" smtClean="0"/>
              <a:t>最高点，进入繁荣</a:t>
            </a:r>
            <a:endParaRPr lang="en-US" altLang="zh-CN" dirty="0"/>
          </a:p>
          <a:p>
            <a:pPr lvl="1"/>
            <a:r>
              <a:rPr lang="zh-CN" altLang="en-US" dirty="0" smtClean="0"/>
              <a:t>繁荣阶段</a:t>
            </a:r>
            <a:endParaRPr lang="en-US" altLang="zh-CN" dirty="0" smtClean="0"/>
          </a:p>
          <a:p>
            <a:pPr lvl="2"/>
            <a:r>
              <a:rPr lang="zh-CN" altLang="en-US" dirty="0" smtClean="0"/>
              <a:t>消费旺盛，市场容量迅增，生产迅速膨胀，就业迅速增加，价格逐步上升</a:t>
            </a:r>
            <a:endParaRPr lang="en-US" altLang="zh-CN" dirty="0" smtClean="0"/>
          </a:p>
          <a:p>
            <a:pPr lvl="2"/>
            <a:r>
              <a:rPr lang="zh-CN" altLang="en-US" dirty="0" smtClean="0"/>
              <a:t>金融市场活跃，信用膨胀，诱使资本家把生产增长推动到狂热程度，为下一次生产过剩危机到来提供了条件。</a:t>
            </a:r>
            <a:endParaRPr lang="en-US" altLang="zh-CN"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6</a:t>
            </a:fld>
            <a:endParaRPr lang="zh-CN" altLang="en-US"/>
          </a:p>
        </p:txBody>
      </p:sp>
    </p:spTree>
    <p:extLst>
      <p:ext uri="{BB962C8B-B14F-4D97-AF65-F5344CB8AC3E}">
        <p14:creationId xmlns:p14="http://schemas.microsoft.com/office/powerpoint/2010/main" val="20440103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资本主义经济危机的周期性</a:t>
            </a:r>
          </a:p>
        </p:txBody>
      </p:sp>
      <p:sp>
        <p:nvSpPr>
          <p:cNvPr id="3" name="内容占位符 2"/>
          <p:cNvSpPr>
            <a:spLocks noGrp="1"/>
          </p:cNvSpPr>
          <p:nvPr>
            <p:ph idx="1"/>
          </p:nvPr>
        </p:nvSpPr>
        <p:spPr/>
        <p:txBody>
          <a:bodyPr/>
          <a:lstStyle/>
          <a:p>
            <a:r>
              <a:rPr lang="zh-CN" altLang="en-US" dirty="0"/>
              <a:t>固定资本更新是经济危机周期性发生的物质基础</a:t>
            </a:r>
            <a:endParaRPr lang="en-US" altLang="zh-CN" dirty="0"/>
          </a:p>
          <a:p>
            <a:pPr lvl="1"/>
            <a:r>
              <a:rPr lang="zh-CN" altLang="en-US" dirty="0"/>
              <a:t>固定资本大规模更新为暂时摆脱危机、促进复苏和高涨阶段的到来准备了物质条件</a:t>
            </a:r>
            <a:endParaRPr lang="en-US" altLang="zh-CN" dirty="0"/>
          </a:p>
          <a:p>
            <a:pPr lvl="1"/>
            <a:r>
              <a:rPr lang="zh-CN" altLang="en-US" dirty="0"/>
              <a:t>固定资本大规模更新，提高了资本的有机构成，推动相对过剩人口增加</a:t>
            </a:r>
          </a:p>
          <a:p>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7</a:t>
            </a:fld>
            <a:endParaRPr lang="zh-CN" altLang="en-US"/>
          </a:p>
        </p:txBody>
      </p:sp>
    </p:spTree>
    <p:extLst>
      <p:ext uri="{BB962C8B-B14F-4D97-AF65-F5344CB8AC3E}">
        <p14:creationId xmlns:p14="http://schemas.microsoft.com/office/powerpoint/2010/main" val="26407497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经济周期理论</a:t>
            </a:r>
            <a:endParaRPr lang="zh-CN" altLang="en-US" dirty="0"/>
          </a:p>
        </p:txBody>
      </p:sp>
      <p:sp>
        <p:nvSpPr>
          <p:cNvPr id="3" name="内容占位符 2"/>
          <p:cNvSpPr>
            <a:spLocks noGrp="1"/>
          </p:cNvSpPr>
          <p:nvPr>
            <p:ph idx="1"/>
          </p:nvPr>
        </p:nvSpPr>
        <p:spPr/>
        <p:txBody>
          <a:bodyPr/>
          <a:lstStyle/>
          <a:p>
            <a:r>
              <a:rPr lang="zh-CN" altLang="en-US" dirty="0" smtClean="0"/>
              <a:t>主周期，朱格拉周期（</a:t>
            </a:r>
            <a:r>
              <a:rPr lang="en-US" altLang="zh-CN" dirty="0" smtClean="0"/>
              <a:t>9-11</a:t>
            </a:r>
            <a:r>
              <a:rPr lang="zh-CN" altLang="en-US" dirty="0" smtClean="0"/>
              <a:t>年）</a:t>
            </a:r>
            <a:endParaRPr lang="en-US" altLang="zh-CN" dirty="0" smtClean="0"/>
          </a:p>
          <a:p>
            <a:pPr lvl="1"/>
            <a:r>
              <a:rPr lang="zh-CN" altLang="en-US" dirty="0" smtClean="0"/>
              <a:t>与固定资本投资周期一致</a:t>
            </a:r>
            <a:endParaRPr lang="en-US" altLang="zh-CN" dirty="0" smtClean="0"/>
          </a:p>
          <a:p>
            <a:r>
              <a:rPr lang="zh-CN" altLang="en-US" dirty="0" smtClean="0"/>
              <a:t>次周期，基钦周期（</a:t>
            </a:r>
            <a:r>
              <a:rPr lang="en-US" altLang="zh-CN" dirty="0" smtClean="0"/>
              <a:t>3-5</a:t>
            </a:r>
            <a:r>
              <a:rPr lang="zh-CN" altLang="en-US" dirty="0" smtClean="0"/>
              <a:t>年）</a:t>
            </a:r>
            <a:endParaRPr lang="en-US" altLang="zh-CN" dirty="0" smtClean="0"/>
          </a:p>
          <a:p>
            <a:r>
              <a:rPr lang="zh-CN" altLang="en-US" dirty="0" smtClean="0"/>
              <a:t>中长期，库兹涅茨周期（</a:t>
            </a:r>
            <a:r>
              <a:rPr lang="en-US" altLang="zh-CN" dirty="0" smtClean="0"/>
              <a:t>15-25</a:t>
            </a:r>
            <a:r>
              <a:rPr lang="zh-CN" altLang="en-US" dirty="0" smtClean="0"/>
              <a:t>年）</a:t>
            </a:r>
            <a:endParaRPr lang="en-US" altLang="zh-CN" dirty="0" smtClean="0"/>
          </a:p>
          <a:p>
            <a:r>
              <a:rPr lang="zh-CN" altLang="en-US" dirty="0" smtClean="0"/>
              <a:t>长波周期，康德拉季耶夫周期（</a:t>
            </a:r>
            <a:r>
              <a:rPr lang="en-US" altLang="zh-CN" dirty="0" smtClean="0"/>
              <a:t>45-60</a:t>
            </a:r>
            <a:r>
              <a:rPr lang="zh-CN" altLang="en-US" dirty="0" smtClean="0"/>
              <a:t>年）</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8</a:t>
            </a:fld>
            <a:endParaRPr lang="zh-CN" altLang="en-US"/>
          </a:p>
        </p:txBody>
      </p:sp>
    </p:spTree>
    <p:extLst>
      <p:ext uri="{BB962C8B-B14F-4D97-AF65-F5344CB8AC3E}">
        <p14:creationId xmlns:p14="http://schemas.microsoft.com/office/powerpoint/2010/main" val="39717761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当代资本主义的金融</a:t>
            </a:r>
            <a:r>
              <a:rPr lang="zh-CN" altLang="en-US" dirty="0"/>
              <a:t>和</a:t>
            </a:r>
            <a:r>
              <a:rPr lang="zh-CN" altLang="en-US" dirty="0" smtClean="0"/>
              <a:t>经济危机</a:t>
            </a:r>
            <a:endParaRPr lang="zh-CN" altLang="en-US" dirty="0"/>
          </a:p>
        </p:txBody>
      </p:sp>
      <p:sp>
        <p:nvSpPr>
          <p:cNvPr id="3" name="内容占位符 2"/>
          <p:cNvSpPr>
            <a:spLocks noGrp="1"/>
          </p:cNvSpPr>
          <p:nvPr>
            <p:ph idx="1"/>
          </p:nvPr>
        </p:nvSpPr>
        <p:spPr/>
        <p:txBody>
          <a:bodyPr/>
          <a:lstStyle/>
          <a:p>
            <a:r>
              <a:rPr lang="zh-CN" altLang="en-US" dirty="0" smtClean="0"/>
              <a:t>资本与劳动的矛盾进一步加剧</a:t>
            </a:r>
            <a:endParaRPr lang="en-US" altLang="zh-CN" dirty="0" smtClean="0"/>
          </a:p>
          <a:p>
            <a:r>
              <a:rPr lang="zh-CN" altLang="en-US" dirty="0" smtClean="0"/>
              <a:t>经济运行的无政府状态更加严重</a:t>
            </a:r>
            <a:endParaRPr lang="en-US" altLang="zh-CN" dirty="0" smtClean="0"/>
          </a:p>
          <a:p>
            <a:r>
              <a:rPr lang="zh-CN" altLang="en-US" dirty="0" smtClean="0"/>
              <a:t>虚拟经济与实体经济严重脱离</a:t>
            </a:r>
            <a:endParaRPr lang="en-US" altLang="zh-CN" dirty="0" smtClean="0"/>
          </a:p>
          <a:p>
            <a:r>
              <a:rPr lang="zh-CN" altLang="en-US" dirty="0" smtClean="0"/>
              <a:t>世界经济严重失衡</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9</a:t>
            </a:fld>
            <a:endParaRPr lang="zh-CN" altLang="en-US"/>
          </a:p>
        </p:txBody>
      </p:sp>
    </p:spTree>
    <p:extLst>
      <p:ext uri="{BB962C8B-B14F-4D97-AF65-F5344CB8AC3E}">
        <p14:creationId xmlns:p14="http://schemas.microsoft.com/office/powerpoint/2010/main" val="36083491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en-US" altLang="zh-CN" dirty="0" smtClean="0"/>
          </a:p>
          <a:p>
            <a:endParaRPr lang="en-US" altLang="zh-CN" dirty="0"/>
          </a:p>
          <a:p>
            <a:r>
              <a:rPr lang="zh-CN" altLang="en-US" smtClean="0"/>
              <a:t>第二节 资本主义的历史地位</a:t>
            </a:r>
            <a:endParaRPr lang="zh-CN" altLang="en-US"/>
          </a:p>
        </p:txBody>
      </p:sp>
      <p:sp>
        <p:nvSpPr>
          <p:cNvPr id="4" name="灯片编号占位符 3"/>
          <p:cNvSpPr>
            <a:spLocks noGrp="1"/>
          </p:cNvSpPr>
          <p:nvPr>
            <p:ph type="sldNum" sz="quarter" idx="12"/>
          </p:nvPr>
        </p:nvSpPr>
        <p:spPr/>
        <p:txBody>
          <a:bodyPr/>
          <a:lstStyle/>
          <a:p>
            <a:fld id="{10F2143F-0457-4E80-A290-5DB1806D65E5}" type="slidenum">
              <a:rPr lang="zh-CN" altLang="en-US" smtClean="0"/>
              <a:t>10</a:t>
            </a:fld>
            <a:endParaRPr lang="zh-CN" altLang="en-US"/>
          </a:p>
        </p:txBody>
      </p:sp>
    </p:spTree>
    <p:extLst>
      <p:ext uri="{BB962C8B-B14F-4D97-AF65-F5344CB8AC3E}">
        <p14:creationId xmlns:p14="http://schemas.microsoft.com/office/powerpoint/2010/main" val="2271599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资本主义的历史进步和局限性</a:t>
            </a:r>
            <a:endParaRPr lang="zh-CN" altLang="en-US" dirty="0"/>
          </a:p>
        </p:txBody>
      </p:sp>
      <p:sp>
        <p:nvSpPr>
          <p:cNvPr id="3" name="内容占位符 2"/>
          <p:cNvSpPr>
            <a:spLocks noGrp="1"/>
          </p:cNvSpPr>
          <p:nvPr>
            <p:ph idx="1"/>
          </p:nvPr>
        </p:nvSpPr>
        <p:spPr/>
        <p:txBody>
          <a:bodyPr/>
          <a:lstStyle/>
          <a:p>
            <a:r>
              <a:rPr lang="zh-CN" altLang="en-US" dirty="0" smtClean="0"/>
              <a:t>历史进步</a:t>
            </a:r>
            <a:endParaRPr lang="en-US" altLang="zh-CN" dirty="0" smtClean="0"/>
          </a:p>
          <a:p>
            <a:pPr lvl="1"/>
            <a:r>
              <a:rPr lang="zh-CN" altLang="en-US" dirty="0" smtClean="0"/>
              <a:t>商品关系普遍化，促进生产社会化，使生产社会化的范围突破国界，遍及全球</a:t>
            </a:r>
            <a:endParaRPr lang="en-US" altLang="zh-CN" dirty="0" smtClean="0"/>
          </a:p>
          <a:p>
            <a:pPr lvl="1"/>
            <a:r>
              <a:rPr lang="zh-CN" altLang="en-US" dirty="0" smtClean="0"/>
              <a:t>对剩余价值的追求使资本主义社会有了前所未有的创新动力</a:t>
            </a:r>
            <a:endParaRPr lang="en-US" altLang="zh-CN" dirty="0" smtClean="0"/>
          </a:p>
          <a:p>
            <a:pPr lvl="1"/>
            <a:r>
              <a:rPr lang="zh-CN" altLang="en-US" dirty="0" smtClean="0"/>
              <a:t>商品社会化使劳动者摆脱了奴隶和封建条件下的人身依附关系，表面上实现了法律上的平等和自由</a:t>
            </a:r>
            <a:endParaRPr lang="en-US" altLang="zh-CN" dirty="0" smtClean="0"/>
          </a:p>
          <a:p>
            <a:r>
              <a:rPr lang="zh-CN" altLang="en-US" dirty="0" smtClean="0"/>
              <a:t>局限性</a:t>
            </a:r>
            <a:endParaRPr lang="en-US" altLang="zh-CN" dirty="0" smtClean="0"/>
          </a:p>
          <a:p>
            <a:pPr lvl="1"/>
            <a:r>
              <a:rPr lang="zh-CN" altLang="en-US" dirty="0" smtClean="0"/>
              <a:t>生产社会化和生产资料资本主义私人占有之间的矛盾加深</a:t>
            </a:r>
            <a:endParaRPr lang="en-US" altLang="zh-CN" dirty="0" smtClean="0"/>
          </a:p>
          <a:p>
            <a:pPr lvl="1"/>
            <a:r>
              <a:rPr lang="zh-CN" altLang="en-US" dirty="0" smtClean="0"/>
              <a:t>资本主义生产关系必将被新的生产关系所替代</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11</a:t>
            </a:fld>
            <a:endParaRPr lang="zh-CN" altLang="en-US"/>
          </a:p>
        </p:txBody>
      </p:sp>
    </p:spTree>
    <p:extLst>
      <p:ext uri="{BB962C8B-B14F-4D97-AF65-F5344CB8AC3E}">
        <p14:creationId xmlns:p14="http://schemas.microsoft.com/office/powerpoint/2010/main" val="31720424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资本主义生产关系的自我调整</a:t>
            </a:r>
            <a:endParaRPr lang="zh-CN" altLang="en-US" dirty="0"/>
          </a:p>
        </p:txBody>
      </p:sp>
      <p:sp>
        <p:nvSpPr>
          <p:cNvPr id="3" name="内容占位符 2"/>
          <p:cNvSpPr>
            <a:spLocks noGrp="1"/>
          </p:cNvSpPr>
          <p:nvPr>
            <p:ph idx="1"/>
          </p:nvPr>
        </p:nvSpPr>
        <p:spPr/>
        <p:txBody>
          <a:bodyPr/>
          <a:lstStyle/>
          <a:p>
            <a:r>
              <a:rPr lang="zh-CN" altLang="en-US" dirty="0" smtClean="0"/>
              <a:t>所有制结构的调整</a:t>
            </a:r>
            <a:endParaRPr lang="en-US" altLang="zh-CN" dirty="0" smtClean="0"/>
          </a:p>
          <a:p>
            <a:pPr lvl="1"/>
            <a:r>
              <a:rPr lang="zh-CN" altLang="en-US" dirty="0" smtClean="0"/>
              <a:t>发达国家的国有化浪潮，此后又进行了私有化政策</a:t>
            </a:r>
            <a:endParaRPr lang="en-US" altLang="zh-CN" dirty="0" smtClean="0"/>
          </a:p>
          <a:p>
            <a:r>
              <a:rPr lang="zh-CN" altLang="en-US" dirty="0" smtClean="0"/>
              <a:t>宏观政策的调整</a:t>
            </a:r>
            <a:endParaRPr lang="en-US" altLang="zh-CN" dirty="0" smtClean="0"/>
          </a:p>
          <a:p>
            <a:pPr lvl="1"/>
            <a:r>
              <a:rPr lang="zh-CN" altLang="en-US" dirty="0" smtClean="0"/>
              <a:t>从放任自由到国家实行干预，此后经济自由主义政策又受重视</a:t>
            </a:r>
            <a:endParaRPr lang="en-US" altLang="zh-CN" dirty="0" smtClean="0"/>
          </a:p>
          <a:p>
            <a:r>
              <a:rPr lang="zh-CN" altLang="en-US" dirty="0" smtClean="0"/>
              <a:t>收入分配的调整</a:t>
            </a:r>
            <a:endParaRPr lang="en-US" altLang="zh-CN" dirty="0" smtClean="0"/>
          </a:p>
          <a:p>
            <a:pPr lvl="1"/>
            <a:r>
              <a:rPr lang="zh-CN" altLang="en-US" dirty="0"/>
              <a:t>通过</a:t>
            </a:r>
            <a:r>
              <a:rPr lang="zh-CN" altLang="en-US" dirty="0" smtClean="0"/>
              <a:t>税收、社会福利制度等社会保障体系进行收入差距的调节</a:t>
            </a:r>
            <a:endParaRPr lang="en-US" altLang="zh-CN" dirty="0" smtClean="0"/>
          </a:p>
          <a:p>
            <a:r>
              <a:rPr lang="zh-CN" altLang="en-US" dirty="0" smtClean="0"/>
              <a:t>国际政策的调整</a:t>
            </a:r>
            <a:endParaRPr lang="en-US" altLang="zh-CN" dirty="0" smtClean="0"/>
          </a:p>
          <a:p>
            <a:pPr lvl="1"/>
            <a:r>
              <a:rPr lang="zh-CN" altLang="en-US" dirty="0" smtClean="0"/>
              <a:t>国际组织成立、区域化组织等</a:t>
            </a:r>
            <a:endParaRPr lang="en-US" altLang="zh-CN" dirty="0" smtClean="0"/>
          </a:p>
          <a:p>
            <a:pPr lvl="1"/>
            <a:endParaRPr lang="en-US" altLang="zh-CN" dirty="0" smtClean="0"/>
          </a:p>
        </p:txBody>
      </p:sp>
      <p:sp>
        <p:nvSpPr>
          <p:cNvPr id="4" name="灯片编号占位符 3"/>
          <p:cNvSpPr>
            <a:spLocks noGrp="1"/>
          </p:cNvSpPr>
          <p:nvPr>
            <p:ph type="sldNum" sz="quarter" idx="12"/>
          </p:nvPr>
        </p:nvSpPr>
        <p:spPr/>
        <p:txBody>
          <a:bodyPr/>
          <a:lstStyle/>
          <a:p>
            <a:fld id="{10F2143F-0457-4E80-A290-5DB1806D65E5}" type="slidenum">
              <a:rPr lang="zh-CN" altLang="en-US" smtClean="0"/>
              <a:t>12</a:t>
            </a:fld>
            <a:endParaRPr lang="zh-CN" altLang="en-US"/>
          </a:p>
        </p:txBody>
      </p:sp>
    </p:spTree>
    <p:extLst>
      <p:ext uri="{BB962C8B-B14F-4D97-AF65-F5344CB8AC3E}">
        <p14:creationId xmlns:p14="http://schemas.microsoft.com/office/powerpoint/2010/main" val="10577412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en-US" altLang="zh-CN" dirty="0" smtClean="0"/>
          </a:p>
          <a:p>
            <a:endParaRPr lang="en-US" altLang="zh-CN" dirty="0"/>
          </a:p>
          <a:p>
            <a:endParaRPr lang="en-US" altLang="zh-CN" dirty="0" smtClean="0"/>
          </a:p>
          <a:p>
            <a:r>
              <a:rPr lang="zh-CN" altLang="en-US" dirty="0"/>
              <a:t>第三</a:t>
            </a:r>
            <a:r>
              <a:rPr lang="zh-CN" altLang="en-US" dirty="0" smtClean="0"/>
              <a:t>节 资本主义发展的历史趋势</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13</a:t>
            </a:fld>
            <a:endParaRPr lang="zh-CN" altLang="en-US"/>
          </a:p>
        </p:txBody>
      </p:sp>
    </p:spTree>
    <p:extLst>
      <p:ext uri="{BB962C8B-B14F-4D97-AF65-F5344CB8AC3E}">
        <p14:creationId xmlns:p14="http://schemas.microsoft.com/office/powerpoint/2010/main" val="3519600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当代资本主义基本矛盾的运动</a:t>
            </a:r>
            <a:endParaRPr lang="zh-CN" altLang="en-US" dirty="0"/>
          </a:p>
        </p:txBody>
      </p:sp>
      <p:sp>
        <p:nvSpPr>
          <p:cNvPr id="3" name="内容占位符 2"/>
          <p:cNvSpPr>
            <a:spLocks noGrp="1"/>
          </p:cNvSpPr>
          <p:nvPr>
            <p:ph idx="1"/>
          </p:nvPr>
        </p:nvSpPr>
        <p:spPr/>
        <p:txBody>
          <a:bodyPr/>
          <a:lstStyle/>
          <a:p>
            <a:r>
              <a:rPr lang="zh-CN" altLang="en-US" dirty="0" smtClean="0"/>
              <a:t>无产阶级和资产阶级的矛盾</a:t>
            </a:r>
            <a:endParaRPr lang="en-US" altLang="zh-CN" dirty="0" smtClean="0"/>
          </a:p>
          <a:p>
            <a:pPr lvl="1"/>
            <a:r>
              <a:rPr lang="zh-CN" altLang="en-US" dirty="0" smtClean="0"/>
              <a:t>资产阶级财富不断积累</a:t>
            </a:r>
            <a:r>
              <a:rPr lang="en-US" altLang="zh-CN" dirty="0" smtClean="0"/>
              <a:t>VS</a:t>
            </a:r>
            <a:r>
              <a:rPr lang="zh-CN" altLang="en-US" dirty="0" smtClean="0"/>
              <a:t>贫富差距不断增加</a:t>
            </a:r>
            <a:endParaRPr lang="en-US" altLang="zh-CN" dirty="0" smtClean="0"/>
          </a:p>
          <a:p>
            <a:r>
              <a:rPr lang="zh-CN" altLang="en-US" dirty="0" smtClean="0"/>
              <a:t>生产过剩的经济危机</a:t>
            </a:r>
            <a:endParaRPr lang="en-US" altLang="zh-CN" dirty="0" smtClean="0"/>
          </a:p>
          <a:p>
            <a:r>
              <a:rPr lang="zh-CN" altLang="en-US" dirty="0" smtClean="0"/>
              <a:t>生产、消费规模不断扩大与生态环境之间的矛盾</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14</a:t>
            </a:fld>
            <a:endParaRPr lang="zh-CN" altLang="en-US"/>
          </a:p>
        </p:txBody>
      </p:sp>
    </p:spTree>
    <p:extLst>
      <p:ext uri="{BB962C8B-B14F-4D97-AF65-F5344CB8AC3E}">
        <p14:creationId xmlns:p14="http://schemas.microsoft.com/office/powerpoint/2010/main" val="5714783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资本主义基本矛盾的深化</a:t>
            </a:r>
            <a:endParaRPr lang="zh-CN" altLang="en-US" dirty="0"/>
          </a:p>
        </p:txBody>
      </p:sp>
      <p:sp>
        <p:nvSpPr>
          <p:cNvPr id="3" name="内容占位符 2"/>
          <p:cNvSpPr>
            <a:spLocks noGrp="1"/>
          </p:cNvSpPr>
          <p:nvPr>
            <p:ph idx="1"/>
          </p:nvPr>
        </p:nvSpPr>
        <p:spPr/>
        <p:txBody>
          <a:bodyPr/>
          <a:lstStyle/>
          <a:p>
            <a:r>
              <a:rPr lang="zh-CN" altLang="en-US" dirty="0" smtClean="0"/>
              <a:t>垄断程度增强</a:t>
            </a:r>
            <a:endParaRPr lang="en-US" altLang="zh-CN" dirty="0" smtClean="0"/>
          </a:p>
          <a:p>
            <a:r>
              <a:rPr lang="zh-CN" altLang="en-US" dirty="0" smtClean="0"/>
              <a:t>高科技公司金融化日益严重，阻碍技术创新</a:t>
            </a:r>
            <a:endParaRPr lang="en-US" altLang="zh-CN" dirty="0" smtClean="0"/>
          </a:p>
          <a:p>
            <a:r>
              <a:rPr lang="zh-CN" altLang="en-US" dirty="0" smtClean="0"/>
              <a:t>就业不稳定性增强，劳动者地位降低</a:t>
            </a:r>
            <a:endParaRPr lang="en-US" altLang="zh-CN" dirty="0" smtClean="0"/>
          </a:p>
          <a:p>
            <a:r>
              <a:rPr lang="zh-CN" altLang="en-US" dirty="0" smtClean="0"/>
              <a:t>对新技术的不平衡占有造成贫富差距加大</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15</a:t>
            </a:fld>
            <a:endParaRPr lang="zh-CN" altLang="en-US"/>
          </a:p>
        </p:txBody>
      </p:sp>
    </p:spTree>
    <p:extLst>
      <p:ext uri="{BB962C8B-B14F-4D97-AF65-F5344CB8AC3E}">
        <p14:creationId xmlns:p14="http://schemas.microsoft.com/office/powerpoint/2010/main" val="29916661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社会主义代替资本主义的历史趋势</a:t>
            </a:r>
            <a:endParaRPr lang="zh-CN" altLang="en-US" dirty="0"/>
          </a:p>
        </p:txBody>
      </p:sp>
      <p:sp>
        <p:nvSpPr>
          <p:cNvPr id="3" name="内容占位符 2"/>
          <p:cNvSpPr>
            <a:spLocks noGrp="1"/>
          </p:cNvSpPr>
          <p:nvPr>
            <p:ph idx="1"/>
          </p:nvPr>
        </p:nvSpPr>
        <p:spPr/>
        <p:txBody>
          <a:bodyPr/>
          <a:lstStyle/>
          <a:p>
            <a:r>
              <a:rPr lang="zh-CN" altLang="en-US" dirty="0" smtClean="0"/>
              <a:t>马克思的两个伟大发现揭示了社会主义代替资本主义的历史规律</a:t>
            </a:r>
            <a:endParaRPr lang="en-US" altLang="zh-CN" dirty="0" smtClean="0"/>
          </a:p>
          <a:p>
            <a:r>
              <a:rPr lang="zh-CN" altLang="en-US" dirty="0" smtClean="0"/>
              <a:t>生产社会化为社会主义代替资本主义提供了物资条件</a:t>
            </a:r>
            <a:endParaRPr lang="en-US" altLang="zh-CN" dirty="0" smtClean="0"/>
          </a:p>
          <a:p>
            <a:r>
              <a:rPr lang="zh-CN" altLang="en-US" smtClean="0"/>
              <a:t>社会主义代替资本主义的长期性和曲折性</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16</a:t>
            </a:fld>
            <a:endParaRPr lang="zh-CN" altLang="en-US"/>
          </a:p>
        </p:txBody>
      </p:sp>
    </p:spTree>
    <p:extLst>
      <p:ext uri="{BB962C8B-B14F-4D97-AF65-F5344CB8AC3E}">
        <p14:creationId xmlns:p14="http://schemas.microsoft.com/office/powerpoint/2010/main" val="2557701443"/>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2053</TotalTime>
  <Words>679</Words>
  <Application>Microsoft Office PowerPoint</Application>
  <PresentationFormat>全屏显示(4:3)</PresentationFormat>
  <Paragraphs>99</Paragraphs>
  <Slides>16</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16</vt:i4>
      </vt:variant>
    </vt:vector>
  </HeadingPairs>
  <TitlesOfParts>
    <vt:vector size="22" baseType="lpstr">
      <vt:lpstr>宋体</vt:lpstr>
      <vt:lpstr>微软雅黑</vt:lpstr>
      <vt:lpstr>Arial</vt:lpstr>
      <vt:lpstr>Calibri</vt:lpstr>
      <vt:lpstr>Calibri Light</vt:lpstr>
      <vt:lpstr>Office 主题</vt:lpstr>
      <vt:lpstr>第八章 资本主义经济危机和历史趋势</vt:lpstr>
      <vt:lpstr>主要内容</vt:lpstr>
      <vt:lpstr>PowerPoint 演示文稿</vt:lpstr>
      <vt:lpstr>资本主义经济危机的实质和原因</vt:lpstr>
      <vt:lpstr>资本主义经济危机的周期性</vt:lpstr>
      <vt:lpstr>资本主义经济危机的周期性</vt:lpstr>
      <vt:lpstr>资本主义经济危机的周期性</vt:lpstr>
      <vt:lpstr>经济周期理论</vt:lpstr>
      <vt:lpstr>当代资本主义的金融和经济危机</vt:lpstr>
      <vt:lpstr>PowerPoint 演示文稿</vt:lpstr>
      <vt:lpstr>资本主义的历史进步和局限性</vt:lpstr>
      <vt:lpstr>资本主义生产关系的自我调整</vt:lpstr>
      <vt:lpstr>PowerPoint 演示文稿</vt:lpstr>
      <vt:lpstr>当代资本主义基本矛盾的运动</vt:lpstr>
      <vt:lpstr>资本主义基本矛盾的深化</vt:lpstr>
      <vt:lpstr>社会主义代替资本主义的历史趋势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王成城</dc:creator>
  <cp:lastModifiedBy>JING JIANG</cp:lastModifiedBy>
  <cp:revision>54</cp:revision>
  <dcterms:created xsi:type="dcterms:W3CDTF">2013-11-29T11:59:20Z</dcterms:created>
  <dcterms:modified xsi:type="dcterms:W3CDTF">2021-12-20T07:07:19Z</dcterms:modified>
</cp:coreProperties>
</file>
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4660"/>
  </p:normalViewPr>
  <p:slideViewPr>
    <p:cSldViewPr snapToGrid="0">
      <p:cViewPr varScale="1">
        <p:scale>
          <a:sx n="73" d="100"/>
          <a:sy n="73" d="100"/>
        </p:scale>
        <p:origin x="1194" y="6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39002E-6663-44C7-8136-2276ECC2B749}" type="datetimeFigureOut">
              <a:rPr lang="zh-CN" altLang="en-US" smtClean="0"/>
              <a:t>2021/11/3</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BD2699-BFC2-46FE-A849-DE58F412D66F}" type="slidenum">
              <a:rPr lang="zh-CN" altLang="en-US" smtClean="0"/>
              <a:t>‹#›</a:t>
            </a:fld>
            <a:endParaRPr lang="zh-CN" altLang="en-US"/>
          </a:p>
        </p:txBody>
      </p:sp>
    </p:spTree>
    <p:extLst>
      <p:ext uri="{BB962C8B-B14F-4D97-AF65-F5344CB8AC3E}">
        <p14:creationId xmlns:p14="http://schemas.microsoft.com/office/powerpoint/2010/main" val="1522169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4133" y="2404536"/>
            <a:ext cx="7772400" cy="715963"/>
          </a:xfrm>
        </p:spPr>
        <p:txBody>
          <a:bodyPr anchor="b">
            <a:normAutofit/>
          </a:bodyPr>
          <a:lstStyle>
            <a:lvl1pPr algn="l">
              <a:defRPr sz="36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Subtitle 2"/>
          <p:cNvSpPr>
            <a:spLocks noGrp="1"/>
          </p:cNvSpPr>
          <p:nvPr>
            <p:ph type="subTitle" idx="1" hasCustomPrompt="1"/>
          </p:nvPr>
        </p:nvSpPr>
        <p:spPr>
          <a:xfrm>
            <a:off x="533399" y="3407310"/>
            <a:ext cx="6858000" cy="495829"/>
          </a:xfrm>
        </p:spPr>
        <p:txBody>
          <a:bodyPr>
            <a:normAutofit/>
          </a:bodyPr>
          <a:lstStyle>
            <a:lvl1pPr marL="0" indent="0" algn="l">
              <a:buNone/>
              <a:defRPr sz="2000" baseline="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dirty="0" smtClean="0"/>
              <a:t>— </a:t>
            </a: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261D6E3F-3296-44D2-823C-DE11DCBDC05C}" type="datetime1">
              <a:rPr lang="zh-CN" altLang="en-US" smtClean="0"/>
              <a:t>2021/11/3</a:t>
            </a:fld>
            <a:endParaRPr lang="zh-CN" altLang="en-US"/>
          </a:p>
        </p:txBody>
      </p:sp>
      <p:sp>
        <p:nvSpPr>
          <p:cNvPr id="5" name="Footer Placeholder 4"/>
          <p:cNvSpPr>
            <a:spLocks noGrp="1"/>
          </p:cNvSpPr>
          <p:nvPr>
            <p:ph type="ftr" sz="quarter" idx="11"/>
          </p:nvPr>
        </p:nvSpPr>
        <p:spPr>
          <a:xfrm>
            <a:off x="3028950" y="6533093"/>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1162771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804332"/>
            <a:ext cx="5755217" cy="778931"/>
          </a:xfrm>
        </p:spPr>
        <p:txBody>
          <a:bodyPr>
            <a:normAutofit/>
          </a:bodyPr>
          <a:lstStyle>
            <a:lvl1pPr>
              <a:defRPr sz="28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628650" y="1701799"/>
            <a:ext cx="7886700" cy="4555067"/>
          </a:xfrm>
        </p:spPr>
        <p:txBody>
          <a:bodyPr/>
          <a:lstStyle>
            <a:lvl1pPr>
              <a:lnSpc>
                <a:spcPct val="150000"/>
              </a:lnSpc>
              <a:spcBef>
                <a:spcPts val="0"/>
              </a:spcBef>
              <a:defRPr sz="2400" baseline="0">
                <a:latin typeface="微软雅黑" panose="020B0503020204020204" pitchFamily="34" charset="-122"/>
                <a:ea typeface="微软雅黑" panose="020B0503020204020204" pitchFamily="34" charset="-122"/>
              </a:defRPr>
            </a:lvl1pPr>
            <a:lvl2pPr>
              <a:lnSpc>
                <a:spcPct val="150000"/>
              </a:lnSpc>
              <a:spcBef>
                <a:spcPts val="0"/>
              </a:spcBef>
              <a:defRPr sz="2000" baseline="0">
                <a:latin typeface="微软雅黑" panose="020B0503020204020204" pitchFamily="34" charset="-122"/>
                <a:ea typeface="微软雅黑" panose="020B0503020204020204" pitchFamily="34" charset="-122"/>
              </a:defRPr>
            </a:lvl2pPr>
            <a:lvl3pPr>
              <a:lnSpc>
                <a:spcPct val="150000"/>
              </a:lnSpc>
              <a:spcBef>
                <a:spcPts val="0"/>
              </a:spcBef>
              <a:defRPr>
                <a:latin typeface="微软雅黑" panose="020B0503020204020204" pitchFamily="34" charset="-122"/>
                <a:ea typeface="微软雅黑" panose="020B0503020204020204" pitchFamily="34" charset="-122"/>
              </a:defRPr>
            </a:lvl3pPr>
            <a:lvl4pPr>
              <a:lnSpc>
                <a:spcPct val="150000"/>
              </a:lnSpc>
              <a:spcBef>
                <a:spcPts val="0"/>
              </a:spcBef>
              <a:defRPr>
                <a:latin typeface="微软雅黑" panose="020B0503020204020204" pitchFamily="34" charset="-122"/>
                <a:ea typeface="微软雅黑" panose="020B0503020204020204" pitchFamily="34" charset="-122"/>
              </a:defRPr>
            </a:lvl4pPr>
            <a:lvl5pPr>
              <a:lnSpc>
                <a:spcPct val="150000"/>
              </a:lnSpc>
              <a:spcBef>
                <a:spcPts val="0"/>
              </a:spcBef>
              <a:defRPr>
                <a:latin typeface="微软雅黑" panose="020B0503020204020204" pitchFamily="34" charset="-122"/>
                <a:ea typeface="微软雅黑" panose="020B0503020204020204" pitchFamily="34"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10"/>
          </p:nvPr>
        </p:nvSpPr>
        <p:spPr/>
        <p:txBody>
          <a:bodyPr/>
          <a:lstStyle/>
          <a:p>
            <a:fld id="{E0D2E42A-1E66-431D-BB59-EBF8D47B9C24}" type="datetime1">
              <a:rPr lang="zh-CN" altLang="en-US" smtClean="0"/>
              <a:t>2021/11/3</a:t>
            </a:fld>
            <a:endParaRPr lang="zh-CN" altLang="en-US"/>
          </a:p>
        </p:txBody>
      </p:sp>
      <p:sp>
        <p:nvSpPr>
          <p:cNvPr id="5" name="Footer Placeholder 4"/>
          <p:cNvSpPr>
            <a:spLocks noGrp="1"/>
          </p:cNvSpPr>
          <p:nvPr>
            <p:ph type="ftr" sz="quarter" idx="11"/>
          </p:nvPr>
        </p:nvSpPr>
        <p:spPr>
          <a:xfrm>
            <a:off x="3028950" y="6519864"/>
            <a:ext cx="3086100" cy="365125"/>
          </a:xfrm>
        </p:spPr>
        <p:txBody>
          <a:bodyPr/>
          <a:lstStyle>
            <a:lvl1pPr>
              <a:defRPr>
                <a:solidFill>
                  <a:schemeClr val="bg2">
                    <a:lumMod val="25000"/>
                  </a:schemeClr>
                </a:solidFill>
              </a:defRPr>
            </a:lvl1pPr>
          </a:lstStyle>
          <a:p>
            <a:r>
              <a:rPr lang="zh-CN" altLang="en-US" dirty="0" smtClean="0"/>
              <a:t>南京大学商学院</a:t>
            </a:r>
            <a:endParaRPr lang="zh-CN" altLang="en-US" dirty="0"/>
          </a:p>
        </p:txBody>
      </p:sp>
      <p:sp>
        <p:nvSpPr>
          <p:cNvPr id="6" name="Slide Number Placeholder 5"/>
          <p:cNvSpPr>
            <a:spLocks noGrp="1"/>
          </p:cNvSpPr>
          <p:nvPr>
            <p:ph type="sldNum" sz="quarter" idx="12"/>
          </p:nvPr>
        </p:nvSpPr>
        <p:spPr/>
        <p:txBody>
          <a:body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89806664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9AFE1E-691E-4A3D-978C-4DE990FF2C2C}" type="datetime1">
              <a:rPr lang="zh-CN" altLang="en-US" smtClean="0"/>
              <a:t>2021/11/3</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smtClean="0"/>
              <a:t>南京大学商学院</a:t>
            </a:r>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2143F-0457-4E80-A290-5DB1806D65E5}" type="slidenum">
              <a:rPr lang="zh-CN" altLang="en-US" smtClean="0"/>
              <a:t>‹#›</a:t>
            </a:fld>
            <a:endParaRPr lang="zh-CN" altLang="en-US"/>
          </a:p>
        </p:txBody>
      </p:sp>
    </p:spTree>
    <p:extLst>
      <p:ext uri="{BB962C8B-B14F-4D97-AF65-F5344CB8AC3E}">
        <p14:creationId xmlns:p14="http://schemas.microsoft.com/office/powerpoint/2010/main" val="3960140058"/>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第三章 市场经济和价值规律</a:t>
            </a:r>
            <a:endParaRPr lang="zh-CN" altLang="en-US" dirty="0"/>
          </a:p>
        </p:txBody>
      </p:sp>
      <p:sp>
        <p:nvSpPr>
          <p:cNvPr id="5" name="副标题 4"/>
          <p:cNvSpPr>
            <a:spLocks noGrp="1"/>
          </p:cNvSpPr>
          <p:nvPr>
            <p:ph type="subTitle" idx="1"/>
          </p:nvPr>
        </p:nvSpPr>
        <p:spPr/>
        <p:txBody>
          <a:bodyPr/>
          <a:lstStyle/>
          <a:p>
            <a:endParaRPr lang="zh-CN" altLang="en-US"/>
          </a:p>
        </p:txBody>
      </p:sp>
      <p:sp>
        <p:nvSpPr>
          <p:cNvPr id="3" name="灯片编号占位符 2"/>
          <p:cNvSpPr>
            <a:spLocks noGrp="1"/>
          </p:cNvSpPr>
          <p:nvPr>
            <p:ph type="sldNum" sz="quarter" idx="12"/>
          </p:nvPr>
        </p:nvSpPr>
        <p:spPr/>
        <p:txBody>
          <a:bodyPr/>
          <a:lstStyle/>
          <a:p>
            <a:fld id="{10F2143F-0457-4E80-A290-5DB1806D65E5}" type="slidenum">
              <a:rPr lang="zh-CN" altLang="en-US" smtClean="0"/>
              <a:t>1</a:t>
            </a:fld>
            <a:endParaRPr lang="zh-CN" altLang="en-US"/>
          </a:p>
        </p:txBody>
      </p:sp>
    </p:spTree>
    <p:extLst>
      <p:ext uri="{BB962C8B-B14F-4D97-AF65-F5344CB8AC3E}">
        <p14:creationId xmlns:p14="http://schemas.microsoft.com/office/powerpoint/2010/main" val="32241511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第三章主要内容</a:t>
            </a:r>
            <a:endParaRPr lang="zh-CN" altLang="en-US" dirty="0"/>
          </a:p>
        </p:txBody>
      </p:sp>
      <p:sp>
        <p:nvSpPr>
          <p:cNvPr id="3" name="内容占位符 2"/>
          <p:cNvSpPr>
            <a:spLocks noGrp="1"/>
          </p:cNvSpPr>
          <p:nvPr>
            <p:ph idx="1"/>
          </p:nvPr>
        </p:nvSpPr>
        <p:spPr/>
        <p:txBody>
          <a:bodyPr/>
          <a:lstStyle/>
          <a:p>
            <a:r>
              <a:rPr lang="zh-CN" altLang="en-US" dirty="0" smtClean="0"/>
              <a:t>第一节 市场经济</a:t>
            </a:r>
            <a:endParaRPr lang="en-US" altLang="zh-CN" dirty="0" smtClean="0"/>
          </a:p>
          <a:p>
            <a:r>
              <a:rPr lang="zh-CN" altLang="en-US" dirty="0"/>
              <a:t>第二</a:t>
            </a:r>
            <a:r>
              <a:rPr lang="zh-CN" altLang="en-US" dirty="0" smtClean="0"/>
              <a:t>节 价值规律</a:t>
            </a:r>
            <a:endParaRPr lang="en-US" altLang="zh-CN" dirty="0" smtClean="0"/>
          </a:p>
          <a:p>
            <a:r>
              <a:rPr lang="zh-CN" altLang="en-US" dirty="0"/>
              <a:t>第三</a:t>
            </a:r>
            <a:r>
              <a:rPr lang="zh-CN" altLang="en-US" dirty="0" smtClean="0"/>
              <a:t>节 市场体系和市场秩序</a:t>
            </a:r>
            <a:endParaRPr lang="zh-CN" altLang="en-US" dirty="0"/>
          </a:p>
        </p:txBody>
      </p:sp>
      <p:sp>
        <p:nvSpPr>
          <p:cNvPr id="5" name="灯片编号占位符 4"/>
          <p:cNvSpPr>
            <a:spLocks noGrp="1"/>
          </p:cNvSpPr>
          <p:nvPr>
            <p:ph type="sldNum" sz="quarter" idx="12"/>
          </p:nvPr>
        </p:nvSpPr>
        <p:spPr/>
        <p:txBody>
          <a:bodyPr/>
          <a:lstStyle/>
          <a:p>
            <a:fld id="{10F2143F-0457-4E80-A290-5DB1806D65E5}" type="slidenum">
              <a:rPr lang="zh-CN" altLang="en-US" smtClean="0"/>
              <a:t>2</a:t>
            </a:fld>
            <a:endParaRPr lang="zh-CN" altLang="en-US"/>
          </a:p>
        </p:txBody>
      </p:sp>
    </p:spTree>
    <p:extLst>
      <p:ext uri="{BB962C8B-B14F-4D97-AF65-F5344CB8AC3E}">
        <p14:creationId xmlns:p14="http://schemas.microsoft.com/office/powerpoint/2010/main" val="1028602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a:t>第一节 市场经济</a:t>
            </a:r>
            <a:endParaRPr lang="en-US" altLang="zh-CN" dirty="0"/>
          </a:p>
          <a:p>
            <a:endParaRPr lang="en-US" altLang="zh-CN" dirty="0"/>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3</a:t>
            </a:fld>
            <a:endParaRPr lang="zh-CN" altLang="en-US"/>
          </a:p>
        </p:txBody>
      </p:sp>
    </p:spTree>
    <p:extLst>
      <p:ext uri="{BB962C8B-B14F-4D97-AF65-F5344CB8AC3E}">
        <p14:creationId xmlns:p14="http://schemas.microsoft.com/office/powerpoint/2010/main" val="2062719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自然经济</a:t>
            </a:r>
            <a:endParaRPr lang="zh-CN" altLang="en-US" dirty="0"/>
          </a:p>
        </p:txBody>
      </p:sp>
      <p:sp>
        <p:nvSpPr>
          <p:cNvPr id="3" name="内容占位符 2"/>
          <p:cNvSpPr>
            <a:spLocks noGrp="1"/>
          </p:cNvSpPr>
          <p:nvPr>
            <p:ph idx="1"/>
          </p:nvPr>
        </p:nvSpPr>
        <p:spPr/>
        <p:txBody>
          <a:bodyPr/>
          <a:lstStyle/>
          <a:p>
            <a:r>
              <a:rPr lang="zh-CN" altLang="en-US" dirty="0" smtClean="0"/>
              <a:t>自然经济是自给自足经济，是生产直接满足生产者自身需要而不是为了交换的经济形式。</a:t>
            </a:r>
            <a:endParaRPr lang="en-US" altLang="zh-CN" dirty="0" smtClean="0"/>
          </a:p>
          <a:p>
            <a:pPr lvl="1"/>
            <a:r>
              <a:rPr lang="zh-CN" altLang="en-US" dirty="0" smtClean="0"/>
              <a:t>建立在小生产和自然分工的基础上</a:t>
            </a:r>
            <a:endParaRPr lang="en-US" altLang="zh-CN" dirty="0" smtClean="0"/>
          </a:p>
          <a:p>
            <a:pPr lvl="1"/>
            <a:r>
              <a:rPr lang="zh-CN" altLang="en-US" dirty="0" smtClean="0"/>
              <a:t>具有封闭、保守的特征</a:t>
            </a:r>
            <a:endParaRPr lang="en-US" altLang="zh-CN" dirty="0" smtClean="0"/>
          </a:p>
          <a:p>
            <a:pPr lvl="1"/>
            <a:r>
              <a:rPr lang="zh-CN" altLang="en-US" dirty="0" smtClean="0"/>
              <a:t>在原始社会、奴隶社会和封建社会占主导地位</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4</a:t>
            </a:fld>
            <a:endParaRPr lang="zh-CN" altLang="en-US"/>
          </a:p>
        </p:txBody>
      </p:sp>
    </p:spTree>
    <p:extLst>
      <p:ext uri="{BB962C8B-B14F-4D97-AF65-F5344CB8AC3E}">
        <p14:creationId xmlns:p14="http://schemas.microsoft.com/office/powerpoint/2010/main" val="1684802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商品经济</a:t>
            </a:r>
            <a:endParaRPr lang="zh-CN" altLang="en-US" dirty="0"/>
          </a:p>
        </p:txBody>
      </p:sp>
      <p:sp>
        <p:nvSpPr>
          <p:cNvPr id="3" name="内容占位符 2"/>
          <p:cNvSpPr>
            <a:spLocks noGrp="1"/>
          </p:cNvSpPr>
          <p:nvPr>
            <p:ph idx="1"/>
          </p:nvPr>
        </p:nvSpPr>
        <p:spPr/>
        <p:txBody>
          <a:bodyPr/>
          <a:lstStyle/>
          <a:p>
            <a:r>
              <a:rPr lang="zh-CN" altLang="en-US" dirty="0" smtClean="0"/>
              <a:t>商品经济是以交换为目的的经济形式，是商品生产和商品交换的统称。</a:t>
            </a:r>
            <a:endParaRPr lang="en-US" altLang="zh-CN" dirty="0" smtClean="0"/>
          </a:p>
          <a:p>
            <a:pPr lvl="1"/>
            <a:r>
              <a:rPr lang="zh-CN" altLang="en-US" dirty="0" smtClean="0"/>
              <a:t>社会分工和生产资料归不同所有者拥有是商品经济产生的条件</a:t>
            </a:r>
            <a:endParaRPr lang="en-US" altLang="zh-CN" dirty="0" smtClean="0"/>
          </a:p>
          <a:p>
            <a:pPr lvl="2"/>
            <a:r>
              <a:rPr lang="zh-CN" altLang="en-US" dirty="0" smtClean="0"/>
              <a:t>社会分工是商品经济的前提条件：生产专业化</a:t>
            </a:r>
            <a:endParaRPr lang="en-US" altLang="zh-CN" dirty="0" smtClean="0"/>
          </a:p>
          <a:p>
            <a:pPr lvl="2"/>
            <a:r>
              <a:rPr lang="zh-CN" altLang="en-US" dirty="0" smtClean="0"/>
              <a:t>生产资料归不同所有者是商品经济产生的必要条件</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5</a:t>
            </a:fld>
            <a:endParaRPr lang="zh-CN" altLang="en-US"/>
          </a:p>
        </p:txBody>
      </p:sp>
    </p:spTree>
    <p:extLst>
      <p:ext uri="{BB962C8B-B14F-4D97-AF65-F5344CB8AC3E}">
        <p14:creationId xmlns:p14="http://schemas.microsoft.com/office/powerpoint/2010/main" val="444999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商品经济</a:t>
            </a:r>
            <a:endParaRPr lang="zh-CN" altLang="en-US" dirty="0"/>
          </a:p>
        </p:txBody>
      </p:sp>
      <p:sp>
        <p:nvSpPr>
          <p:cNvPr id="3" name="内容占位符 2"/>
          <p:cNvSpPr>
            <a:spLocks noGrp="1"/>
          </p:cNvSpPr>
          <p:nvPr>
            <p:ph idx="1"/>
          </p:nvPr>
        </p:nvSpPr>
        <p:spPr/>
        <p:txBody>
          <a:bodyPr/>
          <a:lstStyle/>
          <a:p>
            <a:r>
              <a:rPr lang="zh-CN" altLang="en-US" dirty="0" smtClean="0"/>
              <a:t>商品经济的两个阶段</a:t>
            </a:r>
            <a:endParaRPr lang="en-US" altLang="zh-CN" dirty="0" smtClean="0"/>
          </a:p>
          <a:p>
            <a:pPr lvl="1"/>
            <a:r>
              <a:rPr lang="zh-CN" altLang="en-US" dirty="0" smtClean="0"/>
              <a:t>简单商品经济（小商品经济）</a:t>
            </a:r>
            <a:endParaRPr lang="en-US" altLang="zh-CN" dirty="0" smtClean="0"/>
          </a:p>
          <a:p>
            <a:pPr lvl="2"/>
            <a:r>
              <a:rPr lang="zh-CN" altLang="en-US" dirty="0" smtClean="0"/>
              <a:t>商品经济初始形式，以生产资料个体私有制和个体劳动为基础</a:t>
            </a:r>
            <a:endParaRPr lang="en-US" altLang="zh-CN" dirty="0" smtClean="0"/>
          </a:p>
          <a:p>
            <a:pPr lvl="1"/>
            <a:r>
              <a:rPr lang="zh-CN" altLang="en-US" dirty="0" smtClean="0"/>
              <a:t>市场经济</a:t>
            </a:r>
            <a:endParaRPr lang="en-US" altLang="zh-CN" dirty="0" smtClean="0"/>
          </a:p>
          <a:p>
            <a:pPr lvl="2"/>
            <a:r>
              <a:rPr lang="zh-CN" altLang="en-US" dirty="0" smtClean="0"/>
              <a:t>资本主义社会，商品经济成为占支配地位的经济形式，市场成为调节全社会资源的基础性机制</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6</a:t>
            </a:fld>
            <a:endParaRPr lang="zh-CN" altLang="en-US"/>
          </a:p>
        </p:txBody>
      </p:sp>
    </p:spTree>
    <p:extLst>
      <p:ext uri="{BB962C8B-B14F-4D97-AF65-F5344CB8AC3E}">
        <p14:creationId xmlns:p14="http://schemas.microsoft.com/office/powerpoint/2010/main" val="29897570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市场经济的基本特征</a:t>
            </a:r>
            <a:endParaRPr lang="zh-CN" altLang="en-US" dirty="0"/>
          </a:p>
        </p:txBody>
      </p:sp>
      <p:sp>
        <p:nvSpPr>
          <p:cNvPr id="3" name="内容占位符 2"/>
          <p:cNvSpPr>
            <a:spLocks noGrp="1"/>
          </p:cNvSpPr>
          <p:nvPr>
            <p:ph idx="1"/>
          </p:nvPr>
        </p:nvSpPr>
        <p:spPr/>
        <p:txBody>
          <a:bodyPr/>
          <a:lstStyle/>
          <a:p>
            <a:r>
              <a:rPr lang="zh-CN" altLang="en-US" dirty="0" smtClean="0"/>
              <a:t>市场在资源配置中起决定性作用</a:t>
            </a:r>
            <a:endParaRPr lang="en-US" altLang="zh-CN" dirty="0" smtClean="0"/>
          </a:p>
          <a:p>
            <a:r>
              <a:rPr lang="zh-CN" altLang="en-US" dirty="0" smtClean="0"/>
              <a:t>企业是市场的主体</a:t>
            </a:r>
            <a:endParaRPr lang="en-US" altLang="zh-CN" dirty="0" smtClean="0"/>
          </a:p>
          <a:p>
            <a:r>
              <a:rPr lang="zh-CN" altLang="en-US" dirty="0" smtClean="0"/>
              <a:t>生产要素的市场配置</a:t>
            </a:r>
            <a:endParaRPr lang="en-US" altLang="zh-CN" dirty="0" smtClean="0"/>
          </a:p>
          <a:p>
            <a:r>
              <a:rPr lang="zh-CN" altLang="en-US" dirty="0" smtClean="0"/>
              <a:t>法制和信用成为交换关系的基础</a:t>
            </a:r>
            <a:endParaRPr lang="en-US" altLang="zh-CN" dirty="0" smtClean="0"/>
          </a:p>
          <a:p>
            <a:r>
              <a:rPr lang="zh-CN" altLang="en-US" dirty="0" smtClean="0"/>
              <a:t>经济的开放性</a:t>
            </a:r>
            <a:endParaRPr lang="en-US" altLang="zh-CN" dirty="0" smtClean="0"/>
          </a:p>
          <a:p>
            <a:r>
              <a:rPr lang="zh-CN" altLang="en-US" dirty="0" smtClean="0"/>
              <a:t>国家调节的重要性</a:t>
            </a:r>
            <a:endParaRPr lang="en-US" altLang="zh-CN" dirty="0" smtClean="0"/>
          </a:p>
        </p:txBody>
      </p:sp>
      <p:sp>
        <p:nvSpPr>
          <p:cNvPr id="4" name="灯片编号占位符 3"/>
          <p:cNvSpPr>
            <a:spLocks noGrp="1"/>
          </p:cNvSpPr>
          <p:nvPr>
            <p:ph type="sldNum" sz="quarter" idx="12"/>
          </p:nvPr>
        </p:nvSpPr>
        <p:spPr/>
        <p:txBody>
          <a:bodyPr/>
          <a:lstStyle/>
          <a:p>
            <a:fld id="{10F2143F-0457-4E80-A290-5DB1806D65E5}" type="slidenum">
              <a:rPr lang="zh-CN" altLang="en-US" smtClean="0"/>
              <a:t>7</a:t>
            </a:fld>
            <a:endParaRPr lang="zh-CN" altLang="en-US"/>
          </a:p>
        </p:txBody>
      </p:sp>
    </p:spTree>
    <p:extLst>
      <p:ext uri="{BB962C8B-B14F-4D97-AF65-F5344CB8AC3E}">
        <p14:creationId xmlns:p14="http://schemas.microsoft.com/office/powerpoint/2010/main" val="2081753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市场机制</a:t>
            </a:r>
            <a:endParaRPr lang="zh-CN" altLang="en-US" dirty="0"/>
          </a:p>
        </p:txBody>
      </p:sp>
      <p:sp>
        <p:nvSpPr>
          <p:cNvPr id="3" name="内容占位符 2"/>
          <p:cNvSpPr>
            <a:spLocks noGrp="1"/>
          </p:cNvSpPr>
          <p:nvPr>
            <p:ph idx="1"/>
          </p:nvPr>
        </p:nvSpPr>
        <p:spPr/>
        <p:txBody>
          <a:bodyPr>
            <a:normAutofit fontScale="85000" lnSpcReduction="20000"/>
          </a:bodyPr>
          <a:lstStyle/>
          <a:p>
            <a:pPr marL="228600" lvl="1"/>
            <a:r>
              <a:rPr lang="zh-CN" altLang="en-US" sz="2400" dirty="0" smtClean="0"/>
              <a:t>价格</a:t>
            </a:r>
            <a:r>
              <a:rPr lang="zh-CN" altLang="en-US" sz="2400" dirty="0"/>
              <a:t>机制</a:t>
            </a:r>
            <a:r>
              <a:rPr lang="zh-CN" altLang="en-US" dirty="0"/>
              <a:t>：价格是市场调节的信号</a:t>
            </a:r>
            <a:endParaRPr lang="en-US" altLang="zh-CN" dirty="0"/>
          </a:p>
          <a:p>
            <a:r>
              <a:rPr lang="zh-CN" altLang="en-US" dirty="0" smtClean="0"/>
              <a:t>供求机制：调节供求矛盾（</a:t>
            </a:r>
            <a:r>
              <a:rPr lang="en-US" altLang="zh-CN" dirty="0" smtClean="0"/>
              <a:t>p74</a:t>
            </a:r>
            <a:r>
              <a:rPr lang="zh-CN" altLang="en-US" dirty="0" smtClean="0"/>
              <a:t>）</a:t>
            </a:r>
            <a:endParaRPr lang="en-US" altLang="zh-CN" dirty="0" smtClean="0"/>
          </a:p>
          <a:p>
            <a:r>
              <a:rPr lang="zh-CN" altLang="en-US" dirty="0" smtClean="0"/>
              <a:t>竞争机制</a:t>
            </a:r>
            <a:endParaRPr lang="en-US" altLang="zh-CN" dirty="0" smtClean="0"/>
          </a:p>
          <a:p>
            <a:pPr lvl="1"/>
            <a:r>
              <a:rPr lang="zh-CN" altLang="en-US" dirty="0" smtClean="0"/>
              <a:t>竞争是市场经济的内在动力</a:t>
            </a:r>
            <a:endParaRPr lang="en-US" altLang="zh-CN" dirty="0" smtClean="0"/>
          </a:p>
          <a:p>
            <a:pPr lvl="1"/>
            <a:r>
              <a:rPr lang="zh-CN" altLang="en-US" dirty="0" smtClean="0"/>
              <a:t>卖者之间竞争（市场份额）、买者之间竞争（需求得到满足）、买卖之间竞争（价格的竞争）</a:t>
            </a:r>
            <a:endParaRPr lang="en-US" altLang="zh-CN" dirty="0" smtClean="0"/>
          </a:p>
          <a:p>
            <a:r>
              <a:rPr lang="zh-CN" altLang="en-US" dirty="0" smtClean="0"/>
              <a:t>风险机制</a:t>
            </a:r>
            <a:endParaRPr lang="en-US" altLang="zh-CN" dirty="0" smtClean="0"/>
          </a:p>
          <a:p>
            <a:pPr lvl="1"/>
            <a:r>
              <a:rPr lang="zh-CN" altLang="en-US" dirty="0" smtClean="0"/>
              <a:t>风险是指因市场中存在不确定性因素而使市场经济参与者面临受损的可能性，一般情况下，风险与收益成正比</a:t>
            </a:r>
            <a:endParaRPr lang="en-US" altLang="zh-CN" dirty="0" smtClean="0"/>
          </a:p>
          <a:p>
            <a:pPr lvl="1"/>
            <a:r>
              <a:rPr lang="zh-CN" altLang="en-US" dirty="0" smtClean="0"/>
              <a:t>市场的风险机制是一方面鼓励市场参与者冒更大风险去追求更大利润，另一方面强化市场经济参与者的自律意识，谨慎决策改善经济管理，以规避风险</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8</a:t>
            </a:fld>
            <a:endParaRPr lang="zh-CN" altLang="en-US"/>
          </a:p>
        </p:txBody>
      </p:sp>
    </p:spTree>
    <p:extLst>
      <p:ext uri="{BB962C8B-B14F-4D97-AF65-F5344CB8AC3E}">
        <p14:creationId xmlns:p14="http://schemas.microsoft.com/office/powerpoint/2010/main" val="25424647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a:t>第二节 价值规律</a:t>
            </a:r>
            <a:endParaRPr lang="en-US" altLang="zh-CN"/>
          </a:p>
          <a:p>
            <a:endParaRPr lang="zh-CN" altLang="en-US"/>
          </a:p>
        </p:txBody>
      </p:sp>
      <p:sp>
        <p:nvSpPr>
          <p:cNvPr id="4" name="灯片编号占位符 3"/>
          <p:cNvSpPr>
            <a:spLocks noGrp="1"/>
          </p:cNvSpPr>
          <p:nvPr>
            <p:ph type="sldNum" sz="quarter" idx="12"/>
          </p:nvPr>
        </p:nvSpPr>
        <p:spPr/>
        <p:txBody>
          <a:bodyPr/>
          <a:lstStyle/>
          <a:p>
            <a:fld id="{10F2143F-0457-4E80-A290-5DB1806D65E5}" type="slidenum">
              <a:rPr lang="zh-CN" altLang="en-US" smtClean="0"/>
              <a:t>9</a:t>
            </a:fld>
            <a:endParaRPr lang="zh-CN" altLang="en-US"/>
          </a:p>
        </p:txBody>
      </p:sp>
    </p:spTree>
    <p:extLst>
      <p:ext uri="{BB962C8B-B14F-4D97-AF65-F5344CB8AC3E}">
        <p14:creationId xmlns:p14="http://schemas.microsoft.com/office/powerpoint/2010/main" val="1205848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价值规律的内容</a:t>
            </a:r>
            <a:endParaRPr lang="zh-CN" altLang="en-US" dirty="0"/>
          </a:p>
        </p:txBody>
      </p:sp>
      <p:sp>
        <p:nvSpPr>
          <p:cNvPr id="3" name="内容占位符 2"/>
          <p:cNvSpPr>
            <a:spLocks noGrp="1"/>
          </p:cNvSpPr>
          <p:nvPr>
            <p:ph idx="1"/>
          </p:nvPr>
        </p:nvSpPr>
        <p:spPr/>
        <p:txBody>
          <a:bodyPr/>
          <a:lstStyle/>
          <a:p>
            <a:r>
              <a:rPr lang="zh-CN" altLang="en-US" dirty="0" smtClean="0"/>
              <a:t>商品的价值量由生产商品的社会必要劳动时间决定，不同商品的交换按照等价原则进行。</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10</a:t>
            </a:fld>
            <a:endParaRPr lang="zh-CN" altLang="en-US"/>
          </a:p>
        </p:txBody>
      </p:sp>
    </p:spTree>
    <p:extLst>
      <p:ext uri="{BB962C8B-B14F-4D97-AF65-F5344CB8AC3E}">
        <p14:creationId xmlns:p14="http://schemas.microsoft.com/office/powerpoint/2010/main" val="1960698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价值规律的作用</a:t>
            </a:r>
            <a:endParaRPr lang="zh-CN" altLang="en-US" dirty="0"/>
          </a:p>
        </p:txBody>
      </p:sp>
      <p:sp>
        <p:nvSpPr>
          <p:cNvPr id="3" name="内容占位符 2"/>
          <p:cNvSpPr>
            <a:spLocks noGrp="1"/>
          </p:cNvSpPr>
          <p:nvPr>
            <p:ph idx="1"/>
          </p:nvPr>
        </p:nvSpPr>
        <p:spPr/>
        <p:txBody>
          <a:bodyPr/>
          <a:lstStyle/>
          <a:p>
            <a:r>
              <a:rPr lang="zh-CN" altLang="en-US" dirty="0" smtClean="0"/>
              <a:t>微观作用：激励创新，优胜劣汰</a:t>
            </a:r>
            <a:endParaRPr lang="en-US" altLang="zh-CN" dirty="0" smtClean="0"/>
          </a:p>
          <a:p>
            <a:r>
              <a:rPr lang="zh-CN" altLang="en-US" dirty="0" smtClean="0"/>
              <a:t>宏观作用：分配社会劳动、调节资源配置</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11</a:t>
            </a:fld>
            <a:endParaRPr lang="zh-CN" altLang="en-US"/>
          </a:p>
        </p:txBody>
      </p:sp>
    </p:spTree>
    <p:extLst>
      <p:ext uri="{BB962C8B-B14F-4D97-AF65-F5344CB8AC3E}">
        <p14:creationId xmlns:p14="http://schemas.microsoft.com/office/powerpoint/2010/main" val="3111922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价值规律作用的</a:t>
            </a:r>
            <a:r>
              <a:rPr lang="zh-CN" altLang="en-US" dirty="0" smtClean="0"/>
              <a:t>局限（</a:t>
            </a:r>
            <a:r>
              <a:rPr lang="en-US" altLang="zh-CN" dirty="0" smtClean="0"/>
              <a:t>P76</a:t>
            </a:r>
            <a:r>
              <a:rPr lang="zh-CN" altLang="en-US" dirty="0" smtClean="0"/>
              <a:t>）</a:t>
            </a:r>
            <a:endParaRPr lang="zh-CN" altLang="en-US" dirty="0"/>
          </a:p>
        </p:txBody>
      </p:sp>
      <p:sp>
        <p:nvSpPr>
          <p:cNvPr id="3" name="内容占位符 2"/>
          <p:cNvSpPr>
            <a:spLocks noGrp="1"/>
          </p:cNvSpPr>
          <p:nvPr>
            <p:ph idx="1"/>
          </p:nvPr>
        </p:nvSpPr>
        <p:spPr/>
        <p:txBody>
          <a:bodyPr/>
          <a:lstStyle/>
          <a:p>
            <a:r>
              <a:rPr lang="zh-CN" altLang="en-US" dirty="0" smtClean="0"/>
              <a:t>市场信息的真实性</a:t>
            </a:r>
            <a:endParaRPr lang="en-US" altLang="zh-CN" dirty="0" smtClean="0"/>
          </a:p>
          <a:p>
            <a:r>
              <a:rPr lang="zh-CN" altLang="en-US" dirty="0" smtClean="0"/>
              <a:t>市场信息的充分性</a:t>
            </a:r>
            <a:endParaRPr lang="en-US" altLang="zh-CN" dirty="0" smtClean="0"/>
          </a:p>
          <a:p>
            <a:r>
              <a:rPr lang="zh-CN" altLang="en-US" dirty="0" smtClean="0"/>
              <a:t>市场活动的竞争性</a:t>
            </a:r>
            <a:endParaRPr lang="en-US" altLang="zh-CN" dirty="0" smtClean="0"/>
          </a:p>
          <a:p>
            <a:r>
              <a:rPr lang="zh-CN" altLang="en-US" dirty="0" smtClean="0"/>
              <a:t>存在许多不能发挥调节作用的领域</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12</a:t>
            </a:fld>
            <a:endParaRPr lang="zh-CN" altLang="en-US"/>
          </a:p>
        </p:txBody>
      </p:sp>
    </p:spTree>
    <p:extLst>
      <p:ext uri="{BB962C8B-B14F-4D97-AF65-F5344CB8AC3E}">
        <p14:creationId xmlns:p14="http://schemas.microsoft.com/office/powerpoint/2010/main" val="61340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en-US" altLang="zh-CN" dirty="0" smtClean="0"/>
          </a:p>
          <a:p>
            <a:endParaRPr lang="en-US" altLang="zh-CN" dirty="0"/>
          </a:p>
          <a:p>
            <a:endParaRPr lang="en-US" altLang="zh-CN" dirty="0" smtClean="0"/>
          </a:p>
          <a:p>
            <a:r>
              <a:rPr lang="zh-CN" altLang="en-US" dirty="0" smtClean="0"/>
              <a:t>第三</a:t>
            </a:r>
            <a:r>
              <a:rPr lang="zh-CN" altLang="en-US" dirty="0"/>
              <a:t>节 市场体系和市场秩序</a:t>
            </a:r>
          </a:p>
          <a:p>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13</a:t>
            </a:fld>
            <a:endParaRPr lang="zh-CN" altLang="en-US"/>
          </a:p>
        </p:txBody>
      </p:sp>
    </p:spTree>
    <p:extLst>
      <p:ext uri="{BB962C8B-B14F-4D97-AF65-F5344CB8AC3E}">
        <p14:creationId xmlns:p14="http://schemas.microsoft.com/office/powerpoint/2010/main" val="3980202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市场体系的分类</a:t>
            </a:r>
            <a:endParaRPr lang="zh-CN" altLang="en-US" dirty="0"/>
          </a:p>
        </p:txBody>
      </p:sp>
      <p:sp>
        <p:nvSpPr>
          <p:cNvPr id="3" name="内容占位符 2"/>
          <p:cNvSpPr>
            <a:spLocks noGrp="1"/>
          </p:cNvSpPr>
          <p:nvPr>
            <p:ph idx="1"/>
          </p:nvPr>
        </p:nvSpPr>
        <p:spPr/>
        <p:txBody>
          <a:bodyPr/>
          <a:lstStyle/>
          <a:p>
            <a:r>
              <a:rPr lang="zh-CN" altLang="en-US" dirty="0" smtClean="0"/>
              <a:t>按交易的对象划分：商品市场和要素市场</a:t>
            </a:r>
            <a:endParaRPr lang="en-US" altLang="zh-CN" dirty="0" smtClean="0"/>
          </a:p>
          <a:p>
            <a:r>
              <a:rPr lang="zh-CN" altLang="en-US" dirty="0" smtClean="0"/>
              <a:t>按交易的空间划分：区域性市场、全国性市场、国际市场</a:t>
            </a:r>
            <a:endParaRPr lang="en-US" altLang="zh-CN" dirty="0" smtClean="0"/>
          </a:p>
          <a:p>
            <a:r>
              <a:rPr lang="zh-CN" altLang="en-US" dirty="0" smtClean="0"/>
              <a:t>按商品的流通环节划分：批发市场和零售市场</a:t>
            </a:r>
            <a:endParaRPr lang="en-US" altLang="zh-CN" dirty="0" smtClean="0"/>
          </a:p>
          <a:p>
            <a:r>
              <a:rPr lang="zh-CN" altLang="en-US" dirty="0" smtClean="0"/>
              <a:t>按市场交易的具体方式划分：现货交易市场、远期交易市场和期货市场</a:t>
            </a:r>
            <a:endParaRPr lang="en-US" altLang="zh-CN" dirty="0" smtClean="0"/>
          </a:p>
          <a:p>
            <a:r>
              <a:rPr lang="zh-CN" altLang="en-US" dirty="0" smtClean="0"/>
              <a:t>按市场交换客体的存在形态划分：物质产品市场和服务市场</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14</a:t>
            </a:fld>
            <a:endParaRPr lang="zh-CN" altLang="en-US"/>
          </a:p>
        </p:txBody>
      </p:sp>
    </p:spTree>
    <p:extLst>
      <p:ext uri="{BB962C8B-B14F-4D97-AF65-F5344CB8AC3E}">
        <p14:creationId xmlns:p14="http://schemas.microsoft.com/office/powerpoint/2010/main" val="367962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商品市场</a:t>
            </a:r>
            <a:endParaRPr lang="zh-CN" altLang="en-US" dirty="0"/>
          </a:p>
        </p:txBody>
      </p:sp>
      <p:sp>
        <p:nvSpPr>
          <p:cNvPr id="3" name="内容占位符 2"/>
          <p:cNvSpPr>
            <a:spLocks noGrp="1"/>
          </p:cNvSpPr>
          <p:nvPr>
            <p:ph idx="1"/>
          </p:nvPr>
        </p:nvSpPr>
        <p:spPr/>
        <p:txBody>
          <a:bodyPr/>
          <a:lstStyle/>
          <a:p>
            <a:r>
              <a:rPr lang="zh-CN" altLang="en-US" dirty="0" smtClean="0"/>
              <a:t>消费资料市场：市场体系的基础，其价格信号引导着社会资源的配置</a:t>
            </a:r>
            <a:endParaRPr lang="en-US" altLang="zh-CN" dirty="0" smtClean="0"/>
          </a:p>
          <a:p>
            <a:r>
              <a:rPr lang="zh-CN" altLang="en-US" dirty="0" smtClean="0"/>
              <a:t>生产资料市场</a:t>
            </a:r>
            <a:r>
              <a:rPr lang="en-US" altLang="zh-CN" dirty="0" smtClean="0"/>
              <a:t>/</a:t>
            </a:r>
            <a:r>
              <a:rPr lang="zh-CN" altLang="en-US" dirty="0" smtClean="0"/>
              <a:t>要素市场</a:t>
            </a:r>
            <a:endParaRPr lang="en-US" altLang="zh-CN" dirty="0" smtClean="0"/>
          </a:p>
          <a:p>
            <a:pPr lvl="1"/>
            <a:r>
              <a:rPr lang="zh-CN" altLang="en-US" dirty="0" smtClean="0"/>
              <a:t>金融市场（货币</a:t>
            </a:r>
            <a:r>
              <a:rPr lang="en-US" altLang="zh-CN" dirty="0" smtClean="0"/>
              <a:t>/</a:t>
            </a:r>
            <a:r>
              <a:rPr lang="zh-CN" altLang="en-US" dirty="0" smtClean="0"/>
              <a:t>资本、发行</a:t>
            </a:r>
            <a:r>
              <a:rPr lang="en-US" altLang="zh-CN" dirty="0" smtClean="0"/>
              <a:t>/</a:t>
            </a:r>
            <a:r>
              <a:rPr lang="zh-CN" altLang="en-US" dirty="0" smtClean="0"/>
              <a:t>流通、</a:t>
            </a:r>
            <a:r>
              <a:rPr lang="zh-CN" altLang="en-US" dirty="0"/>
              <a:t>场</a:t>
            </a:r>
            <a:r>
              <a:rPr lang="zh-CN" altLang="en-US" dirty="0" smtClean="0"/>
              <a:t>内</a:t>
            </a:r>
            <a:r>
              <a:rPr lang="en-US" altLang="zh-CN" dirty="0" smtClean="0"/>
              <a:t>/</a:t>
            </a:r>
            <a:r>
              <a:rPr lang="zh-CN" altLang="en-US" dirty="0"/>
              <a:t>场外</a:t>
            </a:r>
            <a:r>
              <a:rPr lang="zh-CN" altLang="en-US" dirty="0" smtClean="0"/>
              <a:t>）</a:t>
            </a:r>
            <a:endParaRPr lang="en-US" altLang="zh-CN" dirty="0" smtClean="0"/>
          </a:p>
          <a:p>
            <a:pPr lvl="1"/>
            <a:r>
              <a:rPr lang="zh-CN" altLang="en-US" dirty="0" smtClean="0"/>
              <a:t>劳动力市场</a:t>
            </a:r>
            <a:endParaRPr lang="en-US" altLang="zh-CN" dirty="0" smtClean="0"/>
          </a:p>
          <a:p>
            <a:pPr lvl="1"/>
            <a:r>
              <a:rPr lang="zh-CN" altLang="en-US" dirty="0" smtClean="0"/>
              <a:t>土地市场</a:t>
            </a:r>
            <a:endParaRPr lang="en-US" altLang="zh-CN" dirty="0" smtClean="0"/>
          </a:p>
          <a:p>
            <a:pPr lvl="1"/>
            <a:r>
              <a:rPr lang="zh-CN" altLang="en-US" dirty="0" smtClean="0"/>
              <a:t>技术市场</a:t>
            </a:r>
            <a:endParaRPr lang="en-US" altLang="zh-CN" dirty="0" smtClean="0"/>
          </a:p>
          <a:p>
            <a:pPr lvl="1"/>
            <a:r>
              <a:rPr lang="zh-CN" altLang="en-US" dirty="0" smtClean="0"/>
              <a:t>信息市场</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15</a:t>
            </a:fld>
            <a:endParaRPr lang="zh-CN" altLang="en-US"/>
          </a:p>
        </p:txBody>
      </p:sp>
    </p:spTree>
    <p:extLst>
      <p:ext uri="{BB962C8B-B14F-4D97-AF65-F5344CB8AC3E}">
        <p14:creationId xmlns:p14="http://schemas.microsoft.com/office/powerpoint/2010/main" val="3706014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市场秩序</a:t>
            </a:r>
            <a:endParaRPr lang="zh-CN" altLang="en-US" dirty="0"/>
          </a:p>
        </p:txBody>
      </p:sp>
      <p:sp>
        <p:nvSpPr>
          <p:cNvPr id="3" name="内容占位符 2"/>
          <p:cNvSpPr>
            <a:spLocks noGrp="1"/>
          </p:cNvSpPr>
          <p:nvPr>
            <p:ph idx="1"/>
          </p:nvPr>
        </p:nvSpPr>
        <p:spPr/>
        <p:txBody>
          <a:bodyPr/>
          <a:lstStyle/>
          <a:p>
            <a:r>
              <a:rPr lang="zh-CN" altLang="en-US" dirty="0" smtClean="0"/>
              <a:t>市场秩序是指市场运行中必须遵循的各种行为准则和行为规范的总称</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16</a:t>
            </a:fld>
            <a:endParaRPr lang="zh-CN" altLang="en-US"/>
          </a:p>
        </p:txBody>
      </p:sp>
    </p:spTree>
    <p:extLst>
      <p:ext uri="{BB962C8B-B14F-4D97-AF65-F5344CB8AC3E}">
        <p14:creationId xmlns:p14="http://schemas.microsoft.com/office/powerpoint/2010/main" val="4763523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建立和规范市场秩序的意义</a:t>
            </a:r>
            <a:endParaRPr lang="zh-CN" altLang="en-US" dirty="0"/>
          </a:p>
        </p:txBody>
      </p:sp>
      <p:sp>
        <p:nvSpPr>
          <p:cNvPr id="3" name="内容占位符 2"/>
          <p:cNvSpPr>
            <a:spLocks noGrp="1"/>
          </p:cNvSpPr>
          <p:nvPr>
            <p:ph idx="1"/>
          </p:nvPr>
        </p:nvSpPr>
        <p:spPr/>
        <p:txBody>
          <a:bodyPr/>
          <a:lstStyle/>
          <a:p>
            <a:r>
              <a:rPr lang="zh-CN" altLang="en-US" dirty="0" smtClean="0"/>
              <a:t>促进市场机制正常发挥作用</a:t>
            </a:r>
            <a:endParaRPr lang="en-US" altLang="zh-CN" dirty="0" smtClean="0"/>
          </a:p>
          <a:p>
            <a:r>
              <a:rPr lang="zh-CN" altLang="en-US" dirty="0" smtClean="0"/>
              <a:t>保证国家对国民经济运行进行调控</a:t>
            </a:r>
            <a:endParaRPr lang="en-US" altLang="zh-CN" dirty="0" smtClean="0"/>
          </a:p>
          <a:p>
            <a:r>
              <a:rPr lang="zh-CN" altLang="en-US" dirty="0" smtClean="0"/>
              <a:t>有助于增强企业活力</a:t>
            </a:r>
            <a:endParaRPr lang="en-US" altLang="zh-CN" dirty="0" smtClean="0"/>
          </a:p>
          <a:p>
            <a:r>
              <a:rPr lang="zh-CN" altLang="en-US" dirty="0" smtClean="0"/>
              <a:t>是畅通经济双循环的必要条件</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17</a:t>
            </a:fld>
            <a:endParaRPr lang="zh-CN" altLang="en-US"/>
          </a:p>
        </p:txBody>
      </p:sp>
    </p:spTree>
    <p:extLst>
      <p:ext uri="{BB962C8B-B14F-4D97-AF65-F5344CB8AC3E}">
        <p14:creationId xmlns:p14="http://schemas.microsoft.com/office/powerpoint/2010/main" val="1141698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市场规则</a:t>
            </a:r>
            <a:endParaRPr lang="zh-CN" altLang="en-US" dirty="0"/>
          </a:p>
        </p:txBody>
      </p:sp>
      <p:sp>
        <p:nvSpPr>
          <p:cNvPr id="3" name="内容占位符 2"/>
          <p:cNvSpPr>
            <a:spLocks noGrp="1"/>
          </p:cNvSpPr>
          <p:nvPr>
            <p:ph idx="1"/>
          </p:nvPr>
        </p:nvSpPr>
        <p:spPr/>
        <p:txBody>
          <a:bodyPr/>
          <a:lstStyle/>
          <a:p>
            <a:r>
              <a:rPr lang="zh-CN" altLang="en-US" dirty="0" smtClean="0"/>
              <a:t>市场规则是指国家为保证市场有序运行所制定的各种规章制度，包括法律、法规、契约和公约等</a:t>
            </a:r>
            <a:endParaRPr lang="en-US" altLang="zh-CN" dirty="0" smtClean="0"/>
          </a:p>
          <a:p>
            <a:pPr lvl="1"/>
            <a:r>
              <a:rPr lang="zh-CN" altLang="en-US" dirty="0" smtClean="0"/>
              <a:t>市场进出规则</a:t>
            </a:r>
            <a:endParaRPr lang="en-US" altLang="zh-CN" dirty="0" smtClean="0"/>
          </a:p>
          <a:p>
            <a:pPr lvl="1"/>
            <a:r>
              <a:rPr lang="zh-CN" altLang="en-US" dirty="0" smtClean="0"/>
              <a:t>市场竞争规则</a:t>
            </a:r>
            <a:endParaRPr lang="en-US" altLang="zh-CN" dirty="0" smtClean="0"/>
          </a:p>
          <a:p>
            <a:pPr lvl="1"/>
            <a:r>
              <a:rPr lang="zh-CN" altLang="en-US" dirty="0" smtClean="0"/>
              <a:t>市场交易规则</a:t>
            </a:r>
            <a:endParaRPr lang="en-US" altLang="zh-CN" dirty="0" smtClean="0"/>
          </a:p>
          <a:p>
            <a:pPr lvl="1"/>
            <a:r>
              <a:rPr lang="zh-CN" altLang="en-US" dirty="0" smtClean="0"/>
              <a:t>市场仲裁规则</a:t>
            </a:r>
            <a:endParaRPr lang="en-US" altLang="zh-CN" dirty="0" smtClean="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18</a:t>
            </a:fld>
            <a:endParaRPr lang="zh-CN" altLang="en-US"/>
          </a:p>
        </p:txBody>
      </p:sp>
    </p:spTree>
    <p:extLst>
      <p:ext uri="{BB962C8B-B14F-4D97-AF65-F5344CB8AC3E}">
        <p14:creationId xmlns:p14="http://schemas.microsoft.com/office/powerpoint/2010/main" val="34146099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市场进出规则</a:t>
            </a:r>
            <a:endParaRPr lang="zh-CN" altLang="en-US" dirty="0"/>
          </a:p>
        </p:txBody>
      </p:sp>
      <p:sp>
        <p:nvSpPr>
          <p:cNvPr id="3" name="内容占位符 2"/>
          <p:cNvSpPr>
            <a:spLocks noGrp="1"/>
          </p:cNvSpPr>
          <p:nvPr>
            <p:ph idx="1"/>
          </p:nvPr>
        </p:nvSpPr>
        <p:spPr/>
        <p:txBody>
          <a:bodyPr/>
          <a:lstStyle/>
          <a:p>
            <a:r>
              <a:rPr lang="zh-CN" altLang="en-US" dirty="0" smtClean="0"/>
              <a:t>市场主体进入市场的资格规范</a:t>
            </a:r>
            <a:endParaRPr lang="en-US" altLang="zh-CN" dirty="0" smtClean="0"/>
          </a:p>
          <a:p>
            <a:r>
              <a:rPr lang="zh-CN" altLang="en-US" dirty="0" smtClean="0"/>
              <a:t>市场主体的性质规范</a:t>
            </a:r>
            <a:endParaRPr lang="en-US" altLang="zh-CN" dirty="0" smtClean="0"/>
          </a:p>
          <a:p>
            <a:r>
              <a:rPr lang="zh-CN" altLang="en-US" dirty="0" smtClean="0"/>
              <a:t>市场主体的退出规范</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19</a:t>
            </a:fld>
            <a:endParaRPr lang="zh-CN" altLang="en-US"/>
          </a:p>
        </p:txBody>
      </p:sp>
    </p:spTree>
    <p:extLst>
      <p:ext uri="{BB962C8B-B14F-4D97-AF65-F5344CB8AC3E}">
        <p14:creationId xmlns:p14="http://schemas.microsoft.com/office/powerpoint/2010/main" val="3958415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市场竞争规则</a:t>
            </a:r>
            <a:endParaRPr lang="zh-CN" altLang="en-US" dirty="0"/>
          </a:p>
        </p:txBody>
      </p:sp>
      <p:sp>
        <p:nvSpPr>
          <p:cNvPr id="3" name="内容占位符 2"/>
          <p:cNvSpPr>
            <a:spLocks noGrp="1"/>
          </p:cNvSpPr>
          <p:nvPr>
            <p:ph idx="1"/>
          </p:nvPr>
        </p:nvSpPr>
        <p:spPr/>
        <p:txBody>
          <a:bodyPr/>
          <a:lstStyle/>
          <a:p>
            <a:r>
              <a:rPr lang="zh-CN" altLang="en-US" dirty="0" smtClean="0"/>
              <a:t>禁止经营者采用欺骗、胁迫、利诱和诋毁等违背公平竞争准则的手段从事交易</a:t>
            </a:r>
            <a:endParaRPr lang="en-US" altLang="zh-CN" dirty="0" smtClean="0"/>
          </a:p>
          <a:p>
            <a:r>
              <a:rPr lang="zh-CN" altLang="en-US" dirty="0" smtClean="0"/>
              <a:t>禁止经营者滥用其拥有的市场优势地位和市场势力妨碍公平竞争</a:t>
            </a:r>
            <a:endParaRPr lang="en-US" altLang="zh-CN" dirty="0" smtClean="0"/>
          </a:p>
          <a:p>
            <a:r>
              <a:rPr lang="zh-CN" altLang="en-US" dirty="0" smtClean="0"/>
              <a:t>禁止经营者通过独占、兼并等排斥竞争对手支配市场</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20</a:t>
            </a:fld>
            <a:endParaRPr lang="zh-CN" altLang="en-US"/>
          </a:p>
        </p:txBody>
      </p:sp>
    </p:spTree>
    <p:extLst>
      <p:ext uri="{BB962C8B-B14F-4D97-AF65-F5344CB8AC3E}">
        <p14:creationId xmlns:p14="http://schemas.microsoft.com/office/powerpoint/2010/main" val="4319209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市场交易规则</a:t>
            </a:r>
            <a:endParaRPr lang="zh-CN" altLang="en-US" dirty="0"/>
          </a:p>
        </p:txBody>
      </p:sp>
      <p:sp>
        <p:nvSpPr>
          <p:cNvPr id="3" name="内容占位符 2"/>
          <p:cNvSpPr>
            <a:spLocks noGrp="1"/>
          </p:cNvSpPr>
          <p:nvPr>
            <p:ph idx="1"/>
          </p:nvPr>
        </p:nvSpPr>
        <p:spPr/>
        <p:txBody>
          <a:bodyPr/>
          <a:lstStyle/>
          <a:p>
            <a:r>
              <a:rPr lang="zh-CN" altLang="en-US" dirty="0" smtClean="0"/>
              <a:t>市场交易方式的规范：明码标价</a:t>
            </a:r>
            <a:endParaRPr lang="en-US" altLang="zh-CN" dirty="0" smtClean="0"/>
          </a:p>
          <a:p>
            <a:r>
              <a:rPr lang="zh-CN" altLang="en-US" dirty="0" smtClean="0"/>
              <a:t>市场交易行为的规范：禁止强买强卖</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21</a:t>
            </a:fld>
            <a:endParaRPr lang="zh-CN" altLang="en-US"/>
          </a:p>
        </p:txBody>
      </p:sp>
    </p:spTree>
    <p:extLst>
      <p:ext uri="{BB962C8B-B14F-4D97-AF65-F5344CB8AC3E}">
        <p14:creationId xmlns:p14="http://schemas.microsoft.com/office/powerpoint/2010/main" val="469288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市场仲裁规则</a:t>
            </a:r>
            <a:endParaRPr lang="zh-CN" altLang="en-US" dirty="0"/>
          </a:p>
        </p:txBody>
      </p:sp>
      <p:sp>
        <p:nvSpPr>
          <p:cNvPr id="3" name="内容占位符 2"/>
          <p:cNvSpPr>
            <a:spLocks noGrp="1"/>
          </p:cNvSpPr>
          <p:nvPr>
            <p:ph idx="1"/>
          </p:nvPr>
        </p:nvSpPr>
        <p:spPr/>
        <p:txBody>
          <a:bodyPr/>
          <a:lstStyle/>
          <a:p>
            <a:r>
              <a:rPr lang="zh-CN" altLang="en-US" dirty="0" smtClean="0"/>
              <a:t>市场主体之间经济纠纷进行仲裁时必须遵守的行为准则和规范</a:t>
            </a:r>
            <a:endParaRPr lang="en-US" altLang="zh-CN" dirty="0" smtClean="0"/>
          </a:p>
          <a:p>
            <a:pPr lvl="1"/>
            <a:r>
              <a:rPr lang="zh-CN" altLang="en-US" dirty="0" smtClean="0"/>
              <a:t>遵循公平原则，一视同仁</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22</a:t>
            </a:fld>
            <a:endParaRPr lang="zh-CN" altLang="en-US"/>
          </a:p>
        </p:txBody>
      </p:sp>
    </p:spTree>
    <p:extLst>
      <p:ext uri="{BB962C8B-B14F-4D97-AF65-F5344CB8AC3E}">
        <p14:creationId xmlns:p14="http://schemas.microsoft.com/office/powerpoint/2010/main" val="4050905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市场管理</a:t>
            </a:r>
            <a:endParaRPr lang="zh-CN" altLang="en-US" dirty="0"/>
          </a:p>
        </p:txBody>
      </p:sp>
      <p:sp>
        <p:nvSpPr>
          <p:cNvPr id="3" name="内容占位符 2"/>
          <p:cNvSpPr>
            <a:spLocks noGrp="1"/>
          </p:cNvSpPr>
          <p:nvPr>
            <p:ph idx="1"/>
          </p:nvPr>
        </p:nvSpPr>
        <p:spPr/>
        <p:txBody>
          <a:bodyPr/>
          <a:lstStyle/>
          <a:p>
            <a:r>
              <a:rPr lang="zh-CN" altLang="en-US" dirty="0" smtClean="0"/>
              <a:t>市场管理组织机构</a:t>
            </a:r>
            <a:endParaRPr lang="en-US" altLang="zh-CN" dirty="0" smtClean="0"/>
          </a:p>
          <a:p>
            <a:pPr lvl="1"/>
            <a:r>
              <a:rPr lang="zh-CN" altLang="en-US" dirty="0" smtClean="0"/>
              <a:t>国家设置的专门从事市场管理的机构：财税、工商、审计等</a:t>
            </a:r>
            <a:endParaRPr lang="en-US" altLang="zh-CN" dirty="0" smtClean="0"/>
          </a:p>
          <a:p>
            <a:pPr lvl="1"/>
            <a:r>
              <a:rPr lang="zh-CN" altLang="en-US" dirty="0" smtClean="0"/>
              <a:t>技术管理机构：标准制定、质量鉴定等</a:t>
            </a:r>
            <a:endParaRPr lang="en-US" altLang="zh-CN" dirty="0" smtClean="0"/>
          </a:p>
          <a:p>
            <a:pPr lvl="1"/>
            <a:r>
              <a:rPr lang="zh-CN" altLang="en-US" dirty="0" smtClean="0"/>
              <a:t>社会性及群众性管理机构：消费者协会等</a:t>
            </a:r>
            <a:endParaRPr lang="en-US" altLang="zh-CN" dirty="0" smtClean="0"/>
          </a:p>
          <a:p>
            <a:r>
              <a:rPr lang="zh-CN" altLang="en-US" dirty="0" smtClean="0"/>
              <a:t>市场监管体系</a:t>
            </a:r>
            <a:endParaRPr lang="zh-CN" altLang="en-US" dirty="0"/>
          </a:p>
        </p:txBody>
      </p:sp>
      <p:sp>
        <p:nvSpPr>
          <p:cNvPr id="4" name="灯片编号占位符 3"/>
          <p:cNvSpPr>
            <a:spLocks noGrp="1"/>
          </p:cNvSpPr>
          <p:nvPr>
            <p:ph type="sldNum" sz="quarter" idx="12"/>
          </p:nvPr>
        </p:nvSpPr>
        <p:spPr/>
        <p:txBody>
          <a:bodyPr/>
          <a:lstStyle/>
          <a:p>
            <a:fld id="{10F2143F-0457-4E80-A290-5DB1806D65E5}" type="slidenum">
              <a:rPr lang="zh-CN" altLang="en-US" smtClean="0"/>
              <a:t>23</a:t>
            </a:fld>
            <a:endParaRPr lang="zh-CN" altLang="en-US"/>
          </a:p>
        </p:txBody>
      </p:sp>
    </p:spTree>
    <p:extLst>
      <p:ext uri="{BB962C8B-B14F-4D97-AF65-F5344CB8AC3E}">
        <p14:creationId xmlns:p14="http://schemas.microsoft.com/office/powerpoint/2010/main" val="4061821089"/>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391</TotalTime>
  <Words>779</Words>
  <Application>Microsoft Office PowerPoint</Application>
  <PresentationFormat>全屏显示(4:3)</PresentationFormat>
  <Paragraphs>129</Paragraphs>
  <Slides>23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23</vt:i4>
      </vt:variant>
    </vt:vector>
  </HeadingPairs>
  <TitlesOfParts>
    <vt:vector size="29" baseType="lpstr">
      <vt:lpstr>宋体</vt:lpstr>
      <vt:lpstr>微软雅黑</vt:lpstr>
      <vt:lpstr>Arial</vt:lpstr>
      <vt:lpstr>Calibri</vt:lpstr>
      <vt:lpstr>Calibri Light</vt:lpstr>
      <vt:lpstr>Office 主题</vt:lpstr>
      <vt:lpstr>第三章 市场经济和价值规律</vt:lpstr>
      <vt:lpstr>第三章主要内容</vt:lpstr>
      <vt:lpstr>PowerPoint 演示文稿</vt:lpstr>
      <vt:lpstr>自然经济</vt:lpstr>
      <vt:lpstr>商品经济</vt:lpstr>
      <vt:lpstr>商品经济</vt:lpstr>
      <vt:lpstr>市场经济的基本特征</vt:lpstr>
      <vt:lpstr>市场机制</vt:lpstr>
      <vt:lpstr>PowerPoint 演示文稿</vt:lpstr>
      <vt:lpstr>价值规律的内容</vt:lpstr>
      <vt:lpstr>价值规律的作用</vt:lpstr>
      <vt:lpstr>价值规律作用的局限（P76）</vt:lpstr>
      <vt:lpstr>PowerPoint 演示文稿</vt:lpstr>
      <vt:lpstr>市场体系的分类</vt:lpstr>
      <vt:lpstr>商品市场</vt:lpstr>
      <vt:lpstr>市场秩序</vt:lpstr>
      <vt:lpstr>建立和规范市场秩序的意义</vt:lpstr>
      <vt:lpstr>市场规则</vt:lpstr>
      <vt:lpstr>市场进出规则</vt:lpstr>
      <vt:lpstr>市场竞争规则</vt:lpstr>
      <vt:lpstr>市场交易规则</vt:lpstr>
      <vt:lpstr>市场仲裁规则</vt:lpstr>
      <vt:lpstr>市场管理</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王成城</dc:creator>
  <cp:lastModifiedBy>JING JIANG</cp:lastModifiedBy>
  <cp:revision>36</cp:revision>
  <dcterms:created xsi:type="dcterms:W3CDTF">2013-11-29T11:59:20Z</dcterms:created>
  <dcterms:modified xsi:type="dcterms:W3CDTF">2021-11-03T13:01:52Z</dcterms:modified>
</cp:coreProperties>
</file>
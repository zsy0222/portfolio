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7" r:id="rId3"/>
    <p:sldId id="259" r:id="rId4"/>
    <p:sldId id="288" r:id="rId5"/>
    <p:sldId id="261" r:id="rId6"/>
    <p:sldId id="262" r:id="rId7"/>
    <p:sldId id="263" r:id="rId8"/>
    <p:sldId id="260" r:id="rId9"/>
    <p:sldId id="264" r:id="rId10"/>
    <p:sldId id="265" r:id="rId11"/>
    <p:sldId id="266" r:id="rId12"/>
    <p:sldId id="273" r:id="rId13"/>
    <p:sldId id="274" r:id="rId14"/>
    <p:sldId id="281" r:id="rId15"/>
    <p:sldId id="283" r:id="rId16"/>
    <p:sldId id="280" r:id="rId17"/>
    <p:sldId id="282" r:id="rId18"/>
    <p:sldId id="285" r:id="rId19"/>
    <p:sldId id="279" r:id="rId20"/>
    <p:sldId id="286" r:id="rId21"/>
    <p:sldId id="287" r:id="rId22"/>
    <p:sldId id="301" r:id="rId23"/>
    <p:sldId id="302" r:id="rId24"/>
    <p:sldId id="303" r:id="rId25"/>
    <p:sldId id="304"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67" d="100"/>
          <a:sy n="67" d="100"/>
        </p:scale>
        <p:origin x="1174"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9002E-6663-44C7-8136-2276ECC2B749}" type="datetimeFigureOut">
              <a:rPr lang="zh-CN" altLang="en-US" smtClean="0"/>
              <a:t>2023/11/21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D2699-BFC2-46FE-A849-DE58F412D66F}" type="slidenum">
              <a:rPr lang="zh-CN" altLang="en-US" smtClean="0"/>
              <a:t>‹#›</a:t>
            </a:fld>
            <a:endParaRPr lang="zh-CN" altLang="en-US"/>
          </a:p>
        </p:txBody>
      </p:sp>
    </p:spTree>
    <p:extLst>
      <p:ext uri="{BB962C8B-B14F-4D97-AF65-F5344CB8AC3E}">
        <p14:creationId xmlns:p14="http://schemas.microsoft.com/office/powerpoint/2010/main" val="15221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C74007F-B314-41A7-A8ED-1D6FD14F5245}" type="slidenum">
              <a:rPr lang="en-US" altLang="zh-CN"/>
              <a:pPr>
                <a:spcBef>
                  <a:spcPct val="0"/>
                </a:spcBef>
              </a:pPr>
              <a:t>6</a:t>
            </a:fld>
            <a:endParaRPr lang="en-US" altLang="zh-CN"/>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066966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FD8BA0D-BCC8-47F8-A034-BB3E7A011919}" type="slidenum">
              <a:rPr lang="en-US" altLang="zh-CN"/>
              <a:pPr>
                <a:spcBef>
                  <a:spcPct val="0"/>
                </a:spcBef>
              </a:pPr>
              <a:t>7</a:t>
            </a:fld>
            <a:endParaRPr lang="en-US" altLang="zh-CN"/>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143116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5A428C0-652A-435F-9B17-1E62A5AB9BAC}" type="slidenum">
              <a:rPr lang="en-US" altLang="zh-CN"/>
              <a:pPr>
                <a:spcBef>
                  <a:spcPct val="0"/>
                </a:spcBef>
              </a:pPr>
              <a:t>16</a:t>
            </a:fld>
            <a:endParaRPr lang="en-US" altLang="zh-CN"/>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862063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D5A20E2-8DCB-4CE2-B2E6-139D5514484A}" type="slidenum">
              <a:rPr lang="en-US" altLang="zh-CN"/>
              <a:pPr>
                <a:spcBef>
                  <a:spcPct val="0"/>
                </a:spcBef>
              </a:pPr>
              <a:t>18</a:t>
            </a:fld>
            <a:endParaRPr lang="en-US" altLang="zh-CN"/>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944569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0F67E94-838D-430B-B747-08813E372C85}" type="slidenum">
              <a:rPr lang="en-US" altLang="zh-CN"/>
              <a:pPr>
                <a:spcBef>
                  <a:spcPct val="0"/>
                </a:spcBef>
              </a:pPr>
              <a:t>20</a:t>
            </a:fld>
            <a:endParaRPr lang="en-US" altLang="zh-CN"/>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551557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12FA5F25-ED15-45B2-BD5F-033CFA1E65FC}" type="slidenum">
              <a:rPr lang="en-US" altLang="zh-CN">
                <a:latin typeface="Arial" panose="020B0604020202020204" pitchFamily="34" charset="0"/>
              </a:rPr>
              <a:pPr eaLnBrk="1" hangingPunct="1"/>
              <a:t>32</a:t>
            </a:fld>
            <a:endParaRPr lang="en-US" altLang="zh-CN">
              <a:latin typeface="Arial" panose="020B0604020202020204" pitchFamily="34"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958722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4133" y="2404536"/>
            <a:ext cx="7772400" cy="715963"/>
          </a:xfrm>
        </p:spPr>
        <p:txBody>
          <a:bodyPr anchor="b">
            <a:normAutofit/>
          </a:bodyPr>
          <a:lstStyle>
            <a:lvl1pPr algn="l">
              <a:defRPr sz="36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533399" y="3407310"/>
            <a:ext cx="6858000" cy="495829"/>
          </a:xfrm>
        </p:spPr>
        <p:txBody>
          <a:bodyPr>
            <a:normAutofit/>
          </a:bodyPr>
          <a:lstStyle>
            <a:lvl1pPr marL="0" indent="0" algn="l">
              <a:buNone/>
              <a:defRPr sz="2000" baseline="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 </a:t>
            </a: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261D6E3F-3296-44D2-823C-DE11DCBDC05C}" type="datetime1">
              <a:rPr lang="zh-CN" altLang="en-US" smtClean="0"/>
              <a:t>2023/11/21</a:t>
            </a:fld>
            <a:endParaRPr lang="zh-CN" altLang="en-US"/>
          </a:p>
        </p:txBody>
      </p:sp>
      <p:sp>
        <p:nvSpPr>
          <p:cNvPr id="5" name="Footer Placeholder 4"/>
          <p:cNvSpPr>
            <a:spLocks noGrp="1"/>
          </p:cNvSpPr>
          <p:nvPr>
            <p:ph type="ftr" sz="quarter" idx="11"/>
          </p:nvPr>
        </p:nvSpPr>
        <p:spPr>
          <a:xfrm>
            <a:off x="3028950" y="6533093"/>
            <a:ext cx="3086100" cy="365125"/>
          </a:xfrm>
        </p:spPr>
        <p:txBody>
          <a:bodyPr/>
          <a:lstStyle>
            <a:lvl1pPr>
              <a:defRPr>
                <a:solidFill>
                  <a:schemeClr val="bg2">
                    <a:lumMod val="25000"/>
                  </a:schemeClr>
                </a:solidFill>
              </a:defRPr>
            </a:lvl1pPr>
          </a:lstStyle>
          <a:p>
            <a:r>
              <a:rPr lang="zh-CN" altLang="en-US" dirty="0"/>
              <a:t>南京大学商学院</a:t>
            </a:r>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116277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04332"/>
            <a:ext cx="5755217" cy="778931"/>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628650" y="1701799"/>
            <a:ext cx="7886700" cy="4555067"/>
          </a:xfrm>
        </p:spPr>
        <p:txBody>
          <a:bodyPr/>
          <a:lstStyle>
            <a:lvl1pPr>
              <a:lnSpc>
                <a:spcPct val="150000"/>
              </a:lnSpc>
              <a:spcBef>
                <a:spcPts val="0"/>
              </a:spcBef>
              <a:defRPr sz="2400" baseline="0">
                <a:latin typeface="微软雅黑" panose="020B0503020204020204" pitchFamily="34" charset="-122"/>
                <a:ea typeface="微软雅黑" panose="020B0503020204020204" pitchFamily="34" charset="-122"/>
              </a:defRPr>
            </a:lvl1pPr>
            <a:lvl2pPr>
              <a:lnSpc>
                <a:spcPct val="150000"/>
              </a:lnSpc>
              <a:spcBef>
                <a:spcPts val="0"/>
              </a:spcBef>
              <a:defRPr sz="2000" baseline="0">
                <a:latin typeface="微软雅黑" panose="020B0503020204020204" pitchFamily="34" charset="-122"/>
                <a:ea typeface="微软雅黑" panose="020B0503020204020204" pitchFamily="34" charset="-122"/>
              </a:defRPr>
            </a:lvl2pPr>
            <a:lvl3pPr>
              <a:lnSpc>
                <a:spcPct val="150000"/>
              </a:lnSpc>
              <a:spcBef>
                <a:spcPts val="0"/>
              </a:spcBef>
              <a:defRPr>
                <a:latin typeface="微软雅黑" panose="020B0503020204020204" pitchFamily="34" charset="-122"/>
                <a:ea typeface="微软雅黑" panose="020B0503020204020204" pitchFamily="34" charset="-122"/>
              </a:defRPr>
            </a:lvl3pPr>
            <a:lvl4pPr>
              <a:lnSpc>
                <a:spcPct val="150000"/>
              </a:lnSpc>
              <a:spcBef>
                <a:spcPts val="0"/>
              </a:spcBef>
              <a:defRPr>
                <a:latin typeface="微软雅黑" panose="020B0503020204020204" pitchFamily="34" charset="-122"/>
                <a:ea typeface="微软雅黑" panose="020B0503020204020204" pitchFamily="34" charset="-122"/>
              </a:defRPr>
            </a:lvl4pPr>
            <a:lvl5pPr>
              <a:lnSpc>
                <a:spcPct val="150000"/>
              </a:lnSpc>
              <a:spcBef>
                <a:spcPts val="0"/>
              </a:spcBef>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E0D2E42A-1E66-431D-BB59-EBF8D47B9C24}" type="datetime1">
              <a:rPr lang="zh-CN" altLang="en-US" smtClean="0"/>
              <a:t>2023/11/21</a:t>
            </a:fld>
            <a:endParaRPr lang="zh-CN" altLang="en-US"/>
          </a:p>
        </p:txBody>
      </p:sp>
      <p:sp>
        <p:nvSpPr>
          <p:cNvPr id="5" name="Footer Placeholder 4"/>
          <p:cNvSpPr>
            <a:spLocks noGrp="1"/>
          </p:cNvSpPr>
          <p:nvPr>
            <p:ph type="ftr" sz="quarter" idx="11"/>
          </p:nvPr>
        </p:nvSpPr>
        <p:spPr>
          <a:xfrm>
            <a:off x="3028950" y="6519864"/>
            <a:ext cx="3086100" cy="365125"/>
          </a:xfrm>
        </p:spPr>
        <p:txBody>
          <a:bodyPr/>
          <a:lstStyle>
            <a:lvl1pPr>
              <a:defRPr>
                <a:solidFill>
                  <a:schemeClr val="bg2">
                    <a:lumMod val="25000"/>
                  </a:schemeClr>
                </a:solidFill>
              </a:defRPr>
            </a:lvl1pPr>
          </a:lstStyle>
          <a:p>
            <a:r>
              <a:rPr lang="zh-CN" altLang="en-US" dirty="0"/>
              <a:t>南京大学商学院</a:t>
            </a:r>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898066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6251575"/>
            <a:ext cx="2133600" cy="476250"/>
          </a:xfrm>
        </p:spPr>
        <p:txBody>
          <a:bodyPr/>
          <a:lstStyle>
            <a:lvl1pPr>
              <a:defRPr/>
            </a:lvl1pPr>
          </a:lstStyle>
          <a:p>
            <a:pPr>
              <a:defRPr/>
            </a:pPr>
            <a:fld id="{A56A782D-37DD-4D35-A09E-C772305592A6}" type="datetime1">
              <a:rPr lang="zh-CN" altLang="en-US"/>
              <a:pPr>
                <a:defRPr/>
              </a:pPr>
              <a:t>2023/11/21</a:t>
            </a:fld>
            <a:endParaRPr lang="en-US" altLang="zh-CN"/>
          </a:p>
        </p:txBody>
      </p:sp>
      <p:sp>
        <p:nvSpPr>
          <p:cNvPr id="6" name="灯片编号占位符 5"/>
          <p:cNvSpPr>
            <a:spLocks noGrp="1"/>
          </p:cNvSpPr>
          <p:nvPr>
            <p:ph type="sldNum" sz="quarter" idx="11"/>
          </p:nvPr>
        </p:nvSpPr>
        <p:spPr>
          <a:xfrm>
            <a:off x="6553200" y="6248400"/>
            <a:ext cx="2133600" cy="476250"/>
          </a:xfrm>
        </p:spPr>
        <p:txBody>
          <a:bodyPr/>
          <a:lstStyle>
            <a:lvl1pPr>
              <a:defRPr smtClean="0"/>
            </a:lvl1pPr>
          </a:lstStyle>
          <a:p>
            <a:pPr>
              <a:defRPr/>
            </a:pPr>
            <a:fld id="{8D73FB88-665B-49D0-BC47-F559CC240B3A}" type="slidenum">
              <a:rPr lang="en-US" altLang="zh-CN"/>
              <a:pPr>
                <a:defRPr/>
              </a:pPr>
              <a:t>‹#›</a:t>
            </a:fld>
            <a:endParaRPr lang="en-US" altLang="zh-CN"/>
          </a:p>
        </p:txBody>
      </p:sp>
      <p:sp>
        <p:nvSpPr>
          <p:cNvPr id="7" name="页脚占位符 6"/>
          <p:cNvSpPr>
            <a:spLocks noGrp="1"/>
          </p:cNvSpPr>
          <p:nvPr>
            <p:ph type="ftr" sz="quarter" idx="12"/>
          </p:nvPr>
        </p:nvSpPr>
        <p:spPr>
          <a:xfrm>
            <a:off x="3124200" y="6248400"/>
            <a:ext cx="2895600" cy="476250"/>
          </a:xfrm>
        </p:spPr>
        <p:txBody>
          <a:bodyPr/>
          <a:lstStyle>
            <a:lvl1pPr>
              <a:defRPr/>
            </a:lvl1pPr>
          </a:lstStyle>
          <a:p>
            <a:pPr>
              <a:defRPr/>
            </a:pPr>
            <a:r>
              <a:rPr lang="en-US" altLang="zh-CN"/>
              <a:t>《政治经济学》第四讲</a:t>
            </a:r>
          </a:p>
        </p:txBody>
      </p:sp>
    </p:spTree>
    <p:extLst>
      <p:ext uri="{BB962C8B-B14F-4D97-AF65-F5344CB8AC3E}">
        <p14:creationId xmlns:p14="http://schemas.microsoft.com/office/powerpoint/2010/main" val="11327287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AFE1E-691E-4A3D-978C-4DE990FF2C2C}" type="datetime1">
              <a:rPr lang="zh-CN" altLang="en-US" smtClean="0"/>
              <a:t>2023/11/21</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南京大学商学院</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39601400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第六章 资本主义流通</a:t>
            </a:r>
          </a:p>
        </p:txBody>
      </p:sp>
      <p:sp>
        <p:nvSpPr>
          <p:cNvPr id="5" name="副标题 4"/>
          <p:cNvSpPr>
            <a:spLocks noGrp="1"/>
          </p:cNvSpPr>
          <p:nvPr>
            <p:ph type="subTitle"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10F2143F-0457-4E80-A290-5DB1806D65E5}" type="slidenum">
              <a:rPr lang="zh-CN" altLang="en-US" smtClean="0"/>
              <a:t>1</a:t>
            </a:fld>
            <a:endParaRPr lang="zh-CN" altLang="en-US"/>
          </a:p>
        </p:txBody>
      </p:sp>
    </p:spTree>
    <p:extLst>
      <p:ext uri="{BB962C8B-B14F-4D97-AF65-F5344CB8AC3E}">
        <p14:creationId xmlns:p14="http://schemas.microsoft.com/office/powerpoint/2010/main" val="322415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第一节 资本的循环</a:t>
            </a:r>
            <a:endParaRPr lang="en-US" altLang="zh-CN" dirty="0"/>
          </a:p>
          <a:p>
            <a:r>
              <a:rPr lang="zh-CN" altLang="en-US" dirty="0"/>
              <a:t>第二节 资本的周转</a:t>
            </a:r>
            <a:endParaRPr lang="en-US" altLang="zh-CN" dirty="0"/>
          </a:p>
          <a:p>
            <a:r>
              <a:rPr lang="zh-CN" altLang="en-US" dirty="0"/>
              <a:t>第三节 社会总资本的再生产</a:t>
            </a:r>
          </a:p>
        </p:txBody>
      </p:sp>
      <p:sp>
        <p:nvSpPr>
          <p:cNvPr id="5" name="灯片编号占位符 4"/>
          <p:cNvSpPr>
            <a:spLocks noGrp="1"/>
          </p:cNvSpPr>
          <p:nvPr>
            <p:ph type="sldNum" sz="quarter" idx="12"/>
          </p:nvPr>
        </p:nvSpPr>
        <p:spPr/>
        <p:txBody>
          <a:bodyPr/>
          <a:lstStyle/>
          <a:p>
            <a:fld id="{10F2143F-0457-4E80-A290-5DB1806D65E5}" type="slidenum">
              <a:rPr lang="zh-CN" altLang="en-US" smtClean="0"/>
              <a:t>2</a:t>
            </a:fld>
            <a:endParaRPr lang="zh-CN" altLang="en-US"/>
          </a:p>
        </p:txBody>
      </p:sp>
    </p:spTree>
    <p:extLst>
      <p:ext uri="{BB962C8B-B14F-4D97-AF65-F5344CB8AC3E}">
        <p14:creationId xmlns:p14="http://schemas.microsoft.com/office/powerpoint/2010/main" val="102860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dirty="0"/>
              <a:t>资本的形态</a:t>
            </a:r>
          </a:p>
        </p:txBody>
      </p:sp>
      <p:sp>
        <p:nvSpPr>
          <p:cNvPr id="14339" name="内容占位符 2"/>
          <p:cNvSpPr>
            <a:spLocks noGrp="1"/>
          </p:cNvSpPr>
          <p:nvPr>
            <p:ph idx="1"/>
          </p:nvPr>
        </p:nvSpPr>
        <p:spPr/>
        <p:txBody>
          <a:bodyPr/>
          <a:lstStyle/>
          <a:p>
            <a:r>
              <a:rPr lang="zh-CN" altLang="en-US" dirty="0"/>
              <a:t>货币资本形态</a:t>
            </a:r>
            <a:endParaRPr lang="en-US" altLang="zh-CN" dirty="0"/>
          </a:p>
          <a:p>
            <a:r>
              <a:rPr lang="zh-CN" altLang="en-US" dirty="0"/>
              <a:t>实物资本形态（生产资本、商品资本）</a:t>
            </a:r>
            <a:endParaRPr lang="en-US" altLang="zh-CN" dirty="0"/>
          </a:p>
          <a:p>
            <a:r>
              <a:rPr lang="zh-CN" altLang="en-US" dirty="0"/>
              <a:t>无形资产形态（知识：专利、商标等）</a:t>
            </a:r>
            <a:endParaRPr lang="en-US" altLang="zh-CN" dirty="0"/>
          </a:p>
          <a:p>
            <a:r>
              <a:rPr lang="zh-CN" altLang="en-US" dirty="0"/>
              <a:t>虚拟资本形态（有价证券等）</a:t>
            </a:r>
            <a:endParaRPr lang="en-US" altLang="zh-CN" dirty="0"/>
          </a:p>
        </p:txBody>
      </p:sp>
    </p:spTree>
    <p:extLst>
      <p:ext uri="{BB962C8B-B14F-4D97-AF65-F5344CB8AC3E}">
        <p14:creationId xmlns:p14="http://schemas.microsoft.com/office/powerpoint/2010/main" val="4087756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r>
              <a:rPr lang="zh-CN" altLang="en-US" dirty="0"/>
              <a:t>第一节 资本的循环</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a:t>
            </a:fld>
            <a:endParaRPr lang="zh-CN" altLang="en-US"/>
          </a:p>
        </p:txBody>
      </p:sp>
    </p:spTree>
    <p:extLst>
      <p:ext uri="{BB962C8B-B14F-4D97-AF65-F5344CB8AC3E}">
        <p14:creationId xmlns:p14="http://schemas.microsoft.com/office/powerpoint/2010/main" val="1465371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dirty="0"/>
              <a:t>产业资本</a:t>
            </a:r>
          </a:p>
        </p:txBody>
      </p:sp>
      <p:sp>
        <p:nvSpPr>
          <p:cNvPr id="29699" name="内容占位符 2"/>
          <p:cNvSpPr>
            <a:spLocks noGrp="1"/>
          </p:cNvSpPr>
          <p:nvPr>
            <p:ph idx="1"/>
          </p:nvPr>
        </p:nvSpPr>
        <p:spPr/>
        <p:txBody>
          <a:bodyPr>
            <a:normAutofit/>
          </a:bodyPr>
          <a:lstStyle/>
          <a:p>
            <a:r>
              <a:rPr lang="zh-CN" altLang="en-US" dirty="0"/>
              <a:t>产业资本</a:t>
            </a:r>
            <a:endParaRPr lang="en-US" altLang="zh-CN" dirty="0"/>
          </a:p>
          <a:p>
            <a:pPr lvl="1"/>
            <a:r>
              <a:rPr lang="zh-CN" altLang="en-US" dirty="0"/>
              <a:t>指投在生产领域、能够生产出剩余价值的资本，如工业、农业、建筑业、交通运输业等领域的资本。</a:t>
            </a:r>
            <a:endParaRPr lang="en-US" altLang="zh-CN" dirty="0"/>
          </a:p>
          <a:p>
            <a:pPr lvl="1"/>
            <a:r>
              <a:rPr lang="zh-CN" altLang="en-US" dirty="0"/>
              <a:t>产业资本具有生产职能和流通职能，完整体现资本的运动过程</a:t>
            </a:r>
            <a:endParaRPr lang="en-US" altLang="zh-CN" dirty="0"/>
          </a:p>
          <a:p>
            <a:pPr lvl="1"/>
            <a:r>
              <a:rPr lang="zh-CN" altLang="en-US" dirty="0"/>
              <a:t>产业资本的三个阶段</a:t>
            </a:r>
            <a:endParaRPr lang="en-US" altLang="zh-CN" dirty="0"/>
          </a:p>
          <a:p>
            <a:pPr lvl="2"/>
            <a:r>
              <a:rPr lang="zh-CN" altLang="en-US" dirty="0"/>
              <a:t>购买阶段</a:t>
            </a:r>
            <a:r>
              <a:rPr lang="en-US" altLang="zh-CN" dirty="0"/>
              <a:t>—</a:t>
            </a:r>
            <a:r>
              <a:rPr lang="zh-CN" altLang="en-US" dirty="0"/>
              <a:t>生产阶段</a:t>
            </a:r>
            <a:r>
              <a:rPr lang="en-US" altLang="zh-CN" dirty="0"/>
              <a:t>—</a:t>
            </a:r>
            <a:r>
              <a:rPr lang="zh-CN" altLang="en-US" dirty="0"/>
              <a:t>销售阶段</a:t>
            </a:r>
            <a:endParaRPr lang="en-US" altLang="zh-CN" dirty="0"/>
          </a:p>
        </p:txBody>
      </p:sp>
    </p:spTree>
    <p:extLst>
      <p:ext uri="{BB962C8B-B14F-4D97-AF65-F5344CB8AC3E}">
        <p14:creationId xmlns:p14="http://schemas.microsoft.com/office/powerpoint/2010/main" val="2788919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p:txBody>
          <a:bodyPr/>
          <a:lstStyle/>
          <a:p>
            <a:r>
              <a:rPr lang="zh-CN" altLang="en-US" dirty="0"/>
              <a:t>产业资本的循环</a:t>
            </a:r>
          </a:p>
        </p:txBody>
      </p:sp>
      <p:sp>
        <p:nvSpPr>
          <p:cNvPr id="30723" name="Rectangle 3"/>
          <p:cNvSpPr>
            <a:spLocks noGrp="1" noChangeArrowheads="1"/>
          </p:cNvSpPr>
          <p:nvPr>
            <p:ph type="body" idx="1"/>
          </p:nvPr>
        </p:nvSpPr>
        <p:spPr>
          <a:xfrm>
            <a:off x="457200" y="1412875"/>
            <a:ext cx="8229600" cy="4713288"/>
          </a:xfrm>
        </p:spPr>
        <p:txBody>
          <a:bodyPr/>
          <a:lstStyle/>
          <a:p>
            <a:pPr>
              <a:buFont typeface="Wingdings" panose="05000000000000000000" pitchFamily="2" charset="2"/>
              <a:buNone/>
            </a:pPr>
            <a:endParaRPr lang="zh-CN" altLang="en-US" sz="2400" dirty="0"/>
          </a:p>
        </p:txBody>
      </p:sp>
      <p:sp>
        <p:nvSpPr>
          <p:cNvPr id="30724" name="Rectangle 4"/>
          <p:cNvSpPr>
            <a:spLocks noChangeArrowheads="1"/>
          </p:cNvSpPr>
          <p:nvPr/>
        </p:nvSpPr>
        <p:spPr bwMode="auto">
          <a:xfrm>
            <a:off x="1403350" y="3213100"/>
            <a:ext cx="863600" cy="6477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G</a:t>
            </a:r>
          </a:p>
        </p:txBody>
      </p:sp>
      <p:sp>
        <p:nvSpPr>
          <p:cNvPr id="30725" name="Rectangle 5"/>
          <p:cNvSpPr>
            <a:spLocks noChangeArrowheads="1"/>
          </p:cNvSpPr>
          <p:nvPr/>
        </p:nvSpPr>
        <p:spPr bwMode="auto">
          <a:xfrm>
            <a:off x="2771775" y="3213100"/>
            <a:ext cx="792163" cy="64611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W</a:t>
            </a:r>
          </a:p>
        </p:txBody>
      </p:sp>
      <p:sp>
        <p:nvSpPr>
          <p:cNvPr id="30726" name="Rectangle 6"/>
          <p:cNvSpPr>
            <a:spLocks noChangeArrowheads="1"/>
          </p:cNvSpPr>
          <p:nvPr/>
        </p:nvSpPr>
        <p:spPr bwMode="auto">
          <a:xfrm>
            <a:off x="4140200" y="2420938"/>
            <a:ext cx="792163" cy="6477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A</a:t>
            </a:r>
          </a:p>
        </p:txBody>
      </p:sp>
      <p:sp>
        <p:nvSpPr>
          <p:cNvPr id="30727" name="Rectangle 7"/>
          <p:cNvSpPr>
            <a:spLocks noChangeArrowheads="1"/>
          </p:cNvSpPr>
          <p:nvPr/>
        </p:nvSpPr>
        <p:spPr bwMode="auto">
          <a:xfrm>
            <a:off x="4140200" y="4005263"/>
            <a:ext cx="792163" cy="6477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P</a:t>
            </a:r>
            <a:r>
              <a:rPr lang="en-US" altLang="zh-CN" sz="1800" baseline="-25000">
                <a:latin typeface="Times New Roman" panose="02020603050405020304" pitchFamily="18" charset="0"/>
              </a:rPr>
              <a:t>m</a:t>
            </a:r>
          </a:p>
        </p:txBody>
      </p:sp>
      <p:sp>
        <p:nvSpPr>
          <p:cNvPr id="30728" name="Rectangle 8"/>
          <p:cNvSpPr>
            <a:spLocks noChangeArrowheads="1"/>
          </p:cNvSpPr>
          <p:nvPr/>
        </p:nvSpPr>
        <p:spPr bwMode="auto">
          <a:xfrm>
            <a:off x="5219700" y="3284538"/>
            <a:ext cx="1296988" cy="64928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t>…</a:t>
            </a:r>
            <a:r>
              <a:rPr lang="en-US" altLang="zh-CN" sz="1800">
                <a:latin typeface="Times New Roman" panose="02020603050405020304" pitchFamily="18" charset="0"/>
              </a:rPr>
              <a:t>P</a:t>
            </a:r>
            <a:r>
              <a:rPr lang="en-US" altLang="zh-CN" sz="1800"/>
              <a:t>…</a:t>
            </a:r>
            <a:r>
              <a:rPr lang="en-US" altLang="zh-CN" sz="1800">
                <a:latin typeface="Times New Roman" panose="02020603050405020304" pitchFamily="18" charset="0"/>
              </a:rPr>
              <a:t>W</a:t>
            </a:r>
            <a:r>
              <a:rPr lang="en-US" altLang="zh-CN" sz="1800"/>
              <a:t>’</a:t>
            </a:r>
            <a:endParaRPr lang="en-US" altLang="zh-CN" sz="1800">
              <a:latin typeface="Times New Roman" panose="02020603050405020304" pitchFamily="18" charset="0"/>
            </a:endParaRPr>
          </a:p>
        </p:txBody>
      </p:sp>
      <p:sp>
        <p:nvSpPr>
          <p:cNvPr id="30729" name="Rectangle 9"/>
          <p:cNvSpPr>
            <a:spLocks noChangeArrowheads="1"/>
          </p:cNvSpPr>
          <p:nvPr/>
        </p:nvSpPr>
        <p:spPr bwMode="auto">
          <a:xfrm>
            <a:off x="7164388" y="3284538"/>
            <a:ext cx="936625" cy="64928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latin typeface="Times New Roman" panose="02020603050405020304" pitchFamily="18" charset="0"/>
              </a:rPr>
              <a:t>G</a:t>
            </a:r>
            <a:r>
              <a:rPr lang="en-US" altLang="zh-CN" sz="1800"/>
              <a:t>’</a:t>
            </a:r>
            <a:endParaRPr lang="en-US" altLang="zh-CN" sz="1800">
              <a:latin typeface="Times New Roman" panose="02020603050405020304" pitchFamily="18" charset="0"/>
            </a:endParaRPr>
          </a:p>
        </p:txBody>
      </p:sp>
      <p:sp>
        <p:nvSpPr>
          <p:cNvPr id="30730" name="Line 10"/>
          <p:cNvSpPr>
            <a:spLocks noChangeShapeType="1"/>
          </p:cNvSpPr>
          <p:nvPr/>
        </p:nvSpPr>
        <p:spPr bwMode="auto">
          <a:xfrm>
            <a:off x="2268538" y="3573463"/>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1" name="Line 11"/>
          <p:cNvSpPr>
            <a:spLocks noChangeShapeType="1"/>
          </p:cNvSpPr>
          <p:nvPr/>
        </p:nvSpPr>
        <p:spPr bwMode="auto">
          <a:xfrm flipV="1">
            <a:off x="3563938" y="2708275"/>
            <a:ext cx="576262" cy="792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2" name="Line 12"/>
          <p:cNvSpPr>
            <a:spLocks noChangeShapeType="1"/>
          </p:cNvSpPr>
          <p:nvPr/>
        </p:nvSpPr>
        <p:spPr bwMode="auto">
          <a:xfrm>
            <a:off x="3563938" y="3573463"/>
            <a:ext cx="576262" cy="7191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3" name="Line 13"/>
          <p:cNvSpPr>
            <a:spLocks noChangeShapeType="1"/>
          </p:cNvSpPr>
          <p:nvPr/>
        </p:nvSpPr>
        <p:spPr bwMode="auto">
          <a:xfrm>
            <a:off x="6516688" y="3573463"/>
            <a:ext cx="647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4" name="Line 14"/>
          <p:cNvSpPr>
            <a:spLocks noChangeShapeType="1"/>
          </p:cNvSpPr>
          <p:nvPr/>
        </p:nvSpPr>
        <p:spPr bwMode="auto">
          <a:xfrm>
            <a:off x="1619250" y="5084763"/>
            <a:ext cx="0"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5" name="Line 15"/>
          <p:cNvSpPr>
            <a:spLocks noChangeShapeType="1"/>
          </p:cNvSpPr>
          <p:nvPr/>
        </p:nvSpPr>
        <p:spPr bwMode="auto">
          <a:xfrm>
            <a:off x="1619250" y="5373688"/>
            <a:ext cx="27368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6" name="Line 16"/>
          <p:cNvSpPr>
            <a:spLocks noChangeShapeType="1"/>
          </p:cNvSpPr>
          <p:nvPr/>
        </p:nvSpPr>
        <p:spPr bwMode="auto">
          <a:xfrm flipV="1">
            <a:off x="4356100" y="5084763"/>
            <a:ext cx="0"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7" name="Line 17"/>
          <p:cNvSpPr>
            <a:spLocks noChangeShapeType="1"/>
          </p:cNvSpPr>
          <p:nvPr/>
        </p:nvSpPr>
        <p:spPr bwMode="auto">
          <a:xfrm>
            <a:off x="3059113" y="5084763"/>
            <a:ext cx="0"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8" name="Line 18"/>
          <p:cNvSpPr>
            <a:spLocks noChangeShapeType="1"/>
          </p:cNvSpPr>
          <p:nvPr/>
        </p:nvSpPr>
        <p:spPr bwMode="auto">
          <a:xfrm>
            <a:off x="3059113" y="5805488"/>
            <a:ext cx="3168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39" name="Line 19"/>
          <p:cNvSpPr>
            <a:spLocks noChangeShapeType="1"/>
          </p:cNvSpPr>
          <p:nvPr/>
        </p:nvSpPr>
        <p:spPr bwMode="auto">
          <a:xfrm>
            <a:off x="6227763" y="5084763"/>
            <a:ext cx="0"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0" name="Line 20"/>
          <p:cNvSpPr>
            <a:spLocks noChangeShapeType="1"/>
          </p:cNvSpPr>
          <p:nvPr/>
        </p:nvSpPr>
        <p:spPr bwMode="auto">
          <a:xfrm>
            <a:off x="6227763" y="5516563"/>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1" name="Line 21"/>
          <p:cNvSpPr>
            <a:spLocks noChangeShapeType="1"/>
          </p:cNvSpPr>
          <p:nvPr/>
        </p:nvSpPr>
        <p:spPr bwMode="auto">
          <a:xfrm>
            <a:off x="7596188" y="5084763"/>
            <a:ext cx="0"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42" name="AutoShape 22"/>
          <p:cNvSpPr>
            <a:spLocks/>
          </p:cNvSpPr>
          <p:nvPr/>
        </p:nvSpPr>
        <p:spPr bwMode="auto">
          <a:xfrm>
            <a:off x="468313" y="4221163"/>
            <a:ext cx="863600" cy="647700"/>
          </a:xfrm>
          <a:prstGeom prst="accentBorderCallout2">
            <a:avLst>
              <a:gd name="adj1" fmla="val 17648"/>
              <a:gd name="adj2" fmla="val 108824"/>
              <a:gd name="adj3" fmla="val 17648"/>
              <a:gd name="adj4" fmla="val 190625"/>
              <a:gd name="adj5" fmla="val 173282"/>
              <a:gd name="adj6" fmla="val 275551"/>
            </a:avLst>
          </a:prstGeom>
          <a:solidFill>
            <a:srgbClr val="92D050"/>
          </a:solidFill>
          <a:ln w="9525">
            <a:solidFill>
              <a:schemeClr val="tx1"/>
            </a:solidFill>
            <a:miter lim="800000"/>
            <a:headEnd/>
            <a:tailEnd/>
          </a:ln>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Times New Roman" panose="02020603050405020304" pitchFamily="18" charset="0"/>
              </a:rPr>
              <a:t>购买</a:t>
            </a:r>
          </a:p>
          <a:p>
            <a:pPr algn="ctr" eaLnBrk="1" hangingPunct="1">
              <a:spcBef>
                <a:spcPct val="0"/>
              </a:spcBef>
              <a:buClrTx/>
              <a:buSzTx/>
              <a:buFontTx/>
              <a:buNone/>
            </a:pPr>
            <a:r>
              <a:rPr lang="zh-CN" altLang="en-US" sz="1800" dirty="0">
                <a:latin typeface="Times New Roman" panose="02020603050405020304" pitchFamily="18" charset="0"/>
              </a:rPr>
              <a:t>阶段</a:t>
            </a:r>
          </a:p>
        </p:txBody>
      </p:sp>
      <p:sp>
        <p:nvSpPr>
          <p:cNvPr id="30743" name="AutoShape 23"/>
          <p:cNvSpPr>
            <a:spLocks/>
          </p:cNvSpPr>
          <p:nvPr/>
        </p:nvSpPr>
        <p:spPr bwMode="auto">
          <a:xfrm>
            <a:off x="7235825" y="1989138"/>
            <a:ext cx="860425" cy="690562"/>
          </a:xfrm>
          <a:prstGeom prst="accentBorderCallout2">
            <a:avLst>
              <a:gd name="adj1" fmla="val 16551"/>
              <a:gd name="adj2" fmla="val -8856"/>
              <a:gd name="adj3" fmla="val 16551"/>
              <a:gd name="adj4" fmla="val -147972"/>
              <a:gd name="adj5" fmla="val 545745"/>
              <a:gd name="adj6" fmla="val -292065"/>
            </a:avLst>
          </a:prstGeom>
          <a:solidFill>
            <a:srgbClr val="92D050"/>
          </a:solidFill>
          <a:ln w="9525">
            <a:solidFill>
              <a:schemeClr val="tx1"/>
            </a:solidFill>
            <a:miter lim="800000"/>
            <a:headEnd/>
            <a:tailEnd/>
          </a:ln>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Times New Roman" panose="02020603050405020304" pitchFamily="18" charset="0"/>
              </a:rPr>
              <a:t>生产</a:t>
            </a:r>
          </a:p>
          <a:p>
            <a:pPr algn="ctr" eaLnBrk="1" hangingPunct="1">
              <a:spcBef>
                <a:spcPct val="0"/>
              </a:spcBef>
              <a:buClrTx/>
              <a:buSzTx/>
              <a:buFontTx/>
              <a:buNone/>
            </a:pPr>
            <a:r>
              <a:rPr lang="zh-CN" altLang="en-US" sz="1800" dirty="0">
                <a:latin typeface="Times New Roman" panose="02020603050405020304" pitchFamily="18" charset="0"/>
              </a:rPr>
              <a:t>阶段</a:t>
            </a:r>
          </a:p>
        </p:txBody>
      </p:sp>
      <p:sp>
        <p:nvSpPr>
          <p:cNvPr id="30744" name="AutoShape 24"/>
          <p:cNvSpPr>
            <a:spLocks/>
          </p:cNvSpPr>
          <p:nvPr/>
        </p:nvSpPr>
        <p:spPr bwMode="auto">
          <a:xfrm>
            <a:off x="7888288" y="4292600"/>
            <a:ext cx="914400" cy="711200"/>
          </a:xfrm>
          <a:prstGeom prst="accentBorderCallout2">
            <a:avLst>
              <a:gd name="adj1" fmla="val 16069"/>
              <a:gd name="adj2" fmla="val -8333"/>
              <a:gd name="adj3" fmla="val 16069"/>
              <a:gd name="adj4" fmla="val -56250"/>
              <a:gd name="adj5" fmla="val 172319"/>
              <a:gd name="adj6" fmla="val -105903"/>
            </a:avLst>
          </a:prstGeom>
          <a:solidFill>
            <a:srgbClr val="92D050"/>
          </a:solidFill>
          <a:ln w="9525">
            <a:solidFill>
              <a:schemeClr val="tx1"/>
            </a:solidFill>
            <a:miter lim="800000"/>
            <a:headEnd/>
            <a:tailEnd/>
          </a:ln>
        </p:spPr>
        <p:txBody>
          <a:bodyP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Times New Roman" panose="02020603050405020304" pitchFamily="18" charset="0"/>
              </a:rPr>
              <a:t>售卖</a:t>
            </a:r>
          </a:p>
          <a:p>
            <a:pPr algn="ctr" eaLnBrk="1" hangingPunct="1">
              <a:spcBef>
                <a:spcPct val="0"/>
              </a:spcBef>
              <a:buClrTx/>
              <a:buSzTx/>
              <a:buFontTx/>
              <a:buNone/>
            </a:pPr>
            <a:r>
              <a:rPr lang="zh-CN" altLang="en-US" sz="1800" dirty="0">
                <a:latin typeface="Times New Roman" panose="02020603050405020304" pitchFamily="18" charset="0"/>
              </a:rPr>
              <a:t>阶段</a:t>
            </a:r>
          </a:p>
        </p:txBody>
      </p:sp>
    </p:spTree>
    <p:extLst>
      <p:ext uri="{BB962C8B-B14F-4D97-AF65-F5344CB8AC3E}">
        <p14:creationId xmlns:p14="http://schemas.microsoft.com/office/powerpoint/2010/main" val="423224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rrowheads="1"/>
          </p:cNvSpPr>
          <p:nvPr>
            <p:ph type="title"/>
          </p:nvPr>
        </p:nvSpPr>
        <p:spPr/>
        <p:txBody>
          <a:bodyPr/>
          <a:lstStyle/>
          <a:p>
            <a:r>
              <a:rPr lang="zh-CN" altLang="en-US" dirty="0"/>
              <a:t>资本的循环</a:t>
            </a:r>
          </a:p>
        </p:txBody>
      </p:sp>
      <p:sp>
        <p:nvSpPr>
          <p:cNvPr id="32771" name="Rectangle 3"/>
          <p:cNvSpPr>
            <a:spLocks noGrp="1" noChangeArrowheads="1"/>
          </p:cNvSpPr>
          <p:nvPr>
            <p:ph type="body" idx="1"/>
          </p:nvPr>
        </p:nvSpPr>
        <p:spPr/>
        <p:txBody>
          <a:bodyPr/>
          <a:lstStyle/>
          <a:p>
            <a:pPr>
              <a:lnSpc>
                <a:spcPct val="140000"/>
              </a:lnSpc>
              <a:buFont typeface="Wingdings" panose="05000000000000000000" pitchFamily="2" charset="2"/>
              <a:buNone/>
            </a:pPr>
            <a:r>
              <a:rPr lang="en-US" altLang="zh-CN"/>
              <a:t>    </a:t>
            </a:r>
            <a:r>
              <a:rPr lang="zh-CN" altLang="en-US" sz="2400"/>
              <a:t>资本运动的三个阶段及其形态变化：</a:t>
            </a:r>
          </a:p>
          <a:p>
            <a:pPr>
              <a:lnSpc>
                <a:spcPct val="140000"/>
              </a:lnSpc>
              <a:buFont typeface="Wingdings" panose="05000000000000000000" pitchFamily="2" charset="2"/>
              <a:buNone/>
            </a:pPr>
            <a:r>
              <a:rPr lang="zh-CN" altLang="en-US" sz="2400"/>
              <a:t>                  购买阶段：货币资本转化为生产资本</a:t>
            </a:r>
          </a:p>
          <a:p>
            <a:pPr>
              <a:lnSpc>
                <a:spcPct val="140000"/>
              </a:lnSpc>
              <a:buFont typeface="Wingdings" panose="05000000000000000000" pitchFamily="2" charset="2"/>
              <a:buNone/>
            </a:pPr>
            <a:r>
              <a:rPr lang="zh-CN" altLang="en-US" sz="2400"/>
              <a:t>                  生产阶段：生产资本转化为商品资本</a:t>
            </a:r>
          </a:p>
          <a:p>
            <a:pPr>
              <a:lnSpc>
                <a:spcPct val="140000"/>
              </a:lnSpc>
              <a:buFont typeface="Wingdings" panose="05000000000000000000" pitchFamily="2" charset="2"/>
              <a:buNone/>
            </a:pPr>
            <a:r>
              <a:rPr lang="zh-CN" altLang="en-US" sz="2400"/>
              <a:t>                  售卖阶段：商品资本转化为货币资本</a:t>
            </a:r>
          </a:p>
          <a:p>
            <a:pPr>
              <a:lnSpc>
                <a:spcPct val="140000"/>
              </a:lnSpc>
              <a:buFont typeface="Wingdings" panose="05000000000000000000" pitchFamily="2" charset="2"/>
              <a:buNone/>
            </a:pPr>
            <a:r>
              <a:rPr lang="zh-CN" altLang="en-US" sz="2400"/>
              <a:t>    显然：</a:t>
            </a:r>
          </a:p>
          <a:p>
            <a:pPr>
              <a:lnSpc>
                <a:spcPct val="140000"/>
              </a:lnSpc>
              <a:buFont typeface="Wingdings" panose="05000000000000000000" pitchFamily="2" charset="2"/>
              <a:buNone/>
            </a:pPr>
            <a:r>
              <a:rPr lang="zh-CN" altLang="en-US" sz="2400"/>
              <a:t>                资本运动涉及三个阶段和三种形式：</a:t>
            </a:r>
          </a:p>
          <a:p>
            <a:pPr>
              <a:lnSpc>
                <a:spcPct val="140000"/>
              </a:lnSpc>
              <a:buFont typeface="Wingdings" panose="05000000000000000000" pitchFamily="2" charset="2"/>
              <a:buNone/>
            </a:pPr>
            <a:r>
              <a:rPr lang="zh-CN" altLang="en-US" sz="2400"/>
              <a:t>                三个阶段：购买阶段、生产阶段和售卖阶段</a:t>
            </a:r>
          </a:p>
          <a:p>
            <a:pPr>
              <a:lnSpc>
                <a:spcPct val="140000"/>
              </a:lnSpc>
              <a:buFont typeface="Wingdings" panose="05000000000000000000" pitchFamily="2" charset="2"/>
              <a:buNone/>
            </a:pPr>
            <a:r>
              <a:rPr lang="zh-CN" altLang="en-US" sz="2400"/>
              <a:t>                三种形式：货币资本、生产资本和商品资本</a:t>
            </a:r>
          </a:p>
        </p:txBody>
      </p:sp>
    </p:spTree>
    <p:extLst>
      <p:ext uri="{BB962C8B-B14F-4D97-AF65-F5344CB8AC3E}">
        <p14:creationId xmlns:p14="http://schemas.microsoft.com/office/powerpoint/2010/main" val="2394736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产业资本正常循环的条件</a:t>
            </a:r>
          </a:p>
        </p:txBody>
      </p:sp>
      <p:sp>
        <p:nvSpPr>
          <p:cNvPr id="3" name="内容占位符 2"/>
          <p:cNvSpPr>
            <a:spLocks noGrp="1"/>
          </p:cNvSpPr>
          <p:nvPr>
            <p:ph idx="1"/>
          </p:nvPr>
        </p:nvSpPr>
        <p:spPr/>
        <p:txBody>
          <a:bodyPr/>
          <a:lstStyle/>
          <a:p>
            <a:r>
              <a:rPr lang="zh-CN" altLang="en-US" dirty="0"/>
              <a:t>第一，必须保持产业资本的三种形态在空间上同时并存</a:t>
            </a:r>
            <a:endParaRPr lang="en-US" altLang="zh-CN" dirty="0"/>
          </a:p>
          <a:p>
            <a:r>
              <a:rPr lang="zh-CN" altLang="en-US" dirty="0"/>
              <a:t>第二，必须保持产业资本的三种形态在时间上相继转化</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8</a:t>
            </a:fld>
            <a:endParaRPr lang="zh-CN" altLang="en-US"/>
          </a:p>
        </p:txBody>
      </p:sp>
    </p:spTree>
    <p:extLst>
      <p:ext uri="{BB962C8B-B14F-4D97-AF65-F5344CB8AC3E}">
        <p14:creationId xmlns:p14="http://schemas.microsoft.com/office/powerpoint/2010/main" val="1203213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6451419" cy="778931"/>
          </a:xfrm>
        </p:spPr>
        <p:txBody>
          <a:bodyPr>
            <a:normAutofit fontScale="90000"/>
          </a:bodyPr>
          <a:lstStyle/>
          <a:p>
            <a:r>
              <a:rPr lang="zh-CN" altLang="en-US" dirty="0"/>
              <a:t>资本循环时间：生产时间和流通时间之和</a:t>
            </a:r>
          </a:p>
        </p:txBody>
      </p:sp>
      <p:sp>
        <p:nvSpPr>
          <p:cNvPr id="3" name="内容占位符 2"/>
          <p:cNvSpPr>
            <a:spLocks noGrp="1"/>
          </p:cNvSpPr>
          <p:nvPr>
            <p:ph idx="1"/>
          </p:nvPr>
        </p:nvSpPr>
        <p:spPr/>
        <p:txBody>
          <a:bodyPr/>
          <a:lstStyle/>
          <a:p>
            <a:r>
              <a:rPr lang="zh-CN" altLang="en-US" dirty="0"/>
              <a:t>生产时间：资本停留在生产过程中的时间</a:t>
            </a:r>
            <a:endParaRPr lang="en-US" altLang="zh-CN" dirty="0"/>
          </a:p>
          <a:p>
            <a:pPr lvl="1"/>
            <a:r>
              <a:rPr lang="zh-CN" altLang="en-US" dirty="0"/>
              <a:t>生产资料储备时间</a:t>
            </a:r>
            <a:endParaRPr lang="en-US" altLang="zh-CN" dirty="0"/>
          </a:p>
          <a:p>
            <a:pPr lvl="1"/>
            <a:r>
              <a:rPr lang="zh-CN" altLang="en-US" dirty="0"/>
              <a:t>劳动时间</a:t>
            </a:r>
            <a:endParaRPr lang="en-US" altLang="zh-CN" dirty="0"/>
          </a:p>
          <a:p>
            <a:pPr lvl="1"/>
            <a:r>
              <a:rPr lang="zh-CN" altLang="en-US" dirty="0"/>
              <a:t>劳动的中断时间</a:t>
            </a:r>
            <a:endParaRPr lang="en-US" altLang="zh-CN" dirty="0"/>
          </a:p>
          <a:p>
            <a:pPr lvl="1"/>
            <a:r>
              <a:rPr lang="zh-CN" altLang="en-US" dirty="0"/>
              <a:t>自然力作用时间</a:t>
            </a:r>
            <a:endParaRPr lang="en-US" altLang="zh-CN" dirty="0"/>
          </a:p>
          <a:p>
            <a:r>
              <a:rPr lang="zh-CN" altLang="en-US" dirty="0"/>
              <a:t>流通时间：资本停留在流通过程中的时间</a:t>
            </a:r>
            <a:endParaRPr lang="en-US" altLang="zh-CN" dirty="0"/>
          </a:p>
          <a:p>
            <a:pPr lvl="1"/>
            <a:r>
              <a:rPr lang="zh-CN" altLang="en-US" dirty="0"/>
              <a:t>生产要素购买时间</a:t>
            </a:r>
            <a:endParaRPr lang="en-US" altLang="zh-CN" dirty="0"/>
          </a:p>
          <a:p>
            <a:pPr lvl="1"/>
            <a:r>
              <a:rPr lang="zh-CN" altLang="en-US" dirty="0"/>
              <a:t>商品销售时间</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9</a:t>
            </a:fld>
            <a:endParaRPr lang="zh-CN" altLang="en-US"/>
          </a:p>
        </p:txBody>
      </p:sp>
    </p:spTree>
    <p:extLst>
      <p:ext uri="{BB962C8B-B14F-4D97-AF65-F5344CB8AC3E}">
        <p14:creationId xmlns:p14="http://schemas.microsoft.com/office/powerpoint/2010/main" val="2679874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r>
              <a:rPr lang="zh-CN" altLang="en-US" dirty="0"/>
              <a:t>第二节 资本的周转</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10</a:t>
            </a:fld>
            <a:endParaRPr lang="zh-CN" altLang="en-US"/>
          </a:p>
        </p:txBody>
      </p:sp>
    </p:spTree>
    <p:extLst>
      <p:ext uri="{BB962C8B-B14F-4D97-AF65-F5344CB8AC3E}">
        <p14:creationId xmlns:p14="http://schemas.microsoft.com/office/powerpoint/2010/main" val="2168017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dirty="0"/>
              <a:t>资本周转和资本周转速度</a:t>
            </a:r>
          </a:p>
        </p:txBody>
      </p:sp>
      <p:sp>
        <p:nvSpPr>
          <p:cNvPr id="34819" name="内容占位符 2"/>
          <p:cNvSpPr>
            <a:spLocks noGrp="1"/>
          </p:cNvSpPr>
          <p:nvPr>
            <p:ph idx="1"/>
          </p:nvPr>
        </p:nvSpPr>
        <p:spPr/>
        <p:txBody>
          <a:bodyPr/>
          <a:lstStyle/>
          <a:p>
            <a:r>
              <a:rPr lang="zh-CN" altLang="en-US" dirty="0"/>
              <a:t>资本周转</a:t>
            </a:r>
            <a:endParaRPr lang="en-US" altLang="zh-CN" dirty="0"/>
          </a:p>
          <a:p>
            <a:pPr lvl="1"/>
            <a:r>
              <a:rPr lang="zh-CN" altLang="en-US" dirty="0"/>
              <a:t>资本的连续不断的周而复始的循环运动就是资本周转</a:t>
            </a:r>
            <a:endParaRPr lang="en-US" altLang="zh-CN" dirty="0"/>
          </a:p>
          <a:p>
            <a:pPr lvl="1"/>
            <a:r>
              <a:rPr lang="zh-CN" altLang="en-US" dirty="0"/>
              <a:t>资本的循环，不是当作孤立的行为，而是当作周期性的过程来看待时，就叫做资本周转。可见，资本不断的反复的循环就叫 做资本周转。</a:t>
            </a:r>
          </a:p>
          <a:p>
            <a:r>
              <a:rPr lang="zh-CN" altLang="en-US" dirty="0"/>
              <a:t>资本周转速度</a:t>
            </a:r>
            <a:endParaRPr lang="en-US" altLang="zh-CN" dirty="0"/>
          </a:p>
          <a:p>
            <a:pPr lvl="1"/>
            <a:r>
              <a:rPr lang="zh-CN" altLang="en-US" dirty="0"/>
              <a:t>指资本周转的快慢，用周转时间或周转次数这两个尺度来衡量</a:t>
            </a:r>
            <a:endParaRPr lang="en-US" altLang="zh-CN" dirty="0"/>
          </a:p>
          <a:p>
            <a:pPr lvl="2"/>
            <a:r>
              <a:rPr lang="zh-CN" altLang="en-US" dirty="0"/>
              <a:t>资本周转时间：资本总价值周转一次的时间</a:t>
            </a:r>
            <a:endParaRPr lang="en-US" altLang="zh-CN" dirty="0"/>
          </a:p>
          <a:p>
            <a:pPr lvl="2"/>
            <a:r>
              <a:rPr lang="zh-CN" altLang="en-US" dirty="0"/>
              <a:t>资本周转速度：资本总价值在一年中周转的次数</a:t>
            </a:r>
            <a:endParaRPr lang="en-US" altLang="zh-CN" dirty="0"/>
          </a:p>
          <a:p>
            <a:pPr lvl="1"/>
            <a:endParaRPr lang="en-US" altLang="zh-CN" dirty="0"/>
          </a:p>
          <a:p>
            <a:pPr lvl="2"/>
            <a:endParaRPr lang="en-US" altLang="zh-CN" dirty="0"/>
          </a:p>
        </p:txBody>
      </p:sp>
    </p:spTree>
    <p:extLst>
      <p:ext uri="{BB962C8B-B14F-4D97-AF65-F5344CB8AC3E}">
        <p14:creationId xmlns:p14="http://schemas.microsoft.com/office/powerpoint/2010/main" val="1651193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资本周转次数</a:t>
            </a:r>
          </a:p>
        </p:txBody>
      </p:sp>
      <p:sp>
        <p:nvSpPr>
          <p:cNvPr id="3" name="内容占位符 2"/>
          <p:cNvSpPr>
            <a:spLocks noGrp="1"/>
          </p:cNvSpPr>
          <p:nvPr>
            <p:ph idx="1"/>
          </p:nvPr>
        </p:nvSpPr>
        <p:spPr/>
        <p:txBody>
          <a:bodyPr/>
          <a:lstStyle/>
          <a:p>
            <a:r>
              <a:rPr lang="zh-CN" altLang="en-US" dirty="0"/>
              <a:t>周转次数通常等于</a:t>
            </a:r>
            <a:r>
              <a:rPr lang="en-US" altLang="zh-CN" dirty="0"/>
              <a:t>1</a:t>
            </a:r>
            <a:r>
              <a:rPr lang="zh-CN" altLang="en-US" dirty="0"/>
              <a:t>年的时间除以一定资本周转一次的时间。假定用</a:t>
            </a:r>
            <a:r>
              <a:rPr lang="en-US" altLang="zh-CN" dirty="0"/>
              <a:t>U</a:t>
            </a:r>
            <a:r>
              <a:rPr lang="zh-CN" altLang="en-US" dirty="0"/>
              <a:t>来表示周转时间</a:t>
            </a:r>
            <a:r>
              <a:rPr lang="en-US" altLang="zh-CN" dirty="0"/>
              <a:t>——</a:t>
            </a:r>
            <a:r>
              <a:rPr lang="zh-CN" altLang="en-US" dirty="0"/>
              <a:t>年，用</a:t>
            </a:r>
            <a:r>
              <a:rPr lang="en-US" altLang="zh-CN" dirty="0"/>
              <a:t>u</a:t>
            </a:r>
            <a:r>
              <a:rPr lang="zh-CN" altLang="en-US" dirty="0"/>
              <a:t>表示一定资本周转一次的时间，用</a:t>
            </a:r>
            <a:r>
              <a:rPr lang="en-US" altLang="zh-CN" dirty="0"/>
              <a:t>n</a:t>
            </a:r>
            <a:r>
              <a:rPr lang="zh-CN" altLang="en-US" dirty="0"/>
              <a:t>表示资本周转的次数，则资本周转次数的公式就是：</a:t>
            </a:r>
          </a:p>
          <a:p>
            <a:endParaRPr lang="en-US" altLang="zh-CN" dirty="0"/>
          </a:p>
          <a:p>
            <a:endParaRPr lang="en-US" altLang="zh-CN" dirty="0"/>
          </a:p>
          <a:p>
            <a:endParaRPr lang="en-US" altLang="zh-CN" dirty="0"/>
          </a:p>
          <a:p>
            <a:r>
              <a:rPr lang="zh-CN" altLang="en-US" dirty="0"/>
              <a:t>资本周转次数与周转速度成正比</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12</a:t>
            </a:fld>
            <a:endParaRPr lang="zh-CN" altLang="en-US"/>
          </a:p>
        </p:txBody>
      </p:sp>
      <p:sp>
        <p:nvSpPr>
          <p:cNvPr id="5" name="Rectangle 4"/>
          <p:cNvSpPr>
            <a:spLocks noChangeArrowheads="1"/>
          </p:cNvSpPr>
          <p:nvPr/>
        </p:nvSpPr>
        <p:spPr bwMode="auto">
          <a:xfrm>
            <a:off x="2700338" y="4149725"/>
            <a:ext cx="3311525" cy="57467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n=U/u</a:t>
            </a:r>
          </a:p>
        </p:txBody>
      </p:sp>
    </p:spTree>
    <p:extLst>
      <p:ext uri="{BB962C8B-B14F-4D97-AF65-F5344CB8AC3E}">
        <p14:creationId xmlns:p14="http://schemas.microsoft.com/office/powerpoint/2010/main" val="1096049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628650" y="804332"/>
            <a:ext cx="6223087" cy="778931"/>
          </a:xfrm>
        </p:spPr>
        <p:txBody>
          <a:bodyPr>
            <a:normAutofit/>
          </a:bodyPr>
          <a:lstStyle/>
          <a:p>
            <a:r>
              <a:rPr lang="zh-CN" altLang="en-US" dirty="0"/>
              <a:t>生产资本构成</a:t>
            </a:r>
          </a:p>
        </p:txBody>
      </p:sp>
      <p:sp>
        <p:nvSpPr>
          <p:cNvPr id="39939" name="内容占位符 2"/>
          <p:cNvSpPr>
            <a:spLocks noGrp="1"/>
          </p:cNvSpPr>
          <p:nvPr>
            <p:ph idx="1"/>
          </p:nvPr>
        </p:nvSpPr>
        <p:spPr/>
        <p:txBody>
          <a:bodyPr/>
          <a:lstStyle/>
          <a:p>
            <a:r>
              <a:rPr lang="zh-CN" altLang="en-US" dirty="0"/>
              <a:t>固定资本：以厂房、机器设备、生产工具等劳动资料形式存在的那部分生产成本（与位置是否能移动无关）</a:t>
            </a:r>
            <a:endParaRPr lang="en-US" altLang="zh-CN" dirty="0"/>
          </a:p>
          <a:p>
            <a:pPr lvl="1"/>
            <a:r>
              <a:rPr lang="zh-CN" altLang="en-US" dirty="0"/>
              <a:t>在物质形式上全部参与生产过程，在生产过程中一部分一部分地被转移到产品中去</a:t>
            </a:r>
            <a:endParaRPr lang="en-US" altLang="zh-CN" dirty="0"/>
          </a:p>
          <a:p>
            <a:r>
              <a:rPr lang="zh-CN" altLang="en-US" dirty="0"/>
              <a:t>流动资本：以原材料、燃料及动力、辅助材料等劳动对象形式存在的以及用于购买劳动力的那部分成本</a:t>
            </a:r>
            <a:endParaRPr lang="en-US" altLang="zh-CN" dirty="0"/>
          </a:p>
          <a:p>
            <a:pPr lvl="1"/>
            <a:r>
              <a:rPr lang="zh-CN" altLang="en-US" dirty="0"/>
              <a:t>价值一次性投入生产过程，全部转移</a:t>
            </a:r>
          </a:p>
        </p:txBody>
      </p:sp>
    </p:spTree>
    <p:extLst>
      <p:ext uri="{BB962C8B-B14F-4D97-AF65-F5344CB8AC3E}">
        <p14:creationId xmlns:p14="http://schemas.microsoft.com/office/powerpoint/2010/main" val="2914803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固定资本的价值转移</a:t>
            </a:r>
          </a:p>
        </p:txBody>
      </p:sp>
      <p:sp>
        <p:nvSpPr>
          <p:cNvPr id="3" name="内容占位符 2"/>
          <p:cNvSpPr>
            <a:spLocks noGrp="1"/>
          </p:cNvSpPr>
          <p:nvPr>
            <p:ph idx="1"/>
          </p:nvPr>
        </p:nvSpPr>
        <p:spPr/>
        <p:txBody>
          <a:bodyPr/>
          <a:lstStyle/>
          <a:p>
            <a:r>
              <a:rPr lang="zh-CN" altLang="en-US" dirty="0"/>
              <a:t>固定资本以它的物质形态全部参加生产过程，而它的价值是在多次生产过程中逐步转移到新产品中去的，另一部分在其使用价值完全磨损之前仍突然固定在它里面</a:t>
            </a:r>
            <a:endParaRPr lang="en-US" altLang="zh-CN" dirty="0"/>
          </a:p>
          <a:p>
            <a:pPr lvl="1"/>
            <a:r>
              <a:rPr lang="zh-CN" altLang="en-US" dirty="0"/>
              <a:t>例： 一台机器价值</a:t>
            </a:r>
            <a:r>
              <a:rPr lang="en-US" altLang="zh-CN" dirty="0"/>
              <a:t>100000</a:t>
            </a:r>
            <a:r>
              <a:rPr lang="zh-CN" altLang="en-US" dirty="0"/>
              <a:t>元，可以使用</a:t>
            </a:r>
            <a:r>
              <a:rPr lang="en-US" altLang="zh-CN" dirty="0"/>
              <a:t>10</a:t>
            </a:r>
            <a:r>
              <a:rPr lang="zh-CN" altLang="en-US" dirty="0"/>
              <a:t>年。在商品生产中，整个机器是每年都全部参加生产过程的，但是其价值每年只能有</a:t>
            </a:r>
            <a:r>
              <a:rPr lang="en-US" altLang="zh-CN" dirty="0"/>
              <a:t>10000</a:t>
            </a:r>
            <a:r>
              <a:rPr lang="zh-CN" altLang="en-US" dirty="0"/>
              <a:t>元转移到这 一年的新产品中去。</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14</a:t>
            </a:fld>
            <a:endParaRPr lang="zh-CN" altLang="en-US"/>
          </a:p>
        </p:txBody>
      </p:sp>
    </p:spTree>
    <p:extLst>
      <p:ext uri="{BB962C8B-B14F-4D97-AF65-F5344CB8AC3E}">
        <p14:creationId xmlns:p14="http://schemas.microsoft.com/office/powerpoint/2010/main" val="2065480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dirty="0"/>
              <a:t>固定资本的损耗</a:t>
            </a:r>
          </a:p>
        </p:txBody>
      </p:sp>
      <p:sp>
        <p:nvSpPr>
          <p:cNvPr id="50179" name="内容占位符 2"/>
          <p:cNvSpPr>
            <a:spLocks noGrp="1"/>
          </p:cNvSpPr>
          <p:nvPr>
            <p:ph idx="1"/>
          </p:nvPr>
        </p:nvSpPr>
        <p:spPr/>
        <p:txBody>
          <a:bodyPr/>
          <a:lstStyle/>
          <a:p>
            <a:r>
              <a:rPr lang="zh-CN" altLang="en-US" dirty="0"/>
              <a:t>有形损耗：由于生产性使用或自然力的作用而造成的固定资本在物质上的损耗，又叫物质损耗</a:t>
            </a:r>
            <a:endParaRPr lang="en-US" altLang="zh-CN" dirty="0"/>
          </a:p>
          <a:p>
            <a:r>
              <a:rPr lang="zh-CN" altLang="en-US" dirty="0"/>
              <a:t>无形损耗：固定资本由于劳动生产率的提高而引起的价值损失，又叫精神损耗</a:t>
            </a:r>
            <a:endParaRPr lang="en-US" altLang="zh-CN" dirty="0"/>
          </a:p>
          <a:p>
            <a:r>
              <a:rPr lang="zh-CN" altLang="en-US" dirty="0"/>
              <a:t>固定资本折旧：固定资本的价值按照其磨损的程度逐渐被转移到产品中去，并随着产品的销售，已经被转移的这部分价值不断以货币形式积累起来，这个过程就成为固定资本折旧。</a:t>
            </a:r>
            <a:endParaRPr lang="en-US" altLang="zh-CN" dirty="0"/>
          </a:p>
        </p:txBody>
      </p:sp>
    </p:spTree>
    <p:extLst>
      <p:ext uri="{BB962C8B-B14F-4D97-AF65-F5344CB8AC3E}">
        <p14:creationId xmlns:p14="http://schemas.microsoft.com/office/powerpoint/2010/main" val="1060690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rrowheads="1"/>
          </p:cNvSpPr>
          <p:nvPr>
            <p:ph type="title"/>
          </p:nvPr>
        </p:nvSpPr>
        <p:spPr/>
        <p:txBody>
          <a:bodyPr/>
          <a:lstStyle/>
          <a:p>
            <a:r>
              <a:rPr lang="zh-CN" altLang="en-US" dirty="0"/>
              <a:t>资本构成示意图</a:t>
            </a:r>
          </a:p>
        </p:txBody>
      </p:sp>
      <p:sp>
        <p:nvSpPr>
          <p:cNvPr id="47107" name="Rectangle 3"/>
          <p:cNvSpPr>
            <a:spLocks noGrp="1" noChangeArrowheads="1"/>
          </p:cNvSpPr>
          <p:nvPr>
            <p:ph type="body" idx="1"/>
          </p:nvPr>
        </p:nvSpPr>
        <p:spPr/>
        <p:txBody>
          <a:bodyPr/>
          <a:lstStyle/>
          <a:p>
            <a:pPr>
              <a:buFont typeface="Wingdings" panose="05000000000000000000" pitchFamily="2" charset="2"/>
              <a:buNone/>
            </a:pPr>
            <a:r>
              <a:rPr lang="en-US" altLang="zh-CN"/>
              <a:t>   </a:t>
            </a:r>
          </a:p>
        </p:txBody>
      </p:sp>
      <p:sp>
        <p:nvSpPr>
          <p:cNvPr id="47108" name="Rectangle 4"/>
          <p:cNvSpPr>
            <a:spLocks noChangeArrowheads="1"/>
          </p:cNvSpPr>
          <p:nvPr/>
        </p:nvSpPr>
        <p:spPr bwMode="auto">
          <a:xfrm>
            <a:off x="900113" y="2781300"/>
            <a:ext cx="863600" cy="18002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按对剩</a:t>
            </a:r>
          </a:p>
          <a:p>
            <a:pPr algn="ctr" eaLnBrk="1" hangingPunct="1">
              <a:spcBef>
                <a:spcPct val="0"/>
              </a:spcBef>
              <a:buClrTx/>
              <a:buSzTx/>
              <a:buFontTx/>
              <a:buNone/>
            </a:pPr>
            <a:r>
              <a:rPr lang="zh-CN" altLang="en-US" sz="1800">
                <a:latin typeface="Times New Roman" panose="02020603050405020304" pitchFamily="18" charset="0"/>
              </a:rPr>
              <a:t>余价值</a:t>
            </a:r>
          </a:p>
          <a:p>
            <a:pPr algn="ctr" eaLnBrk="1" hangingPunct="1">
              <a:spcBef>
                <a:spcPct val="0"/>
              </a:spcBef>
              <a:buClrTx/>
              <a:buSzTx/>
              <a:buFontTx/>
              <a:buNone/>
            </a:pPr>
            <a:r>
              <a:rPr lang="zh-CN" altLang="en-US" sz="1800">
                <a:latin typeface="Times New Roman" panose="02020603050405020304" pitchFamily="18" charset="0"/>
              </a:rPr>
              <a:t>生产的</a:t>
            </a:r>
          </a:p>
          <a:p>
            <a:pPr algn="ctr" eaLnBrk="1" hangingPunct="1">
              <a:spcBef>
                <a:spcPct val="0"/>
              </a:spcBef>
              <a:buClrTx/>
              <a:buSzTx/>
              <a:buFontTx/>
              <a:buNone/>
            </a:pPr>
            <a:r>
              <a:rPr lang="zh-CN" altLang="en-US" sz="1800">
                <a:latin typeface="Times New Roman" panose="02020603050405020304" pitchFamily="18" charset="0"/>
              </a:rPr>
              <a:t>作用区</a:t>
            </a:r>
          </a:p>
          <a:p>
            <a:pPr algn="ctr" eaLnBrk="1" hangingPunct="1">
              <a:spcBef>
                <a:spcPct val="0"/>
              </a:spcBef>
              <a:buClrTx/>
              <a:buSzTx/>
              <a:buFontTx/>
              <a:buNone/>
            </a:pPr>
            <a:r>
              <a:rPr lang="zh-CN" altLang="en-US" sz="1800">
                <a:latin typeface="Times New Roman" panose="02020603050405020304" pitchFamily="18" charset="0"/>
              </a:rPr>
              <a:t>分</a:t>
            </a:r>
          </a:p>
        </p:txBody>
      </p:sp>
      <p:sp>
        <p:nvSpPr>
          <p:cNvPr id="47109" name="AutoShape 5"/>
          <p:cNvSpPr>
            <a:spLocks/>
          </p:cNvSpPr>
          <p:nvPr/>
        </p:nvSpPr>
        <p:spPr bwMode="auto">
          <a:xfrm>
            <a:off x="1835150" y="2565400"/>
            <a:ext cx="360363" cy="2447925"/>
          </a:xfrm>
          <a:prstGeom prst="leftBrace">
            <a:avLst>
              <a:gd name="adj1" fmla="val 5660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47110" name="Rectangle 6"/>
          <p:cNvSpPr>
            <a:spLocks noChangeArrowheads="1"/>
          </p:cNvSpPr>
          <p:nvPr/>
        </p:nvSpPr>
        <p:spPr bwMode="auto">
          <a:xfrm>
            <a:off x="2268538" y="2276475"/>
            <a:ext cx="935037" cy="71913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不变</a:t>
            </a:r>
          </a:p>
          <a:p>
            <a:pPr algn="ctr" eaLnBrk="1" hangingPunct="1">
              <a:spcBef>
                <a:spcPct val="0"/>
              </a:spcBef>
              <a:buClrTx/>
              <a:buSzTx/>
              <a:buFontTx/>
              <a:buNone/>
            </a:pPr>
            <a:r>
              <a:rPr lang="zh-CN" altLang="en-US" sz="1800">
                <a:latin typeface="Times New Roman" panose="02020603050405020304" pitchFamily="18" charset="0"/>
              </a:rPr>
              <a:t>资本</a:t>
            </a:r>
          </a:p>
        </p:txBody>
      </p:sp>
      <p:sp>
        <p:nvSpPr>
          <p:cNvPr id="47111" name="Rectangle 7"/>
          <p:cNvSpPr>
            <a:spLocks noChangeArrowheads="1"/>
          </p:cNvSpPr>
          <p:nvPr/>
        </p:nvSpPr>
        <p:spPr bwMode="auto">
          <a:xfrm>
            <a:off x="2268538" y="4652963"/>
            <a:ext cx="935037" cy="7207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可变</a:t>
            </a:r>
          </a:p>
          <a:p>
            <a:pPr algn="ctr" eaLnBrk="1" hangingPunct="1">
              <a:spcBef>
                <a:spcPct val="0"/>
              </a:spcBef>
              <a:buClrTx/>
              <a:buSzTx/>
              <a:buFontTx/>
              <a:buNone/>
            </a:pPr>
            <a:r>
              <a:rPr lang="zh-CN" altLang="en-US" sz="1800">
                <a:latin typeface="Times New Roman" panose="02020603050405020304" pitchFamily="18" charset="0"/>
              </a:rPr>
              <a:t>资本</a:t>
            </a:r>
          </a:p>
        </p:txBody>
      </p:sp>
      <p:sp>
        <p:nvSpPr>
          <p:cNvPr id="47112" name="AutoShape 8"/>
          <p:cNvSpPr>
            <a:spLocks/>
          </p:cNvSpPr>
          <p:nvPr/>
        </p:nvSpPr>
        <p:spPr bwMode="auto">
          <a:xfrm>
            <a:off x="3276600" y="1916113"/>
            <a:ext cx="142875" cy="1439862"/>
          </a:xfrm>
          <a:prstGeom prst="leftBrace">
            <a:avLst>
              <a:gd name="adj1" fmla="val 8398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47113" name="Rectangle 9"/>
          <p:cNvSpPr>
            <a:spLocks noChangeArrowheads="1"/>
          </p:cNvSpPr>
          <p:nvPr/>
        </p:nvSpPr>
        <p:spPr bwMode="auto">
          <a:xfrm>
            <a:off x="3492500" y="1700213"/>
            <a:ext cx="2663825"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厂房、机器、设备、工具</a:t>
            </a:r>
          </a:p>
        </p:txBody>
      </p:sp>
      <p:sp>
        <p:nvSpPr>
          <p:cNvPr id="47114" name="Rectangle 10"/>
          <p:cNvSpPr>
            <a:spLocks noChangeArrowheads="1"/>
          </p:cNvSpPr>
          <p:nvPr/>
        </p:nvSpPr>
        <p:spPr bwMode="auto">
          <a:xfrm>
            <a:off x="3492500" y="3141663"/>
            <a:ext cx="2663825" cy="57467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原料、燃料、辅助材料</a:t>
            </a:r>
          </a:p>
        </p:txBody>
      </p:sp>
      <p:sp>
        <p:nvSpPr>
          <p:cNvPr id="47115" name="Line 11"/>
          <p:cNvSpPr>
            <a:spLocks noChangeShapeType="1"/>
          </p:cNvSpPr>
          <p:nvPr/>
        </p:nvSpPr>
        <p:spPr bwMode="auto">
          <a:xfrm>
            <a:off x="3203575" y="5013325"/>
            <a:ext cx="2159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6" name="Rectangle 12"/>
          <p:cNvSpPr>
            <a:spLocks noChangeArrowheads="1"/>
          </p:cNvSpPr>
          <p:nvPr/>
        </p:nvSpPr>
        <p:spPr bwMode="auto">
          <a:xfrm>
            <a:off x="3492500" y="4724400"/>
            <a:ext cx="2663825" cy="57626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转化为劳动力价值的资本</a:t>
            </a:r>
          </a:p>
        </p:txBody>
      </p:sp>
      <p:sp>
        <p:nvSpPr>
          <p:cNvPr id="47117" name="AutoShape 13"/>
          <p:cNvSpPr>
            <a:spLocks/>
          </p:cNvSpPr>
          <p:nvPr/>
        </p:nvSpPr>
        <p:spPr bwMode="auto">
          <a:xfrm>
            <a:off x="6227763" y="3500438"/>
            <a:ext cx="215900" cy="1584325"/>
          </a:xfrm>
          <a:prstGeom prst="rightBrace">
            <a:avLst>
              <a:gd name="adj1" fmla="val 611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47118" name="Rectangle 14"/>
          <p:cNvSpPr>
            <a:spLocks noChangeArrowheads="1"/>
          </p:cNvSpPr>
          <p:nvPr/>
        </p:nvSpPr>
        <p:spPr bwMode="auto">
          <a:xfrm>
            <a:off x="6516688" y="4005263"/>
            <a:ext cx="1079500" cy="6477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流动资本</a:t>
            </a:r>
          </a:p>
        </p:txBody>
      </p:sp>
      <p:sp>
        <p:nvSpPr>
          <p:cNvPr id="47119" name="Line 15"/>
          <p:cNvSpPr>
            <a:spLocks noChangeShapeType="1"/>
          </p:cNvSpPr>
          <p:nvPr/>
        </p:nvSpPr>
        <p:spPr bwMode="auto">
          <a:xfrm>
            <a:off x="6156325" y="1989138"/>
            <a:ext cx="2873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20" name="Rectangle 16"/>
          <p:cNvSpPr>
            <a:spLocks noChangeArrowheads="1"/>
          </p:cNvSpPr>
          <p:nvPr/>
        </p:nvSpPr>
        <p:spPr bwMode="auto">
          <a:xfrm>
            <a:off x="6443663" y="1700213"/>
            <a:ext cx="1152525"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固定资本</a:t>
            </a:r>
          </a:p>
        </p:txBody>
      </p:sp>
      <p:sp>
        <p:nvSpPr>
          <p:cNvPr id="47121" name="AutoShape 17"/>
          <p:cNvSpPr>
            <a:spLocks/>
          </p:cNvSpPr>
          <p:nvPr/>
        </p:nvSpPr>
        <p:spPr bwMode="auto">
          <a:xfrm>
            <a:off x="7596188" y="1989138"/>
            <a:ext cx="215900" cy="2376487"/>
          </a:xfrm>
          <a:prstGeom prst="rightBrace">
            <a:avLst>
              <a:gd name="adj1" fmla="val 9172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47122" name="Rectangle 18"/>
          <p:cNvSpPr>
            <a:spLocks noChangeArrowheads="1"/>
          </p:cNvSpPr>
          <p:nvPr/>
        </p:nvSpPr>
        <p:spPr bwMode="auto">
          <a:xfrm>
            <a:off x="7885113" y="2349500"/>
            <a:ext cx="790575" cy="1871663"/>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按价</a:t>
            </a:r>
          </a:p>
          <a:p>
            <a:pPr algn="ctr" eaLnBrk="1" hangingPunct="1">
              <a:spcBef>
                <a:spcPct val="0"/>
              </a:spcBef>
              <a:buClrTx/>
              <a:buSzTx/>
              <a:buFontTx/>
              <a:buNone/>
            </a:pPr>
            <a:r>
              <a:rPr lang="zh-CN" altLang="en-US" sz="1800">
                <a:latin typeface="Times New Roman" panose="02020603050405020304" pitchFamily="18" charset="0"/>
              </a:rPr>
              <a:t>值周</a:t>
            </a:r>
          </a:p>
          <a:p>
            <a:pPr algn="ctr" eaLnBrk="1" hangingPunct="1">
              <a:spcBef>
                <a:spcPct val="0"/>
              </a:spcBef>
              <a:buClrTx/>
              <a:buSzTx/>
              <a:buFontTx/>
              <a:buNone/>
            </a:pPr>
            <a:r>
              <a:rPr lang="zh-CN" altLang="en-US" sz="1800">
                <a:latin typeface="Times New Roman" panose="02020603050405020304" pitchFamily="18" charset="0"/>
              </a:rPr>
              <a:t>转方</a:t>
            </a:r>
          </a:p>
          <a:p>
            <a:pPr algn="ctr" eaLnBrk="1" hangingPunct="1">
              <a:spcBef>
                <a:spcPct val="0"/>
              </a:spcBef>
              <a:buClrTx/>
              <a:buSzTx/>
              <a:buFontTx/>
              <a:buNone/>
            </a:pPr>
            <a:r>
              <a:rPr lang="zh-CN" altLang="en-US" sz="1800">
                <a:latin typeface="Times New Roman" panose="02020603050405020304" pitchFamily="18" charset="0"/>
              </a:rPr>
              <a:t>式区</a:t>
            </a:r>
          </a:p>
          <a:p>
            <a:pPr algn="ctr" eaLnBrk="1" hangingPunct="1">
              <a:spcBef>
                <a:spcPct val="0"/>
              </a:spcBef>
              <a:buClrTx/>
              <a:buSzTx/>
              <a:buFontTx/>
              <a:buNone/>
            </a:pPr>
            <a:r>
              <a:rPr lang="zh-CN" altLang="en-US" sz="1800">
                <a:latin typeface="Times New Roman" panose="02020603050405020304" pitchFamily="18" charset="0"/>
              </a:rPr>
              <a:t>分</a:t>
            </a:r>
          </a:p>
        </p:txBody>
      </p:sp>
    </p:spTree>
    <p:extLst>
      <p:ext uri="{BB962C8B-B14F-4D97-AF65-F5344CB8AC3E}">
        <p14:creationId xmlns:p14="http://schemas.microsoft.com/office/powerpoint/2010/main" val="3759893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资本两种分类的差异</a:t>
            </a:r>
          </a:p>
        </p:txBody>
      </p:sp>
      <p:sp>
        <p:nvSpPr>
          <p:cNvPr id="3" name="内容占位符 2"/>
          <p:cNvSpPr>
            <a:spLocks noGrp="1"/>
          </p:cNvSpPr>
          <p:nvPr>
            <p:ph idx="1"/>
          </p:nvPr>
        </p:nvSpPr>
        <p:spPr/>
        <p:txBody>
          <a:bodyPr/>
          <a:lstStyle/>
          <a:p>
            <a:r>
              <a:rPr lang="zh-CN" altLang="en-US" dirty="0"/>
              <a:t>不变资本和可变资本，是按照资本的不同部分在剩余价值形成（或者剥削过程）中的不同作用来区分的，其中剩余价值是由可变资本创造的。</a:t>
            </a:r>
            <a:endParaRPr lang="en-US" altLang="zh-CN" dirty="0"/>
          </a:p>
          <a:p>
            <a:r>
              <a:rPr lang="zh-CN" altLang="en-US" dirty="0"/>
              <a:t>固定资本和流动资本，根据生产资本的不同部分在价值流通和价值周转方式上的不同特点来进行区分的。</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17</a:t>
            </a:fld>
            <a:endParaRPr lang="zh-CN" altLang="en-US"/>
          </a:p>
        </p:txBody>
      </p:sp>
    </p:spTree>
    <p:extLst>
      <p:ext uri="{BB962C8B-B14F-4D97-AF65-F5344CB8AC3E}">
        <p14:creationId xmlns:p14="http://schemas.microsoft.com/office/powerpoint/2010/main" val="3152083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rrowheads="1"/>
          </p:cNvSpPr>
          <p:nvPr>
            <p:ph type="title"/>
          </p:nvPr>
        </p:nvSpPr>
        <p:spPr/>
        <p:txBody>
          <a:bodyPr/>
          <a:lstStyle/>
          <a:p>
            <a:r>
              <a:rPr lang="zh-CN" altLang="en-US" dirty="0"/>
              <a:t>预付资本的总周转</a:t>
            </a:r>
          </a:p>
        </p:txBody>
      </p:sp>
      <p:sp>
        <p:nvSpPr>
          <p:cNvPr id="51203" name="Rectangle 3"/>
          <p:cNvSpPr>
            <a:spLocks noGrp="1" noChangeArrowheads="1"/>
          </p:cNvSpPr>
          <p:nvPr>
            <p:ph type="body" idx="1"/>
          </p:nvPr>
        </p:nvSpPr>
        <p:spPr/>
        <p:txBody>
          <a:bodyPr/>
          <a:lstStyle/>
          <a:p>
            <a:pPr>
              <a:buFont typeface="Wingdings" panose="05000000000000000000" pitchFamily="2" charset="2"/>
              <a:buNone/>
            </a:pPr>
            <a:r>
              <a:rPr lang="en-US" altLang="zh-CN" sz="2000" dirty="0"/>
              <a:t> </a:t>
            </a:r>
            <a:endParaRPr lang="zh-CN" altLang="en-US" dirty="0"/>
          </a:p>
          <a:p>
            <a:pPr>
              <a:buFont typeface="Wingdings" panose="05000000000000000000" pitchFamily="2" charset="2"/>
              <a:buNone/>
            </a:pPr>
            <a:endParaRPr lang="zh-CN" altLang="en-US" dirty="0"/>
          </a:p>
          <a:p>
            <a:pPr>
              <a:buFont typeface="Wingdings" panose="05000000000000000000" pitchFamily="2" charset="2"/>
              <a:buNone/>
            </a:pPr>
            <a:endParaRPr lang="zh-CN" altLang="en-US" dirty="0"/>
          </a:p>
          <a:p>
            <a:pPr>
              <a:buFont typeface="Wingdings" panose="05000000000000000000" pitchFamily="2" charset="2"/>
              <a:buNone/>
            </a:pPr>
            <a:endParaRPr lang="zh-CN" altLang="en-US" dirty="0"/>
          </a:p>
          <a:p>
            <a:pPr>
              <a:buFont typeface="Wingdings" panose="05000000000000000000" pitchFamily="2" charset="2"/>
              <a:buNone/>
            </a:pPr>
            <a:endParaRPr lang="zh-CN" altLang="en-US" dirty="0"/>
          </a:p>
          <a:p>
            <a:pPr>
              <a:buFont typeface="Wingdings" panose="05000000000000000000" pitchFamily="2" charset="2"/>
              <a:buNone/>
            </a:pPr>
            <a:endParaRPr lang="zh-CN" altLang="en-US" dirty="0"/>
          </a:p>
        </p:txBody>
      </p:sp>
      <p:sp>
        <p:nvSpPr>
          <p:cNvPr id="51204" name="Rectangle 6"/>
          <p:cNvSpPr>
            <a:spLocks noChangeArrowheads="1"/>
          </p:cNvSpPr>
          <p:nvPr/>
        </p:nvSpPr>
        <p:spPr bwMode="auto">
          <a:xfrm>
            <a:off x="1547813" y="3141663"/>
            <a:ext cx="1368425" cy="935037"/>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预付资本的</a:t>
            </a:r>
          </a:p>
          <a:p>
            <a:pPr algn="ctr" eaLnBrk="1" hangingPunct="1">
              <a:spcBef>
                <a:spcPct val="0"/>
              </a:spcBef>
              <a:buClrTx/>
              <a:buSzTx/>
              <a:buFontTx/>
              <a:buNone/>
            </a:pPr>
            <a:r>
              <a:rPr lang="zh-CN" altLang="en-US" sz="1800">
                <a:latin typeface="Times New Roman" panose="02020603050405020304" pitchFamily="18" charset="0"/>
              </a:rPr>
              <a:t>总周转次数</a:t>
            </a:r>
          </a:p>
        </p:txBody>
      </p:sp>
      <p:sp>
        <p:nvSpPr>
          <p:cNvPr id="51205" name="Line 7"/>
          <p:cNvSpPr>
            <a:spLocks noChangeShapeType="1"/>
          </p:cNvSpPr>
          <p:nvPr/>
        </p:nvSpPr>
        <p:spPr bwMode="auto">
          <a:xfrm>
            <a:off x="3059113" y="3573463"/>
            <a:ext cx="4333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6" name="Line 8"/>
          <p:cNvSpPr>
            <a:spLocks noChangeShapeType="1"/>
          </p:cNvSpPr>
          <p:nvPr/>
        </p:nvSpPr>
        <p:spPr bwMode="auto">
          <a:xfrm>
            <a:off x="3059113" y="3716338"/>
            <a:ext cx="4333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7" name="Line 9"/>
          <p:cNvSpPr>
            <a:spLocks noChangeShapeType="1"/>
          </p:cNvSpPr>
          <p:nvPr/>
        </p:nvSpPr>
        <p:spPr bwMode="auto">
          <a:xfrm>
            <a:off x="3708400" y="3644900"/>
            <a:ext cx="39592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08" name="Rectangle 10"/>
          <p:cNvSpPr>
            <a:spLocks noChangeArrowheads="1"/>
          </p:cNvSpPr>
          <p:nvPr/>
        </p:nvSpPr>
        <p:spPr bwMode="auto">
          <a:xfrm>
            <a:off x="3708400" y="2636838"/>
            <a:ext cx="1657350" cy="79216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一年内固定资本</a:t>
            </a:r>
          </a:p>
          <a:p>
            <a:pPr algn="ctr" eaLnBrk="1" hangingPunct="1">
              <a:spcBef>
                <a:spcPct val="0"/>
              </a:spcBef>
              <a:buClrTx/>
              <a:buSzTx/>
              <a:buFontTx/>
              <a:buNone/>
            </a:pPr>
            <a:r>
              <a:rPr lang="zh-CN" altLang="en-US" sz="1800">
                <a:latin typeface="Times New Roman" panose="02020603050405020304" pitchFamily="18" charset="0"/>
              </a:rPr>
              <a:t>周转总额</a:t>
            </a:r>
          </a:p>
        </p:txBody>
      </p:sp>
      <p:sp>
        <p:nvSpPr>
          <p:cNvPr id="51209" name="Line 11"/>
          <p:cNvSpPr>
            <a:spLocks noChangeShapeType="1"/>
          </p:cNvSpPr>
          <p:nvPr/>
        </p:nvSpPr>
        <p:spPr bwMode="auto">
          <a:xfrm>
            <a:off x="5435600" y="3068638"/>
            <a:ext cx="2889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0" name="Line 12"/>
          <p:cNvSpPr>
            <a:spLocks noChangeShapeType="1"/>
          </p:cNvSpPr>
          <p:nvPr/>
        </p:nvSpPr>
        <p:spPr bwMode="auto">
          <a:xfrm>
            <a:off x="5580063" y="2924175"/>
            <a:ext cx="0" cy="288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1" name="Rectangle 13"/>
          <p:cNvSpPr>
            <a:spLocks noChangeArrowheads="1"/>
          </p:cNvSpPr>
          <p:nvPr/>
        </p:nvSpPr>
        <p:spPr bwMode="auto">
          <a:xfrm>
            <a:off x="5795963" y="2636838"/>
            <a:ext cx="1655762" cy="79216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一年内流动资本</a:t>
            </a:r>
          </a:p>
          <a:p>
            <a:pPr algn="ctr" eaLnBrk="1" hangingPunct="1">
              <a:spcBef>
                <a:spcPct val="0"/>
              </a:spcBef>
              <a:buClrTx/>
              <a:buSzTx/>
              <a:buFontTx/>
              <a:buNone/>
            </a:pPr>
            <a:r>
              <a:rPr lang="zh-CN" altLang="en-US" sz="1800">
                <a:latin typeface="Times New Roman" panose="02020603050405020304" pitchFamily="18" charset="0"/>
              </a:rPr>
              <a:t>周转总额</a:t>
            </a:r>
          </a:p>
        </p:txBody>
      </p:sp>
      <p:sp>
        <p:nvSpPr>
          <p:cNvPr id="51212" name="Rectangle 14"/>
          <p:cNvSpPr>
            <a:spLocks noChangeArrowheads="1"/>
          </p:cNvSpPr>
          <p:nvPr/>
        </p:nvSpPr>
        <p:spPr bwMode="auto">
          <a:xfrm>
            <a:off x="4427538" y="3933825"/>
            <a:ext cx="2232025" cy="6477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预付资本总额</a:t>
            </a:r>
          </a:p>
        </p:txBody>
      </p:sp>
    </p:spTree>
    <p:extLst>
      <p:ext uri="{BB962C8B-B14F-4D97-AF65-F5344CB8AC3E}">
        <p14:creationId xmlns:p14="http://schemas.microsoft.com/office/powerpoint/2010/main" val="1513728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dirty="0"/>
              <a:t>资本周转速度的影响因素</a:t>
            </a:r>
          </a:p>
        </p:txBody>
      </p:sp>
      <p:sp>
        <p:nvSpPr>
          <p:cNvPr id="49155" name="内容占位符 2"/>
          <p:cNvSpPr>
            <a:spLocks noGrp="1"/>
          </p:cNvSpPr>
          <p:nvPr>
            <p:ph idx="1"/>
          </p:nvPr>
        </p:nvSpPr>
        <p:spPr/>
        <p:txBody>
          <a:bodyPr/>
          <a:lstStyle/>
          <a:p>
            <a:r>
              <a:rPr lang="zh-CN" altLang="en-US" dirty="0"/>
              <a:t>固定资本和流动资本的比例</a:t>
            </a:r>
            <a:endParaRPr lang="en-US" altLang="zh-CN" dirty="0"/>
          </a:p>
          <a:p>
            <a:pPr lvl="1"/>
            <a:r>
              <a:rPr lang="zh-CN" altLang="en-US" dirty="0"/>
              <a:t>固定资本的比重越大，资本的周转越慢</a:t>
            </a:r>
            <a:endParaRPr lang="en-US" altLang="zh-CN" dirty="0"/>
          </a:p>
          <a:p>
            <a:pPr lvl="1"/>
            <a:r>
              <a:rPr lang="zh-CN" altLang="en-US" dirty="0"/>
              <a:t>流动资本所占比重越大，则资本周转越快</a:t>
            </a:r>
            <a:endParaRPr lang="en-US" altLang="zh-CN" dirty="0"/>
          </a:p>
          <a:p>
            <a:r>
              <a:rPr lang="zh-CN" altLang="en-US" dirty="0"/>
              <a:t>固定资本和流动资本各自的周转速度</a:t>
            </a:r>
            <a:endParaRPr lang="en-US" altLang="zh-CN" dirty="0"/>
          </a:p>
        </p:txBody>
      </p:sp>
    </p:spTree>
    <p:extLst>
      <p:ext uri="{BB962C8B-B14F-4D97-AF65-F5344CB8AC3E}">
        <p14:creationId xmlns:p14="http://schemas.microsoft.com/office/powerpoint/2010/main" val="34299424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例题分析</a:t>
            </a:r>
          </a:p>
        </p:txBody>
      </p:sp>
      <p:graphicFrame>
        <p:nvGraphicFramePr>
          <p:cNvPr id="205880" name="Group 56"/>
          <p:cNvGraphicFramePr>
            <a:graphicFrameLocks noGrp="1"/>
          </p:cNvGraphicFramePr>
          <p:nvPr>
            <p:ph idx="1"/>
            <p:extLst>
              <p:ext uri="{D42A27DB-BD31-4B8C-83A1-F6EECF244321}">
                <p14:modId xmlns:p14="http://schemas.microsoft.com/office/powerpoint/2010/main" val="2795448978"/>
              </p:ext>
            </p:extLst>
          </p:nvPr>
        </p:nvGraphicFramePr>
        <p:xfrm>
          <a:off x="628650" y="1701800"/>
          <a:ext cx="7886700" cy="4736888"/>
        </p:xfrm>
        <a:graphic>
          <a:graphicData uri="http://schemas.openxmlformats.org/drawingml/2006/table">
            <a:tbl>
              <a:tblPr/>
              <a:tblGrid>
                <a:gridCol w="1973414">
                  <a:extLst>
                    <a:ext uri="{9D8B030D-6E8A-4147-A177-3AD203B41FA5}">
                      <a16:colId xmlns:a16="http://schemas.microsoft.com/office/drawing/2014/main" val="20000"/>
                    </a:ext>
                  </a:extLst>
                </a:gridCol>
                <a:gridCol w="1969936">
                  <a:extLst>
                    <a:ext uri="{9D8B030D-6E8A-4147-A177-3AD203B41FA5}">
                      <a16:colId xmlns:a16="http://schemas.microsoft.com/office/drawing/2014/main" val="20001"/>
                    </a:ext>
                  </a:extLst>
                </a:gridCol>
                <a:gridCol w="2091645">
                  <a:extLst>
                    <a:ext uri="{9D8B030D-6E8A-4147-A177-3AD203B41FA5}">
                      <a16:colId xmlns:a16="http://schemas.microsoft.com/office/drawing/2014/main" val="20002"/>
                    </a:ext>
                  </a:extLst>
                </a:gridCol>
                <a:gridCol w="1851705">
                  <a:extLst>
                    <a:ext uri="{9D8B030D-6E8A-4147-A177-3AD203B41FA5}">
                      <a16:colId xmlns:a16="http://schemas.microsoft.com/office/drawing/2014/main" val="20003"/>
                    </a:ext>
                  </a:extLst>
                </a:gridCol>
              </a:tblGrid>
              <a:tr h="1262044">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a:t>
                      </a:r>
                      <a:r>
                        <a:rPr kumimoji="0" lang="zh-CN" altLang="en-US" sz="2400" b="1" i="0" u="none" strike="noStrike" cap="none" normalizeH="0" baseline="0" dirty="0">
                          <a:ln>
                            <a:noFill/>
                          </a:ln>
                          <a:solidFill>
                            <a:schemeClr val="tx1"/>
                          </a:solidFill>
                          <a:effectLst/>
                          <a:latin typeface="Garamond" pitchFamily="18" charset="0"/>
                          <a:ea typeface="宋体" pitchFamily="2" charset="-122"/>
                        </a:rPr>
                        <a:t>生产资本</a:t>
                      </a:r>
                    </a:p>
                  </a:txBody>
                  <a:tcPr marL="100149" marR="100149"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a:t>
                      </a:r>
                      <a:r>
                        <a:rPr kumimoji="0" lang="zh-CN" altLang="en-US" sz="2400" b="1" i="0" u="none" strike="noStrike" cap="none" normalizeH="0" baseline="0" dirty="0">
                          <a:ln>
                            <a:noFill/>
                          </a:ln>
                          <a:solidFill>
                            <a:schemeClr val="tx1"/>
                          </a:solidFill>
                          <a:effectLst/>
                          <a:latin typeface="Garamond" pitchFamily="18" charset="0"/>
                          <a:ea typeface="宋体" pitchFamily="2" charset="-122"/>
                        </a:rPr>
                        <a:t>价 值</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dirty="0">
                          <a:ln>
                            <a:noFill/>
                          </a:ln>
                          <a:solidFill>
                            <a:schemeClr val="tx1"/>
                          </a:solidFill>
                          <a:effectLst/>
                          <a:latin typeface="Garamond" pitchFamily="18" charset="0"/>
                          <a:ea typeface="宋体" pitchFamily="2" charset="-122"/>
                        </a:rPr>
                        <a:t>      （元）</a:t>
                      </a:r>
                    </a:p>
                  </a:txBody>
                  <a:tcPr marL="100149" marR="10014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a:t>
                      </a:r>
                      <a:r>
                        <a:rPr kumimoji="0" lang="zh-CN" altLang="en-US" sz="2400" b="1" i="0" u="none" strike="noStrike" cap="none" normalizeH="0" baseline="0" dirty="0">
                          <a:ln>
                            <a:noFill/>
                          </a:ln>
                          <a:solidFill>
                            <a:schemeClr val="tx1"/>
                          </a:solidFill>
                          <a:effectLst/>
                          <a:latin typeface="Garamond" pitchFamily="18" charset="0"/>
                          <a:ea typeface="宋体" pitchFamily="2" charset="-122"/>
                        </a:rPr>
                        <a:t>一年内周转  </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dirty="0">
                          <a:ln>
                            <a:noFill/>
                          </a:ln>
                          <a:solidFill>
                            <a:schemeClr val="tx1"/>
                          </a:solidFill>
                          <a:effectLst/>
                          <a:latin typeface="Garamond" pitchFamily="18" charset="0"/>
                          <a:ea typeface="宋体" pitchFamily="2" charset="-122"/>
                        </a:rPr>
                        <a:t>         次数</a:t>
                      </a:r>
                    </a:p>
                  </a:txBody>
                  <a:tcPr marL="100149" marR="10014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a:ln>
                            <a:noFill/>
                          </a:ln>
                          <a:solidFill>
                            <a:schemeClr val="tx1"/>
                          </a:solidFill>
                          <a:effectLst/>
                          <a:latin typeface="Garamond" pitchFamily="18" charset="0"/>
                          <a:ea typeface="宋体" pitchFamily="2" charset="-122"/>
                        </a:rPr>
                        <a:t>一年周转总额   </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a:ln>
                            <a:noFill/>
                          </a:ln>
                          <a:solidFill>
                            <a:schemeClr val="tx1"/>
                          </a:solidFill>
                          <a:effectLst/>
                          <a:latin typeface="Garamond" pitchFamily="18" charset="0"/>
                          <a:ea typeface="宋体" pitchFamily="2" charset="-122"/>
                        </a:rPr>
                        <a:t>      （元）</a:t>
                      </a:r>
                    </a:p>
                  </a:txBody>
                  <a:tcPr marL="100149" marR="10014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78959">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dirty="0">
                          <a:ln>
                            <a:noFill/>
                          </a:ln>
                          <a:solidFill>
                            <a:schemeClr val="tx1"/>
                          </a:solidFill>
                          <a:effectLst/>
                          <a:latin typeface="Garamond" pitchFamily="18" charset="0"/>
                          <a:ea typeface="宋体" pitchFamily="2" charset="-122"/>
                        </a:rPr>
                        <a:t>全部固定资本：</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dirty="0">
                          <a:ln>
                            <a:noFill/>
                          </a:ln>
                          <a:solidFill>
                            <a:schemeClr val="tx1"/>
                          </a:solidFill>
                          <a:effectLst/>
                          <a:latin typeface="Garamond" pitchFamily="18" charset="0"/>
                          <a:ea typeface="宋体" pitchFamily="2" charset="-122"/>
                        </a:rPr>
                        <a:t>        </a:t>
                      </a:r>
                      <a:r>
                        <a:rPr kumimoji="0" lang="en-US" altLang="zh-CN" sz="2400" b="1" i="0" u="none" strike="noStrike" cap="none" normalizeH="0" baseline="0" dirty="0">
                          <a:ln>
                            <a:noFill/>
                          </a:ln>
                          <a:solidFill>
                            <a:schemeClr val="tx1"/>
                          </a:solidFill>
                          <a:effectLst/>
                          <a:latin typeface="Garamond" pitchFamily="18" charset="0"/>
                          <a:ea typeface="宋体" pitchFamily="2" charset="-122"/>
                        </a:rPr>
                        <a:t>#  </a:t>
                      </a:r>
                      <a:r>
                        <a:rPr kumimoji="0" lang="zh-CN" altLang="en-US" sz="2400" b="1" i="0" u="none" strike="noStrike" cap="none" normalizeH="0" baseline="0" dirty="0">
                          <a:ln>
                            <a:noFill/>
                          </a:ln>
                          <a:solidFill>
                            <a:schemeClr val="tx1"/>
                          </a:solidFill>
                          <a:effectLst/>
                          <a:latin typeface="Garamond" pitchFamily="18" charset="0"/>
                          <a:ea typeface="宋体" pitchFamily="2" charset="-122"/>
                        </a:rPr>
                        <a:t>厂房</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dirty="0">
                          <a:ln>
                            <a:noFill/>
                          </a:ln>
                          <a:solidFill>
                            <a:schemeClr val="tx1"/>
                          </a:solidFill>
                          <a:effectLst/>
                          <a:latin typeface="Garamond" pitchFamily="18" charset="0"/>
                          <a:ea typeface="宋体" pitchFamily="2" charset="-122"/>
                        </a:rPr>
                        <a:t>             机器</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dirty="0">
                          <a:ln>
                            <a:noFill/>
                          </a:ln>
                          <a:solidFill>
                            <a:schemeClr val="tx1"/>
                          </a:solidFill>
                          <a:effectLst/>
                          <a:latin typeface="Garamond" pitchFamily="18" charset="0"/>
                          <a:ea typeface="宋体" pitchFamily="2" charset="-122"/>
                        </a:rPr>
                        <a:t>             工具</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dirty="0">
                          <a:ln>
                            <a:noFill/>
                          </a:ln>
                          <a:solidFill>
                            <a:schemeClr val="tx1"/>
                          </a:solidFill>
                          <a:effectLst/>
                          <a:latin typeface="Garamond" pitchFamily="18" charset="0"/>
                          <a:ea typeface="宋体" pitchFamily="2" charset="-122"/>
                        </a:rPr>
                        <a:t>流动资本</a:t>
                      </a:r>
                    </a:p>
                  </a:txBody>
                  <a:tcPr marL="100149" marR="100149"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100000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30000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60000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10000  </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50000</a:t>
                      </a:r>
                    </a:p>
                  </a:txBody>
                  <a:tcPr marL="100149" marR="10014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1/10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1/30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1/10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3/10        </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4</a:t>
                      </a:r>
                    </a:p>
                  </a:txBody>
                  <a:tcPr marL="100149" marR="10014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10000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1000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6000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3000</a:t>
                      </a:r>
                    </a:p>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200000</a:t>
                      </a:r>
                    </a:p>
                  </a:txBody>
                  <a:tcPr marL="100149" marR="10014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3072">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1" i="0" u="none" strike="noStrike" cap="none" normalizeH="0" baseline="0">
                          <a:ln>
                            <a:noFill/>
                          </a:ln>
                          <a:solidFill>
                            <a:schemeClr val="tx1"/>
                          </a:solidFill>
                          <a:effectLst/>
                          <a:latin typeface="Garamond" pitchFamily="18" charset="0"/>
                          <a:ea typeface="宋体" pitchFamily="2" charset="-122"/>
                        </a:rPr>
                        <a:t>全部预付资本</a:t>
                      </a:r>
                    </a:p>
                  </a:txBody>
                  <a:tcPr marL="100149" marR="100149"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150000</a:t>
                      </a:r>
                    </a:p>
                  </a:txBody>
                  <a:tcPr marL="100149" marR="10014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1.4</a:t>
                      </a:r>
                    </a:p>
                  </a:txBody>
                  <a:tcPr marL="100149" marR="100149"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1" i="0" u="none" strike="noStrike" cap="none" normalizeH="0" baseline="0" dirty="0">
                          <a:ln>
                            <a:noFill/>
                          </a:ln>
                          <a:solidFill>
                            <a:schemeClr val="tx1"/>
                          </a:solidFill>
                          <a:effectLst/>
                          <a:latin typeface="Garamond" pitchFamily="18" charset="0"/>
                          <a:ea typeface="宋体" pitchFamily="2" charset="-122"/>
                        </a:rPr>
                        <a:t>    210000</a:t>
                      </a:r>
                    </a:p>
                  </a:txBody>
                  <a:tcPr marL="100149" marR="100149"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300472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提高资本周转速度的意义和途径</a:t>
            </a:r>
          </a:p>
        </p:txBody>
      </p:sp>
      <p:sp>
        <p:nvSpPr>
          <p:cNvPr id="3" name="内容占位符 2"/>
          <p:cNvSpPr>
            <a:spLocks noGrp="1"/>
          </p:cNvSpPr>
          <p:nvPr>
            <p:ph idx="1"/>
          </p:nvPr>
        </p:nvSpPr>
        <p:spPr/>
        <p:txBody>
          <a:bodyPr/>
          <a:lstStyle/>
          <a:p>
            <a:r>
              <a:rPr lang="en-US" altLang="zh-CN" dirty="0"/>
              <a:t> </a:t>
            </a:r>
            <a:r>
              <a:rPr lang="zh-CN" altLang="en-US" dirty="0"/>
              <a:t>资本周转速度的快慢，影响预付资本的数量</a:t>
            </a:r>
            <a:endParaRPr lang="en-US" altLang="zh-CN" dirty="0"/>
          </a:p>
          <a:p>
            <a:r>
              <a:rPr lang="zh-CN" altLang="en-US" dirty="0"/>
              <a:t>资本周转速度的快慢，影响年剩余价值量的大小和年剩余价值率的大小</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21</a:t>
            </a:fld>
            <a:endParaRPr lang="zh-CN" altLang="en-US"/>
          </a:p>
        </p:txBody>
      </p:sp>
    </p:spTree>
    <p:extLst>
      <p:ext uri="{BB962C8B-B14F-4D97-AF65-F5344CB8AC3E}">
        <p14:creationId xmlns:p14="http://schemas.microsoft.com/office/powerpoint/2010/main" val="2001247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年剩余价值量和年剩余价值率</a:t>
            </a:r>
          </a:p>
        </p:txBody>
      </p:sp>
      <p:sp>
        <p:nvSpPr>
          <p:cNvPr id="3" name="内容占位符 2"/>
          <p:cNvSpPr>
            <a:spLocks noGrp="1"/>
          </p:cNvSpPr>
          <p:nvPr>
            <p:ph idx="1"/>
          </p:nvPr>
        </p:nvSpPr>
        <p:spPr/>
        <p:txBody>
          <a:bodyPr/>
          <a:lstStyle/>
          <a:p>
            <a:r>
              <a:rPr lang="zh-CN" altLang="en-US" dirty="0"/>
              <a:t>年剩余价值量</a:t>
            </a:r>
            <a:endParaRPr lang="en-US" altLang="zh-CN" dirty="0"/>
          </a:p>
          <a:p>
            <a:pPr lvl="1"/>
            <a:r>
              <a:rPr lang="zh-CN" altLang="en-US" dirty="0"/>
              <a:t>资本在一年中剥削的剩余价值总量</a:t>
            </a:r>
            <a:endParaRPr lang="en-US" altLang="zh-CN" dirty="0"/>
          </a:p>
          <a:p>
            <a:pPr lvl="1"/>
            <a:r>
              <a:rPr lang="en-US" altLang="zh-CN" dirty="0"/>
              <a:t>M=</a:t>
            </a:r>
            <a:r>
              <a:rPr lang="en-US" altLang="zh-CN" dirty="0" err="1"/>
              <a:t>m´vn</a:t>
            </a:r>
            <a:endParaRPr lang="en-US" altLang="zh-CN" dirty="0"/>
          </a:p>
          <a:p>
            <a:r>
              <a:rPr lang="zh-CN" altLang="en-US" dirty="0"/>
              <a:t>年剩余价值率</a:t>
            </a:r>
            <a:endParaRPr lang="en-US" altLang="zh-CN" dirty="0"/>
          </a:p>
          <a:p>
            <a:pPr lvl="1"/>
            <a:r>
              <a:rPr lang="zh-CN" altLang="en-US" dirty="0"/>
              <a:t>年剩余价值量与预付可变资本的比率</a:t>
            </a:r>
            <a:endParaRPr lang="en-US" altLang="zh-CN" dirty="0"/>
          </a:p>
          <a:p>
            <a:pPr lvl="1"/>
            <a:r>
              <a:rPr lang="en-US" altLang="zh-CN" dirty="0"/>
              <a:t>M´=M/v</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22</a:t>
            </a:fld>
            <a:endParaRPr lang="zh-CN" altLang="en-US"/>
          </a:p>
        </p:txBody>
      </p:sp>
    </p:spTree>
    <p:extLst>
      <p:ext uri="{BB962C8B-B14F-4D97-AF65-F5344CB8AC3E}">
        <p14:creationId xmlns:p14="http://schemas.microsoft.com/office/powerpoint/2010/main" val="3213487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剩余价值率和年剩余价值率</a:t>
            </a:r>
          </a:p>
        </p:txBody>
      </p:sp>
      <p:sp>
        <p:nvSpPr>
          <p:cNvPr id="3" name="内容占位符 2"/>
          <p:cNvSpPr>
            <a:spLocks noGrp="1"/>
          </p:cNvSpPr>
          <p:nvPr>
            <p:ph idx="1"/>
          </p:nvPr>
        </p:nvSpPr>
        <p:spPr/>
        <p:txBody>
          <a:bodyPr/>
          <a:lstStyle/>
          <a:p>
            <a:r>
              <a:rPr lang="zh-CN" altLang="en-US" dirty="0"/>
              <a:t>剩余价值率</a:t>
            </a:r>
            <a:endParaRPr lang="en-US" altLang="zh-CN" dirty="0"/>
          </a:p>
          <a:p>
            <a:pPr lvl="1"/>
            <a:r>
              <a:rPr lang="zh-CN" altLang="en-US" dirty="0"/>
              <a:t>剩余价值与预付可变资本的比率，反映资本家对工人的剥削程度</a:t>
            </a:r>
            <a:endParaRPr lang="en-US" altLang="zh-CN" dirty="0"/>
          </a:p>
          <a:p>
            <a:r>
              <a:rPr lang="zh-CN" altLang="en-US" dirty="0"/>
              <a:t>年剩余价值率</a:t>
            </a:r>
            <a:endParaRPr lang="en-US" altLang="zh-CN" dirty="0"/>
          </a:p>
          <a:p>
            <a:pPr lvl="1"/>
            <a:r>
              <a:rPr lang="zh-CN" altLang="en-US" dirty="0"/>
              <a:t>年剩余价值量与预付可变资本的比率，反映的是预付可变资本在一年中的增殖程度</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23</a:t>
            </a:fld>
            <a:endParaRPr lang="zh-CN" altLang="en-US"/>
          </a:p>
        </p:txBody>
      </p:sp>
    </p:spTree>
    <p:extLst>
      <p:ext uri="{BB962C8B-B14F-4D97-AF65-F5344CB8AC3E}">
        <p14:creationId xmlns:p14="http://schemas.microsoft.com/office/powerpoint/2010/main" val="1519002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86AB89-2733-45F3-81B8-02A9BAE42F1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4838A29-84C1-48A2-A557-B3E03494AFDB}"/>
              </a:ext>
            </a:extLst>
          </p:cNvPr>
          <p:cNvSpPr>
            <a:spLocks noGrp="1"/>
          </p:cNvSpPr>
          <p:nvPr>
            <p:ph idx="1"/>
          </p:nvPr>
        </p:nvSpPr>
        <p:spPr/>
        <p:txBody>
          <a:bodyPr/>
          <a:lstStyle/>
          <a:p>
            <a:r>
              <a:rPr lang="zh-CN" altLang="en-US" dirty="0"/>
              <a:t>某资本家投资</a:t>
            </a:r>
            <a:r>
              <a:rPr lang="en-US" altLang="zh-CN" dirty="0"/>
              <a:t>200</a:t>
            </a:r>
            <a:r>
              <a:rPr lang="zh-CN" altLang="en-US" dirty="0"/>
              <a:t>万美元办一个纺纱厂，资本有机构成为</a:t>
            </a:r>
            <a:r>
              <a:rPr lang="en-US" altLang="zh-CN" dirty="0"/>
              <a:t>4:1</a:t>
            </a:r>
            <a:r>
              <a:rPr lang="zh-CN" altLang="en-US" dirty="0"/>
              <a:t>，剩余价值率为</a:t>
            </a:r>
            <a:r>
              <a:rPr lang="en-US" altLang="zh-CN" dirty="0"/>
              <a:t>100%</a:t>
            </a:r>
            <a:r>
              <a:rPr lang="zh-CN" altLang="en-US" dirty="0"/>
              <a:t>，固定资本和流动资本之比为</a:t>
            </a:r>
            <a:r>
              <a:rPr lang="en-US" altLang="zh-CN" dirty="0"/>
              <a:t>3:2</a:t>
            </a:r>
            <a:r>
              <a:rPr lang="zh-CN" altLang="en-US" dirty="0"/>
              <a:t>，固定资本年折旧率为</a:t>
            </a:r>
            <a:r>
              <a:rPr lang="en-US" altLang="zh-CN" dirty="0"/>
              <a:t>10%</a:t>
            </a:r>
            <a:r>
              <a:rPr lang="zh-CN" altLang="en-US" dirty="0"/>
              <a:t>，流动资本每</a:t>
            </a:r>
            <a:r>
              <a:rPr lang="en-US" altLang="zh-CN" dirty="0"/>
              <a:t>4</a:t>
            </a:r>
            <a:r>
              <a:rPr lang="zh-CN" altLang="en-US" dirty="0"/>
              <a:t>个月周转一次。试计算：</a:t>
            </a:r>
          </a:p>
          <a:p>
            <a:r>
              <a:rPr lang="zh-CN" altLang="en-US" dirty="0"/>
              <a:t>（</a:t>
            </a:r>
            <a:r>
              <a:rPr lang="en-US" altLang="zh-CN" dirty="0"/>
              <a:t>1</a:t>
            </a:r>
            <a:r>
              <a:rPr lang="zh-CN" altLang="en-US" dirty="0"/>
              <a:t>）年剩余价值总量是多少？</a:t>
            </a:r>
          </a:p>
          <a:p>
            <a:r>
              <a:rPr lang="zh-CN" altLang="en-US" dirty="0"/>
              <a:t>（</a:t>
            </a:r>
            <a:r>
              <a:rPr lang="en-US" altLang="zh-CN" dirty="0"/>
              <a:t>2</a:t>
            </a:r>
            <a:r>
              <a:rPr lang="zh-CN" altLang="en-US" dirty="0"/>
              <a:t>）年剩余价值率为百分之多少？</a:t>
            </a:r>
          </a:p>
          <a:p>
            <a:r>
              <a:rPr lang="zh-CN" altLang="en-US" dirty="0"/>
              <a:t>（</a:t>
            </a:r>
            <a:r>
              <a:rPr lang="en-US" altLang="zh-CN" dirty="0"/>
              <a:t>3</a:t>
            </a:r>
            <a:r>
              <a:rPr lang="zh-CN" altLang="en-US" dirty="0"/>
              <a:t>）预付资本年总周转速度为多少次？</a:t>
            </a:r>
          </a:p>
          <a:p>
            <a:r>
              <a:rPr lang="zh-CN" altLang="en-US" dirty="0"/>
              <a:t>（</a:t>
            </a:r>
            <a:r>
              <a:rPr lang="en-US" altLang="zh-CN" dirty="0"/>
              <a:t>4</a:t>
            </a:r>
            <a:r>
              <a:rPr lang="zh-CN" altLang="en-US" dirty="0"/>
              <a:t>）年产品的价值总量是多少？</a:t>
            </a:r>
          </a:p>
          <a:p>
            <a:endParaRPr lang="zh-CN" altLang="en-US" dirty="0"/>
          </a:p>
        </p:txBody>
      </p:sp>
      <p:sp>
        <p:nvSpPr>
          <p:cNvPr id="4" name="灯片编号占位符 3">
            <a:extLst>
              <a:ext uri="{FF2B5EF4-FFF2-40B4-BE49-F238E27FC236}">
                <a16:creationId xmlns:a16="http://schemas.microsoft.com/office/drawing/2014/main" id="{F6ECCB5A-2446-4448-AA57-0228E05FC62D}"/>
              </a:ext>
            </a:extLst>
          </p:cNvPr>
          <p:cNvSpPr>
            <a:spLocks noGrp="1"/>
          </p:cNvSpPr>
          <p:nvPr>
            <p:ph type="sldNum" sz="quarter" idx="12"/>
          </p:nvPr>
        </p:nvSpPr>
        <p:spPr/>
        <p:txBody>
          <a:bodyPr/>
          <a:lstStyle/>
          <a:p>
            <a:fld id="{10F2143F-0457-4E80-A290-5DB1806D65E5}" type="slidenum">
              <a:rPr lang="zh-CN" altLang="en-US" smtClean="0"/>
              <a:t>24</a:t>
            </a:fld>
            <a:endParaRPr lang="zh-CN" altLang="en-US"/>
          </a:p>
        </p:txBody>
      </p:sp>
    </p:spTree>
    <p:extLst>
      <p:ext uri="{BB962C8B-B14F-4D97-AF65-F5344CB8AC3E}">
        <p14:creationId xmlns:p14="http://schemas.microsoft.com/office/powerpoint/2010/main" val="42806068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07AF09-DD42-4730-AEF9-5E4CFABA3C7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59DF2DA-0335-41B1-BB1C-513A5D58340F}"/>
              </a:ext>
            </a:extLst>
          </p:cNvPr>
          <p:cNvSpPr>
            <a:spLocks noGrp="1"/>
          </p:cNvSpPr>
          <p:nvPr>
            <p:ph idx="1"/>
          </p:nvPr>
        </p:nvSpPr>
        <p:spPr/>
        <p:txBody>
          <a:bodyPr/>
          <a:lstStyle/>
          <a:p>
            <a:r>
              <a:rPr lang="zh-CN" altLang="en-US" dirty="0"/>
              <a:t>某企业年产</a:t>
            </a:r>
            <a:r>
              <a:rPr lang="en-US" altLang="zh-CN" dirty="0"/>
              <a:t>20</a:t>
            </a:r>
            <a:r>
              <a:rPr lang="zh-CN" altLang="en-US" dirty="0"/>
              <a:t>万件商品。投资固定资本价值</a:t>
            </a:r>
            <a:r>
              <a:rPr lang="en-US" altLang="zh-CN" dirty="0"/>
              <a:t>100</a:t>
            </a:r>
            <a:r>
              <a:rPr lang="zh-CN" altLang="en-US" dirty="0"/>
              <a:t>万美元，平均使用年限为</a:t>
            </a:r>
            <a:r>
              <a:rPr lang="en-US" altLang="zh-CN" dirty="0"/>
              <a:t>5</a:t>
            </a:r>
            <a:r>
              <a:rPr lang="zh-CN" altLang="en-US" dirty="0"/>
              <a:t>年；投入流动资本</a:t>
            </a:r>
            <a:r>
              <a:rPr lang="en-US" altLang="zh-CN" dirty="0"/>
              <a:t>80</a:t>
            </a:r>
            <a:r>
              <a:rPr lang="zh-CN" altLang="en-US" dirty="0"/>
              <a:t>万美元，周转时间为</a:t>
            </a:r>
            <a:r>
              <a:rPr lang="en-US" altLang="zh-CN" dirty="0"/>
              <a:t>3</a:t>
            </a:r>
            <a:r>
              <a:rPr lang="zh-CN" altLang="en-US" dirty="0"/>
              <a:t>个月，其中雇佣工人</a:t>
            </a:r>
            <a:r>
              <a:rPr lang="en-US" altLang="zh-CN" dirty="0"/>
              <a:t>300</a:t>
            </a:r>
            <a:r>
              <a:rPr lang="zh-CN" altLang="en-US" dirty="0"/>
              <a:t>人，月平均工资</a:t>
            </a:r>
            <a:r>
              <a:rPr lang="en-US" altLang="zh-CN" dirty="0"/>
              <a:t>1000</a:t>
            </a:r>
            <a:r>
              <a:rPr lang="zh-CN" altLang="en-US" dirty="0"/>
              <a:t>美元；每件商品社会价值</a:t>
            </a:r>
            <a:r>
              <a:rPr lang="en-US" altLang="zh-CN" dirty="0"/>
              <a:t>100</a:t>
            </a:r>
            <a:r>
              <a:rPr lang="zh-CN" altLang="en-US" dirty="0"/>
              <a:t>美元。求：</a:t>
            </a:r>
          </a:p>
          <a:p>
            <a:r>
              <a:rPr lang="zh-CN" altLang="en-US" dirty="0"/>
              <a:t>（</a:t>
            </a:r>
            <a:r>
              <a:rPr lang="en-US" altLang="zh-CN" dirty="0"/>
              <a:t>1</a:t>
            </a:r>
            <a:r>
              <a:rPr lang="zh-CN" altLang="en-US" dirty="0"/>
              <a:t>）剩余价值率为多少？</a:t>
            </a:r>
          </a:p>
          <a:p>
            <a:r>
              <a:rPr lang="zh-CN" altLang="en-US" dirty="0"/>
              <a:t>（</a:t>
            </a:r>
            <a:r>
              <a:rPr lang="en-US" altLang="zh-CN" dirty="0"/>
              <a:t>2</a:t>
            </a:r>
            <a:r>
              <a:rPr lang="zh-CN" altLang="en-US" dirty="0"/>
              <a:t>）年预付资本周转速度为多少次？</a:t>
            </a:r>
          </a:p>
          <a:p>
            <a:r>
              <a:rPr lang="zh-CN" altLang="en-US" dirty="0"/>
              <a:t>（</a:t>
            </a:r>
            <a:r>
              <a:rPr lang="en-US" altLang="zh-CN" dirty="0"/>
              <a:t>3</a:t>
            </a:r>
            <a:r>
              <a:rPr lang="zh-CN" altLang="en-US" dirty="0"/>
              <a:t>）年剩余价值率为多少？</a:t>
            </a:r>
          </a:p>
          <a:p>
            <a:endParaRPr lang="zh-CN" altLang="en-US" dirty="0"/>
          </a:p>
        </p:txBody>
      </p:sp>
      <p:sp>
        <p:nvSpPr>
          <p:cNvPr id="4" name="灯片编号占位符 3">
            <a:extLst>
              <a:ext uri="{FF2B5EF4-FFF2-40B4-BE49-F238E27FC236}">
                <a16:creationId xmlns:a16="http://schemas.microsoft.com/office/drawing/2014/main" id="{8043D9F0-082A-471B-86F7-DE032965D7CE}"/>
              </a:ext>
            </a:extLst>
          </p:cNvPr>
          <p:cNvSpPr>
            <a:spLocks noGrp="1"/>
          </p:cNvSpPr>
          <p:nvPr>
            <p:ph type="sldNum" sz="quarter" idx="12"/>
          </p:nvPr>
        </p:nvSpPr>
        <p:spPr/>
        <p:txBody>
          <a:bodyPr/>
          <a:lstStyle/>
          <a:p>
            <a:fld id="{10F2143F-0457-4E80-A290-5DB1806D65E5}" type="slidenum">
              <a:rPr lang="zh-CN" altLang="en-US" smtClean="0"/>
              <a:t>25</a:t>
            </a:fld>
            <a:endParaRPr lang="zh-CN" altLang="en-US"/>
          </a:p>
        </p:txBody>
      </p:sp>
    </p:spTree>
    <p:extLst>
      <p:ext uri="{BB962C8B-B14F-4D97-AF65-F5344CB8AC3E}">
        <p14:creationId xmlns:p14="http://schemas.microsoft.com/office/powerpoint/2010/main" val="2810951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r>
              <a:rPr lang="zh-CN" altLang="en-US" dirty="0"/>
              <a:t>第三节 社会总资本的再生产</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26</a:t>
            </a:fld>
            <a:endParaRPr lang="zh-CN" altLang="en-US"/>
          </a:p>
        </p:txBody>
      </p:sp>
    </p:spTree>
    <p:extLst>
      <p:ext uri="{BB962C8B-B14F-4D97-AF65-F5344CB8AC3E}">
        <p14:creationId xmlns:p14="http://schemas.microsoft.com/office/powerpoint/2010/main" val="2368353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社会总产品</a:t>
            </a:r>
          </a:p>
        </p:txBody>
      </p:sp>
      <p:sp>
        <p:nvSpPr>
          <p:cNvPr id="3" name="内容占位符 2"/>
          <p:cNvSpPr>
            <a:spLocks noGrp="1"/>
          </p:cNvSpPr>
          <p:nvPr>
            <p:ph idx="1"/>
          </p:nvPr>
        </p:nvSpPr>
        <p:spPr/>
        <p:txBody>
          <a:bodyPr/>
          <a:lstStyle/>
          <a:p>
            <a:r>
              <a:rPr lang="zh-CN" altLang="en-US" dirty="0"/>
              <a:t>社会各个物质生产部门在一定时期内（通常是</a:t>
            </a:r>
            <a:r>
              <a:rPr lang="en-US" altLang="zh-CN" dirty="0"/>
              <a:t>1</a:t>
            </a:r>
            <a:r>
              <a:rPr lang="zh-CN" altLang="en-US" dirty="0"/>
              <a:t>年）所生产出来的全部物质产品的总和。</a:t>
            </a:r>
            <a:endParaRPr lang="en-US" altLang="zh-CN" dirty="0"/>
          </a:p>
          <a:p>
            <a:r>
              <a:rPr lang="zh-CN" altLang="en-US" dirty="0"/>
              <a:t>社会总产品的价值补偿：</a:t>
            </a:r>
            <a:r>
              <a:rPr lang="zh-CN" altLang="en-US" dirty="0">
                <a:latin typeface="楷体_GB2312" pitchFamily="49" charset="-122"/>
                <a:ea typeface="楷体_GB2312" pitchFamily="49" charset="-122"/>
              </a:rPr>
              <a:t>能否卖出去？</a:t>
            </a:r>
            <a:endParaRPr lang="en-US" altLang="zh-CN" dirty="0"/>
          </a:p>
          <a:p>
            <a:r>
              <a:rPr lang="zh-CN" altLang="en-US" dirty="0"/>
              <a:t>社会总产品的实物补偿：</a:t>
            </a:r>
            <a:r>
              <a:rPr lang="zh-CN" altLang="en-US" dirty="0">
                <a:latin typeface="楷体_GB2312" pitchFamily="49" charset="-122"/>
                <a:ea typeface="楷体_GB2312" pitchFamily="49" charset="-122"/>
              </a:rPr>
              <a:t>卖出去后能否在市场买到自己需要的产品？</a:t>
            </a:r>
            <a:endParaRPr lang="en-US" altLang="zh-CN" dirty="0">
              <a:latin typeface="楷体_GB2312" pitchFamily="49" charset="-122"/>
              <a:ea typeface="楷体_GB2312" pitchFamily="49" charset="-122"/>
            </a:endParaRPr>
          </a:p>
          <a:p>
            <a:r>
              <a:rPr lang="zh-CN" altLang="en-US" dirty="0">
                <a:ea typeface="楷体_GB2312" pitchFamily="49" charset="-122"/>
              </a:rPr>
              <a:t>为什么说社会总产品的实现问题是社会资本再生产的核心问题？</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27</a:t>
            </a:fld>
            <a:endParaRPr lang="zh-CN" altLang="en-US"/>
          </a:p>
        </p:txBody>
      </p:sp>
    </p:spTree>
    <p:extLst>
      <p:ext uri="{BB962C8B-B14F-4D97-AF65-F5344CB8AC3E}">
        <p14:creationId xmlns:p14="http://schemas.microsoft.com/office/powerpoint/2010/main" val="1966155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社会总资本再生产的核心问题</a:t>
            </a:r>
          </a:p>
        </p:txBody>
      </p:sp>
      <p:sp>
        <p:nvSpPr>
          <p:cNvPr id="3" name="内容占位符 2"/>
          <p:cNvSpPr>
            <a:spLocks noGrp="1"/>
          </p:cNvSpPr>
          <p:nvPr>
            <p:ph idx="1"/>
          </p:nvPr>
        </p:nvSpPr>
        <p:spPr/>
        <p:txBody>
          <a:bodyPr/>
          <a:lstStyle/>
          <a:p>
            <a:r>
              <a:rPr lang="zh-CN" altLang="en-US" dirty="0"/>
              <a:t>首先，</a:t>
            </a:r>
            <a:r>
              <a:rPr lang="zh-CN" altLang="en-US" dirty="0">
                <a:ea typeface="楷体_GB2312" pitchFamily="49" charset="-122"/>
              </a:rPr>
              <a:t>资本从商品形态向货币形态的转化，是资本运动的“惊险的跳跃”，它表明既有生产过程是否能顺利完成，同时也表明下一个生产过程能否正常开始。如果社会总产出能够通过交换实现其价值，意味着社会生产所耗费的资本能够在价值上得到相应的补偿，意味着社会资本的周转又回到原来的出发点，并通过重新购买生产要素进入新的再生产。</a:t>
            </a:r>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28</a:t>
            </a:fld>
            <a:endParaRPr lang="zh-CN" altLang="en-US"/>
          </a:p>
        </p:txBody>
      </p:sp>
    </p:spTree>
    <p:extLst>
      <p:ext uri="{BB962C8B-B14F-4D97-AF65-F5344CB8AC3E}">
        <p14:creationId xmlns:p14="http://schemas.microsoft.com/office/powerpoint/2010/main" val="1530199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社会总资本再生产的核心问题</a:t>
            </a:r>
          </a:p>
        </p:txBody>
      </p:sp>
      <p:sp>
        <p:nvSpPr>
          <p:cNvPr id="3" name="内容占位符 2"/>
          <p:cNvSpPr>
            <a:spLocks noGrp="1"/>
          </p:cNvSpPr>
          <p:nvPr>
            <p:ph idx="1"/>
          </p:nvPr>
        </p:nvSpPr>
        <p:spPr/>
        <p:txBody>
          <a:bodyPr>
            <a:normAutofit fontScale="92500"/>
          </a:bodyPr>
          <a:lstStyle/>
          <a:p>
            <a:r>
              <a:rPr lang="zh-CN" altLang="en-US" dirty="0"/>
              <a:t>其次，</a:t>
            </a:r>
            <a:r>
              <a:rPr lang="zh-CN" altLang="en-US" dirty="0">
                <a:latin typeface="楷体_GB2312" pitchFamily="49" charset="-122"/>
                <a:ea typeface="楷体_GB2312" pitchFamily="49" charset="-122"/>
              </a:rPr>
              <a:t>社会再生产的进行不仅要求生产中所耗费的资本</a:t>
            </a:r>
          </a:p>
          <a:p>
            <a:pPr>
              <a:lnSpc>
                <a:spcPct val="135000"/>
              </a:lnSpc>
              <a:buFont typeface="Wingdings" panose="05000000000000000000" pitchFamily="2" charset="2"/>
              <a:buNone/>
            </a:pPr>
            <a:r>
              <a:rPr lang="zh-CN" altLang="en-US" dirty="0">
                <a:latin typeface="楷体_GB2312" pitchFamily="49" charset="-122"/>
                <a:ea typeface="楷体_GB2312" pitchFamily="49" charset="-122"/>
              </a:rPr>
              <a:t>在价值上得到补偿，而且要求资本价值所反映的实际生产过</a:t>
            </a:r>
          </a:p>
          <a:p>
            <a:pPr>
              <a:lnSpc>
                <a:spcPct val="135000"/>
              </a:lnSpc>
              <a:buFont typeface="Wingdings" panose="05000000000000000000" pitchFamily="2" charset="2"/>
              <a:buNone/>
            </a:pPr>
            <a:r>
              <a:rPr lang="zh-CN" altLang="en-US" dirty="0">
                <a:latin typeface="楷体_GB2312" pitchFamily="49" charset="-122"/>
                <a:ea typeface="楷体_GB2312" pitchFamily="49" charset="-122"/>
              </a:rPr>
              <a:t>程所耗费的生产资料和消费资料得到实物的替换。就是说，</a:t>
            </a:r>
          </a:p>
          <a:p>
            <a:pPr>
              <a:lnSpc>
                <a:spcPct val="135000"/>
              </a:lnSpc>
              <a:buFont typeface="Wingdings" panose="05000000000000000000" pitchFamily="2" charset="2"/>
              <a:buNone/>
            </a:pPr>
            <a:r>
              <a:rPr lang="zh-CN" altLang="en-US" dirty="0">
                <a:latin typeface="楷体_GB2312" pitchFamily="49" charset="-122"/>
                <a:ea typeface="楷体_GB2312" pitchFamily="49" charset="-122"/>
              </a:rPr>
              <a:t>社会资本所获得到价值总量要足以用于重新购买所需补偿和</a:t>
            </a:r>
          </a:p>
          <a:p>
            <a:pPr>
              <a:lnSpc>
                <a:spcPct val="135000"/>
              </a:lnSpc>
              <a:buFont typeface="Wingdings" panose="05000000000000000000" pitchFamily="2" charset="2"/>
              <a:buNone/>
            </a:pPr>
            <a:r>
              <a:rPr lang="zh-CN" altLang="en-US" dirty="0">
                <a:latin typeface="楷体_GB2312" pitchFamily="49" charset="-122"/>
                <a:ea typeface="楷体_GB2312" pitchFamily="49" charset="-122"/>
              </a:rPr>
              <a:t>替换的生产要素，从市场上得到的使用价值必须符合再生产</a:t>
            </a:r>
          </a:p>
          <a:p>
            <a:pPr>
              <a:lnSpc>
                <a:spcPct val="135000"/>
              </a:lnSpc>
              <a:buFont typeface="Wingdings" panose="05000000000000000000" pitchFamily="2" charset="2"/>
              <a:buNone/>
            </a:pPr>
            <a:r>
              <a:rPr lang="zh-CN" altLang="en-US" dirty="0">
                <a:latin typeface="楷体_GB2312" pitchFamily="49" charset="-122"/>
                <a:ea typeface="楷体_GB2312" pitchFamily="49" charset="-122"/>
              </a:rPr>
              <a:t>继续进行的需要。如果社会生产的产品在实物总量和结构上</a:t>
            </a:r>
          </a:p>
          <a:p>
            <a:pPr>
              <a:lnSpc>
                <a:spcPct val="135000"/>
              </a:lnSpc>
              <a:buFont typeface="Wingdings" panose="05000000000000000000" pitchFamily="2" charset="2"/>
              <a:buNone/>
            </a:pPr>
            <a:r>
              <a:rPr lang="zh-CN" altLang="en-US" dirty="0">
                <a:latin typeface="楷体_GB2312" pitchFamily="49" charset="-122"/>
                <a:ea typeface="楷体_GB2312" pitchFamily="49" charset="-122"/>
              </a:rPr>
              <a:t>与所耗费和所要补偿的不一致，社会再生产就会遇到困难。</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29</a:t>
            </a:fld>
            <a:endParaRPr lang="zh-CN" altLang="en-US"/>
          </a:p>
        </p:txBody>
      </p:sp>
    </p:spTree>
    <p:extLst>
      <p:ext uri="{BB962C8B-B14F-4D97-AF65-F5344CB8AC3E}">
        <p14:creationId xmlns:p14="http://schemas.microsoft.com/office/powerpoint/2010/main" val="10434768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考察社会资本再生产的理论前提</a:t>
            </a:r>
            <a:endParaRPr lang="zh-CN" altLang="en-US" dirty="0"/>
          </a:p>
        </p:txBody>
      </p:sp>
      <p:sp>
        <p:nvSpPr>
          <p:cNvPr id="3" name="内容占位符 2"/>
          <p:cNvSpPr>
            <a:spLocks noGrp="1"/>
          </p:cNvSpPr>
          <p:nvPr>
            <p:ph idx="1"/>
          </p:nvPr>
        </p:nvSpPr>
        <p:spPr/>
        <p:txBody>
          <a:bodyPr/>
          <a:lstStyle/>
          <a:p>
            <a:r>
              <a:rPr lang="zh-CN" altLang="en-US" dirty="0"/>
              <a:t>实物或使用价值形态来看，两大部类</a:t>
            </a:r>
            <a:endParaRPr lang="en-US" altLang="zh-CN" dirty="0"/>
          </a:p>
          <a:p>
            <a:pPr lvl="1"/>
            <a:r>
              <a:rPr lang="zh-CN" altLang="en-US" dirty="0"/>
              <a:t>生产生产资料的部门</a:t>
            </a:r>
            <a:r>
              <a:rPr lang="en-US" altLang="zh-CN" dirty="0"/>
              <a:t>I</a:t>
            </a:r>
          </a:p>
          <a:p>
            <a:pPr lvl="1"/>
            <a:r>
              <a:rPr lang="zh-CN" altLang="en-US" dirty="0"/>
              <a:t>生产生活资料的部门</a:t>
            </a:r>
            <a:r>
              <a:rPr lang="en-US" altLang="zh-CN" dirty="0"/>
              <a:t>II</a:t>
            </a:r>
          </a:p>
          <a:p>
            <a:r>
              <a:rPr lang="zh-CN" altLang="en-US" dirty="0"/>
              <a:t>价值形态来看，三个组成部分</a:t>
            </a:r>
            <a:endParaRPr lang="en-US" altLang="zh-CN" dirty="0"/>
          </a:p>
          <a:p>
            <a:pPr lvl="1"/>
            <a:r>
              <a:rPr lang="zh-CN" altLang="en-US" dirty="0"/>
              <a:t>不变资本</a:t>
            </a:r>
            <a:r>
              <a:rPr lang="en-US" altLang="zh-CN" dirty="0"/>
              <a:t>c</a:t>
            </a:r>
          </a:p>
          <a:p>
            <a:pPr lvl="1"/>
            <a:r>
              <a:rPr lang="zh-CN" altLang="en-US" dirty="0"/>
              <a:t>可变资本</a:t>
            </a:r>
            <a:r>
              <a:rPr lang="en-US" altLang="zh-CN" dirty="0"/>
              <a:t>v</a:t>
            </a:r>
          </a:p>
          <a:p>
            <a:pPr lvl="1"/>
            <a:r>
              <a:rPr lang="zh-CN" altLang="en-US" dirty="0"/>
              <a:t>剩余价值</a:t>
            </a:r>
            <a:r>
              <a:rPr lang="en-US" altLang="zh-CN" dirty="0"/>
              <a:t>m</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30</a:t>
            </a:fld>
            <a:endParaRPr lang="zh-CN" altLang="en-US"/>
          </a:p>
        </p:txBody>
      </p:sp>
    </p:spTree>
    <p:extLst>
      <p:ext uri="{BB962C8B-B14F-4D97-AF65-F5344CB8AC3E}">
        <p14:creationId xmlns:p14="http://schemas.microsoft.com/office/powerpoint/2010/main" val="4100851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简单再生产及其实现条件</a:t>
            </a:r>
          </a:p>
        </p:txBody>
      </p:sp>
      <p:sp>
        <p:nvSpPr>
          <p:cNvPr id="3" name="内容占位符 2"/>
          <p:cNvSpPr>
            <a:spLocks noGrp="1"/>
          </p:cNvSpPr>
          <p:nvPr>
            <p:ph idx="1"/>
          </p:nvPr>
        </p:nvSpPr>
        <p:spPr/>
        <p:txBody>
          <a:bodyPr>
            <a:normAutofit/>
          </a:bodyPr>
          <a:lstStyle/>
          <a:p>
            <a:r>
              <a:rPr lang="zh-CN" altLang="en-US" dirty="0"/>
              <a:t>简单的案例</a:t>
            </a:r>
            <a:endParaRPr lang="en-US" altLang="zh-CN" dirty="0"/>
          </a:p>
          <a:p>
            <a:pPr lvl="1"/>
            <a:r>
              <a:rPr lang="zh-CN" altLang="en-US" dirty="0"/>
              <a:t>第一部类</a:t>
            </a:r>
            <a:endParaRPr lang="en-US" altLang="zh-CN" dirty="0">
              <a:latin typeface="Times New Roman" panose="02020603050405020304" pitchFamily="18" charset="0"/>
              <a:ea typeface="楷体_GB2312" pitchFamily="49" charset="-122"/>
            </a:endParaRPr>
          </a:p>
          <a:p>
            <a:pPr lvl="2"/>
            <a:r>
              <a:rPr lang="zh-CN" altLang="en-US" dirty="0"/>
              <a:t>实物形态：生产资料</a:t>
            </a:r>
            <a:endParaRPr lang="en-US" altLang="zh-CN" dirty="0"/>
          </a:p>
          <a:p>
            <a:pPr lvl="2"/>
            <a:r>
              <a:rPr lang="zh-CN" altLang="en-US" dirty="0"/>
              <a:t>价值构成</a:t>
            </a:r>
            <a:r>
              <a:rPr lang="en-US" altLang="zh-CN" dirty="0"/>
              <a:t>I </a:t>
            </a:r>
            <a:r>
              <a:rPr lang="zh-CN" altLang="en-US" dirty="0"/>
              <a:t>： </a:t>
            </a:r>
            <a:r>
              <a:rPr lang="en-US" altLang="zh-CN" dirty="0"/>
              <a:t>4000c+1000v+1000m=6000</a:t>
            </a:r>
          </a:p>
          <a:p>
            <a:pPr lvl="1"/>
            <a:r>
              <a:rPr lang="zh-CN" altLang="en-US" dirty="0"/>
              <a:t>第二部类</a:t>
            </a:r>
            <a:endParaRPr lang="en-US" altLang="zh-CN" dirty="0"/>
          </a:p>
          <a:p>
            <a:pPr lvl="2"/>
            <a:r>
              <a:rPr lang="zh-CN" altLang="en-US" dirty="0"/>
              <a:t>实物形态：消费资料</a:t>
            </a:r>
          </a:p>
          <a:p>
            <a:pPr lvl="2"/>
            <a:r>
              <a:rPr lang="zh-CN" altLang="en-US" dirty="0"/>
              <a:t>价值构成</a:t>
            </a:r>
            <a:r>
              <a:rPr lang="en-US" altLang="zh-CN" dirty="0"/>
              <a:t>Ⅱ</a:t>
            </a:r>
            <a:r>
              <a:rPr lang="zh-CN" altLang="en-US" dirty="0"/>
              <a:t>：</a:t>
            </a:r>
            <a:r>
              <a:rPr lang="en-US" altLang="zh-CN" dirty="0"/>
              <a:t>2000c+500v+500m=3000</a:t>
            </a:r>
          </a:p>
          <a:p>
            <a:pPr lvl="2"/>
            <a:endParaRPr lang="en-US" altLang="zh-CN" dirty="0"/>
          </a:p>
          <a:p>
            <a:pPr>
              <a:lnSpc>
                <a:spcPct val="130000"/>
              </a:lnSpc>
              <a:buFont typeface="Wingdings" panose="05000000000000000000" pitchFamily="2" charset="2"/>
              <a:buNone/>
            </a:pPr>
            <a:r>
              <a:rPr lang="en-US" altLang="zh-CN" dirty="0">
                <a:latin typeface="Times New Roman" panose="02020603050405020304" pitchFamily="18" charset="0"/>
                <a:ea typeface="楷体_GB2312" pitchFamily="49" charset="-122"/>
              </a:rPr>
              <a:t>         </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31</a:t>
            </a:fld>
            <a:endParaRPr lang="zh-CN" altLang="en-US"/>
          </a:p>
        </p:txBody>
      </p:sp>
    </p:spTree>
    <p:extLst>
      <p:ext uri="{BB962C8B-B14F-4D97-AF65-F5344CB8AC3E}">
        <p14:creationId xmlns:p14="http://schemas.microsoft.com/office/powerpoint/2010/main" val="1389021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rrowheads="1"/>
          </p:cNvSpPr>
          <p:nvPr>
            <p:ph type="title"/>
          </p:nvPr>
        </p:nvSpPr>
        <p:spPr>
          <a:xfrm>
            <a:off x="467518" y="909637"/>
            <a:ext cx="6408737" cy="576262"/>
          </a:xfrm>
        </p:spPr>
        <p:txBody>
          <a:bodyPr/>
          <a:lstStyle/>
          <a:p>
            <a:r>
              <a:rPr lang="zh-CN" altLang="en-US" dirty="0"/>
              <a:t>简单再生产及其实现条件</a:t>
            </a:r>
            <a:endParaRPr lang="zh-CN" altLang="en-US" sz="2800" dirty="0"/>
          </a:p>
        </p:txBody>
      </p:sp>
      <p:sp>
        <p:nvSpPr>
          <p:cNvPr id="19459" name="Rectangle 3"/>
          <p:cNvSpPr>
            <a:spLocks noGrp="1" noChangeArrowheads="1"/>
          </p:cNvSpPr>
          <p:nvPr>
            <p:ph type="body" idx="1"/>
          </p:nvPr>
        </p:nvSpPr>
        <p:spPr/>
        <p:txBody>
          <a:bodyPr/>
          <a:lstStyle/>
          <a:p>
            <a:pPr>
              <a:buFont typeface="Wingdings" panose="05000000000000000000" pitchFamily="2" charset="2"/>
              <a:buNone/>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基本平衡关系：</a:t>
            </a:r>
          </a:p>
          <a:p>
            <a:pPr>
              <a:buFont typeface="Wingdings" panose="05000000000000000000" pitchFamily="2" charset="2"/>
              <a:buNone/>
            </a:pPr>
            <a:r>
              <a:rPr lang="zh-CN" altLang="en-US" sz="2400" dirty="0">
                <a:latin typeface="楷体_GB2312" pitchFamily="49" charset="-122"/>
                <a:ea typeface="楷体_GB2312" pitchFamily="49" charset="-122"/>
              </a:rPr>
              <a:t> </a:t>
            </a:r>
          </a:p>
          <a:p>
            <a:pPr>
              <a:buFont typeface="Wingdings" panose="05000000000000000000" pitchFamily="2" charset="2"/>
              <a:buNone/>
            </a:pPr>
            <a:r>
              <a:rPr lang="zh-CN" altLang="en-US" sz="2400" dirty="0">
                <a:latin typeface="楷体_GB2312" pitchFamily="49" charset="-122"/>
                <a:ea typeface="楷体_GB2312" pitchFamily="49" charset="-122"/>
              </a:rPr>
              <a:t>          </a:t>
            </a:r>
            <a:r>
              <a:rPr lang="en-US" altLang="zh-CN" sz="2400" dirty="0">
                <a:latin typeface="Times New Roman" panose="02020603050405020304" pitchFamily="18" charset="0"/>
                <a:ea typeface="楷体_GB2312" pitchFamily="49" charset="-122"/>
              </a:rPr>
              <a:t>I </a:t>
            </a:r>
            <a:r>
              <a:rPr lang="zh-CN" altLang="en-US" sz="2400" dirty="0">
                <a:latin typeface="Times New Roman" panose="02020603050405020304" pitchFamily="18" charset="0"/>
                <a:ea typeface="楷体_GB2312" pitchFamily="49" charset="-122"/>
              </a:rPr>
              <a:t>： </a:t>
            </a:r>
            <a:r>
              <a:rPr lang="en-US" altLang="zh-CN" sz="2400" dirty="0">
                <a:latin typeface="Times New Roman" panose="02020603050405020304" pitchFamily="18" charset="0"/>
                <a:ea typeface="楷体_GB2312" pitchFamily="49" charset="-122"/>
              </a:rPr>
              <a:t>4000c+1000v+1000m=6000</a:t>
            </a:r>
          </a:p>
          <a:p>
            <a:pPr>
              <a:buFont typeface="Wingdings" panose="05000000000000000000" pitchFamily="2" charset="2"/>
              <a:buNone/>
            </a:pPr>
            <a:endParaRPr lang="en-US" altLang="zh-CN" sz="2400" dirty="0">
              <a:latin typeface="Times New Roman" panose="02020603050405020304" pitchFamily="18" charset="0"/>
              <a:ea typeface="楷体_GB2312" pitchFamily="49" charset="-122"/>
            </a:endParaRPr>
          </a:p>
          <a:p>
            <a:pPr>
              <a:buFont typeface="Wingdings" panose="05000000000000000000" pitchFamily="2" charset="2"/>
              <a:buNone/>
            </a:pPr>
            <a:endParaRPr lang="en-US" altLang="zh-CN" sz="2400" dirty="0">
              <a:latin typeface="Times New Roman" panose="02020603050405020304" pitchFamily="18" charset="0"/>
              <a:ea typeface="楷体_GB2312" pitchFamily="49" charset="-122"/>
            </a:endParaRPr>
          </a:p>
          <a:p>
            <a:pPr>
              <a:buFont typeface="Wingdings" panose="05000000000000000000" pitchFamily="2" charset="2"/>
              <a:buNone/>
            </a:pPr>
            <a:r>
              <a:rPr lang="en-US" altLang="zh-CN" sz="2400" dirty="0">
                <a:latin typeface="Times New Roman" panose="02020603050405020304" pitchFamily="18" charset="0"/>
                <a:ea typeface="楷体_GB2312" pitchFamily="49" charset="-122"/>
              </a:rPr>
              <a:t>          </a:t>
            </a:r>
          </a:p>
          <a:p>
            <a:pPr>
              <a:buFont typeface="Wingdings" panose="05000000000000000000" pitchFamily="2" charset="2"/>
              <a:buNone/>
            </a:pPr>
            <a:r>
              <a:rPr lang="en-US" altLang="zh-CN" sz="2400" dirty="0">
                <a:latin typeface="Times New Roman" panose="02020603050405020304" pitchFamily="18" charset="0"/>
                <a:ea typeface="楷体_GB2312" pitchFamily="49" charset="-122"/>
              </a:rPr>
              <a:t>                  Ⅱ</a:t>
            </a:r>
            <a:r>
              <a:rPr lang="zh-CN" altLang="en-US" sz="2400" dirty="0">
                <a:latin typeface="Times New Roman" panose="02020603050405020304" pitchFamily="18" charset="0"/>
                <a:ea typeface="楷体_GB2312" pitchFamily="49" charset="-122"/>
              </a:rPr>
              <a:t>：</a:t>
            </a:r>
            <a:r>
              <a:rPr lang="en-US" altLang="zh-CN" sz="2400" dirty="0">
                <a:latin typeface="Times New Roman" panose="02020603050405020304" pitchFamily="18" charset="0"/>
                <a:ea typeface="楷体_GB2312" pitchFamily="49" charset="-122"/>
              </a:rPr>
              <a:t>2000c+500v+500m=3000</a:t>
            </a:r>
          </a:p>
        </p:txBody>
      </p:sp>
      <p:sp>
        <p:nvSpPr>
          <p:cNvPr id="19460" name="Line 4"/>
          <p:cNvSpPr>
            <a:spLocks noChangeShapeType="1"/>
          </p:cNvSpPr>
          <p:nvPr/>
        </p:nvSpPr>
        <p:spPr bwMode="auto">
          <a:xfrm>
            <a:off x="2627313" y="2924175"/>
            <a:ext cx="720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1" name="Line 5"/>
          <p:cNvSpPr>
            <a:spLocks noChangeShapeType="1"/>
          </p:cNvSpPr>
          <p:nvPr/>
        </p:nvSpPr>
        <p:spPr bwMode="auto">
          <a:xfrm>
            <a:off x="3635375" y="2924175"/>
            <a:ext cx="15843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2" name="Line 6"/>
          <p:cNvSpPr>
            <a:spLocks noChangeShapeType="1"/>
          </p:cNvSpPr>
          <p:nvPr/>
        </p:nvSpPr>
        <p:spPr bwMode="auto">
          <a:xfrm>
            <a:off x="2484438" y="4724400"/>
            <a:ext cx="86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3" name="Line 7"/>
          <p:cNvSpPr>
            <a:spLocks noChangeShapeType="1"/>
          </p:cNvSpPr>
          <p:nvPr/>
        </p:nvSpPr>
        <p:spPr bwMode="auto">
          <a:xfrm>
            <a:off x="3563938" y="4724400"/>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4" name="Line 8"/>
          <p:cNvSpPr>
            <a:spLocks noChangeShapeType="1"/>
          </p:cNvSpPr>
          <p:nvPr/>
        </p:nvSpPr>
        <p:spPr bwMode="auto">
          <a:xfrm>
            <a:off x="4356100" y="2924175"/>
            <a:ext cx="0" cy="649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5" name="Line 9"/>
          <p:cNvSpPr>
            <a:spLocks noChangeShapeType="1"/>
          </p:cNvSpPr>
          <p:nvPr/>
        </p:nvSpPr>
        <p:spPr bwMode="auto">
          <a:xfrm>
            <a:off x="2987675" y="3573463"/>
            <a:ext cx="13684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6" name="Line 10"/>
          <p:cNvSpPr>
            <a:spLocks noChangeShapeType="1"/>
          </p:cNvSpPr>
          <p:nvPr/>
        </p:nvSpPr>
        <p:spPr bwMode="auto">
          <a:xfrm>
            <a:off x="2987675" y="3573463"/>
            <a:ext cx="0" cy="7191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7" name="AutoShape 11"/>
          <p:cNvSpPr>
            <a:spLocks noChangeArrowheads="1"/>
          </p:cNvSpPr>
          <p:nvPr/>
        </p:nvSpPr>
        <p:spPr bwMode="auto">
          <a:xfrm>
            <a:off x="611188" y="3429000"/>
            <a:ext cx="1800225" cy="720725"/>
          </a:xfrm>
          <a:prstGeom prst="wedgeRectCallout">
            <a:avLst>
              <a:gd name="adj1" fmla="val 74074"/>
              <a:gd name="adj2" fmla="val -109250"/>
            </a:avLst>
          </a:prstGeom>
          <a:solidFill>
            <a:schemeClr val="accent1"/>
          </a:solidFill>
          <a:ln w="9525">
            <a:solidFill>
              <a:schemeClr val="tx1"/>
            </a:solidFill>
            <a:miter lim="800000"/>
            <a:headEnd/>
            <a:tailEnd/>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第一部类内部的</a:t>
            </a:r>
          </a:p>
          <a:p>
            <a:pPr eaLnBrk="1" hangingPunct="1"/>
            <a:r>
              <a:rPr lang="zh-CN" altLang="en-US"/>
              <a:t>交换</a:t>
            </a:r>
          </a:p>
        </p:txBody>
      </p:sp>
      <p:sp>
        <p:nvSpPr>
          <p:cNvPr id="19468" name="AutoShape 12"/>
          <p:cNvSpPr>
            <a:spLocks noChangeArrowheads="1"/>
          </p:cNvSpPr>
          <p:nvPr/>
        </p:nvSpPr>
        <p:spPr bwMode="auto">
          <a:xfrm>
            <a:off x="6300788" y="3141663"/>
            <a:ext cx="1800225" cy="720725"/>
          </a:xfrm>
          <a:prstGeom prst="wedgeRectCallout">
            <a:avLst>
              <a:gd name="adj1" fmla="val -156347"/>
              <a:gd name="adj2" fmla="val -3083"/>
            </a:avLst>
          </a:prstGeom>
          <a:solidFill>
            <a:schemeClr val="accent1"/>
          </a:solidFill>
          <a:ln w="9525">
            <a:solidFill>
              <a:schemeClr val="tx1"/>
            </a:solidFill>
            <a:miter lim="800000"/>
            <a:headEnd/>
            <a:tailEnd/>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第一、二部类</a:t>
            </a:r>
          </a:p>
          <a:p>
            <a:pPr eaLnBrk="1" hangingPunct="1"/>
            <a:r>
              <a:rPr lang="zh-CN" altLang="en-US"/>
              <a:t>之间的交换</a:t>
            </a:r>
          </a:p>
        </p:txBody>
      </p:sp>
      <p:sp>
        <p:nvSpPr>
          <p:cNvPr id="19469" name="AutoShape 13"/>
          <p:cNvSpPr>
            <a:spLocks noChangeArrowheads="1"/>
          </p:cNvSpPr>
          <p:nvPr/>
        </p:nvSpPr>
        <p:spPr bwMode="auto">
          <a:xfrm>
            <a:off x="6084888" y="5157788"/>
            <a:ext cx="1800225" cy="720725"/>
          </a:xfrm>
          <a:prstGeom prst="wedgeRectCallout">
            <a:avLst>
              <a:gd name="adj1" fmla="val -153968"/>
              <a:gd name="adj2" fmla="val -102644"/>
            </a:avLst>
          </a:prstGeom>
          <a:solidFill>
            <a:schemeClr val="accent1"/>
          </a:solidFill>
          <a:ln w="9525">
            <a:solidFill>
              <a:schemeClr val="tx1"/>
            </a:solidFill>
            <a:miter lim="800000"/>
            <a:headEnd/>
            <a:tailEnd/>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第二部类内部</a:t>
            </a:r>
          </a:p>
          <a:p>
            <a:pPr eaLnBrk="1" hangingPunct="1"/>
            <a:r>
              <a:rPr lang="zh-CN" altLang="en-US"/>
              <a:t>的交换</a:t>
            </a:r>
          </a:p>
        </p:txBody>
      </p:sp>
    </p:spTree>
    <p:extLst>
      <p:ext uri="{BB962C8B-B14F-4D97-AF65-F5344CB8AC3E}">
        <p14:creationId xmlns:p14="http://schemas.microsoft.com/office/powerpoint/2010/main" val="1453365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简单再生产及其实现条件</a:t>
            </a:r>
          </a:p>
        </p:txBody>
      </p:sp>
      <p:sp>
        <p:nvSpPr>
          <p:cNvPr id="3" name="内容占位符 2"/>
          <p:cNvSpPr>
            <a:spLocks noGrp="1"/>
          </p:cNvSpPr>
          <p:nvPr>
            <p:ph idx="1"/>
          </p:nvPr>
        </p:nvSpPr>
        <p:spPr/>
        <p:txBody>
          <a:bodyPr/>
          <a:lstStyle/>
          <a:p>
            <a:r>
              <a:rPr lang="zh-CN" altLang="en-US" dirty="0"/>
              <a:t>第一部类内部平衡：</a:t>
            </a:r>
            <a:endParaRPr lang="en-US" altLang="zh-CN" dirty="0"/>
          </a:p>
          <a:p>
            <a:pPr lvl="1"/>
            <a:r>
              <a:rPr lang="zh-CN" altLang="en-US" dirty="0"/>
              <a:t>为全社会提供生产资料产品，它的全部产出（即</a:t>
            </a:r>
            <a:r>
              <a:rPr lang="en-US" altLang="zh-CN" dirty="0"/>
              <a:t>I</a:t>
            </a:r>
            <a:r>
              <a:rPr lang="zh-CN" altLang="en-US" dirty="0"/>
              <a:t>（</a:t>
            </a:r>
            <a:r>
              <a:rPr lang="en-US" altLang="zh-CN" dirty="0" err="1"/>
              <a:t>c+v+m</a:t>
            </a:r>
            <a:r>
              <a:rPr lang="zh-CN" altLang="en-US" dirty="0"/>
              <a:t>））必须和社会当年包括两大部类在内的为维持简单再生产而需要补偿的生产资料总和（即</a:t>
            </a:r>
            <a:r>
              <a:rPr lang="en-US" altLang="zh-CN" dirty="0" err="1"/>
              <a:t>Ic</a:t>
            </a:r>
            <a:r>
              <a:rPr lang="zh-CN" altLang="en-US" dirty="0"/>
              <a:t>和</a:t>
            </a:r>
            <a:r>
              <a:rPr lang="en-US" altLang="zh-CN" dirty="0" err="1"/>
              <a:t>Ⅱc</a:t>
            </a:r>
            <a:r>
              <a:rPr lang="zh-CN" altLang="en-US" dirty="0"/>
              <a:t>之和）相等。这一关于生产资料的供求之间的平衡关系可以表示为： </a:t>
            </a:r>
            <a:r>
              <a:rPr lang="en-US" altLang="zh-CN" dirty="0"/>
              <a:t>I</a:t>
            </a:r>
            <a:r>
              <a:rPr lang="zh-CN" altLang="en-US" dirty="0"/>
              <a:t>（</a:t>
            </a:r>
            <a:r>
              <a:rPr lang="en-US" altLang="zh-CN" dirty="0" err="1"/>
              <a:t>c+v+m</a:t>
            </a:r>
            <a:r>
              <a:rPr lang="zh-CN" altLang="en-US" dirty="0"/>
              <a:t>）</a:t>
            </a:r>
            <a:r>
              <a:rPr lang="en-US" altLang="zh-CN" dirty="0"/>
              <a:t>= I </a:t>
            </a:r>
            <a:r>
              <a:rPr lang="en-US" altLang="zh-CN" dirty="0" err="1"/>
              <a:t>c+Ⅱc</a:t>
            </a:r>
            <a:endParaRPr lang="en-US" altLang="zh-CN" dirty="0"/>
          </a:p>
          <a:p>
            <a:pPr lvl="1"/>
            <a:r>
              <a:rPr lang="zh-CN" altLang="en-US" dirty="0"/>
              <a:t>这是第一部类产出的实现条件</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33</a:t>
            </a:fld>
            <a:endParaRPr lang="zh-CN" altLang="en-US"/>
          </a:p>
        </p:txBody>
      </p:sp>
    </p:spTree>
    <p:extLst>
      <p:ext uri="{BB962C8B-B14F-4D97-AF65-F5344CB8AC3E}">
        <p14:creationId xmlns:p14="http://schemas.microsoft.com/office/powerpoint/2010/main" val="1566993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简单再生产及其实现条件</a:t>
            </a:r>
          </a:p>
        </p:txBody>
      </p:sp>
      <p:sp>
        <p:nvSpPr>
          <p:cNvPr id="3" name="内容占位符 2"/>
          <p:cNvSpPr>
            <a:spLocks noGrp="1"/>
          </p:cNvSpPr>
          <p:nvPr>
            <p:ph idx="1"/>
          </p:nvPr>
        </p:nvSpPr>
        <p:spPr/>
        <p:txBody>
          <a:bodyPr/>
          <a:lstStyle/>
          <a:p>
            <a:r>
              <a:rPr lang="zh-CN" altLang="en-US" dirty="0"/>
              <a:t>第二部类内部平衡</a:t>
            </a:r>
            <a:endParaRPr lang="en-US" altLang="zh-CN" dirty="0"/>
          </a:p>
          <a:p>
            <a:pPr lvl="1"/>
            <a:r>
              <a:rPr lang="zh-CN" altLang="en-US" dirty="0"/>
              <a:t>为全社会提供消费资料，全部产出（即</a:t>
            </a:r>
            <a:r>
              <a:rPr lang="en-US" altLang="zh-CN" dirty="0"/>
              <a:t>Ⅱ</a:t>
            </a:r>
            <a:r>
              <a:rPr lang="zh-CN" altLang="en-US" dirty="0"/>
              <a:t>（</a:t>
            </a:r>
            <a:r>
              <a:rPr lang="en-US" altLang="zh-CN" dirty="0" err="1"/>
              <a:t>c+v+m</a:t>
            </a:r>
            <a:r>
              <a:rPr lang="zh-CN" altLang="en-US" dirty="0"/>
              <a:t>））必须和社会当年所需要的维持两大部类劳动者和资本家既有规模的消费需求（即</a:t>
            </a:r>
            <a:r>
              <a:rPr lang="en-US" altLang="zh-CN" dirty="0"/>
              <a:t>I</a:t>
            </a:r>
            <a:r>
              <a:rPr lang="zh-CN" altLang="en-US" dirty="0"/>
              <a:t>（</a:t>
            </a:r>
            <a:r>
              <a:rPr lang="en-US" altLang="zh-CN" dirty="0" err="1"/>
              <a:t>v+m</a:t>
            </a:r>
            <a:r>
              <a:rPr lang="zh-CN" altLang="en-US" dirty="0"/>
              <a:t>）与</a:t>
            </a:r>
            <a:r>
              <a:rPr lang="en-US" altLang="zh-CN" dirty="0"/>
              <a:t>Ⅱ</a:t>
            </a:r>
            <a:r>
              <a:rPr lang="zh-CN" altLang="en-US" dirty="0"/>
              <a:t>（</a:t>
            </a:r>
            <a:r>
              <a:rPr lang="en-US" altLang="zh-CN" dirty="0" err="1"/>
              <a:t>v+m</a:t>
            </a:r>
            <a:r>
              <a:rPr lang="en-US" altLang="zh-CN" dirty="0"/>
              <a:t>)</a:t>
            </a:r>
            <a:r>
              <a:rPr lang="zh-CN" altLang="en-US" dirty="0"/>
              <a:t>之和）相等。这一关于消费资料的供求之间的平衡关系可表示为： </a:t>
            </a:r>
            <a:r>
              <a:rPr lang="en-US" altLang="zh-CN" dirty="0"/>
              <a:t>Ⅱ</a:t>
            </a:r>
            <a:r>
              <a:rPr lang="zh-CN" altLang="en-US" dirty="0"/>
              <a:t>（</a:t>
            </a:r>
            <a:r>
              <a:rPr lang="en-US" altLang="zh-CN" dirty="0" err="1"/>
              <a:t>c+v+m</a:t>
            </a:r>
            <a:r>
              <a:rPr lang="zh-CN" altLang="en-US" dirty="0"/>
              <a:t>）</a:t>
            </a:r>
            <a:r>
              <a:rPr lang="en-US" altLang="zh-CN" dirty="0"/>
              <a:t>= I</a:t>
            </a:r>
            <a:r>
              <a:rPr lang="zh-CN" altLang="en-US" dirty="0"/>
              <a:t>（</a:t>
            </a:r>
            <a:r>
              <a:rPr lang="en-US" altLang="zh-CN" dirty="0" err="1"/>
              <a:t>v+m</a:t>
            </a:r>
            <a:r>
              <a:rPr lang="zh-CN" altLang="en-US" dirty="0"/>
              <a:t>）</a:t>
            </a:r>
            <a:r>
              <a:rPr lang="en-US" altLang="zh-CN" dirty="0"/>
              <a:t>+Ⅱ</a:t>
            </a:r>
            <a:r>
              <a:rPr lang="zh-CN" altLang="en-US" dirty="0"/>
              <a:t>（</a:t>
            </a:r>
            <a:r>
              <a:rPr lang="en-US" altLang="zh-CN" dirty="0" err="1"/>
              <a:t>v+m</a:t>
            </a:r>
            <a:r>
              <a:rPr lang="en-US" altLang="zh-CN" dirty="0"/>
              <a:t>)</a:t>
            </a:r>
          </a:p>
          <a:p>
            <a:pPr lvl="1"/>
            <a:r>
              <a:rPr lang="zh-CN" altLang="en-US" dirty="0"/>
              <a:t>这是第二部类产出的实现条件</a:t>
            </a:r>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34</a:t>
            </a:fld>
            <a:endParaRPr lang="zh-CN" altLang="en-US"/>
          </a:p>
        </p:txBody>
      </p:sp>
    </p:spTree>
    <p:extLst>
      <p:ext uri="{BB962C8B-B14F-4D97-AF65-F5344CB8AC3E}">
        <p14:creationId xmlns:p14="http://schemas.microsoft.com/office/powerpoint/2010/main" val="2859278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简单再生产及其实现条件</a:t>
            </a:r>
          </a:p>
        </p:txBody>
      </p:sp>
      <p:sp>
        <p:nvSpPr>
          <p:cNvPr id="3" name="内容占位符 2"/>
          <p:cNvSpPr>
            <a:spLocks noGrp="1"/>
          </p:cNvSpPr>
          <p:nvPr>
            <p:ph idx="1"/>
          </p:nvPr>
        </p:nvSpPr>
        <p:spPr/>
        <p:txBody>
          <a:bodyPr/>
          <a:lstStyle/>
          <a:p>
            <a:r>
              <a:rPr lang="zh-CN" altLang="en-US" dirty="0"/>
              <a:t>第一部类和第二部类之间的平衡关系</a:t>
            </a:r>
            <a:endParaRPr lang="en-US" altLang="zh-CN" dirty="0"/>
          </a:p>
          <a:p>
            <a:pPr lvl="1"/>
            <a:r>
              <a:rPr lang="zh-CN" altLang="en-US" dirty="0"/>
              <a:t>从第一部类和第二部类的平衡关系出发，可以推导出两个部类之间的平衡关系式：      </a:t>
            </a:r>
            <a:r>
              <a:rPr lang="en-US" altLang="zh-CN" dirty="0"/>
              <a:t>I</a:t>
            </a:r>
            <a:r>
              <a:rPr lang="zh-CN" altLang="en-US" dirty="0"/>
              <a:t>（</a:t>
            </a:r>
            <a:r>
              <a:rPr lang="en-US" altLang="zh-CN" dirty="0" err="1"/>
              <a:t>v+m</a:t>
            </a:r>
            <a:r>
              <a:rPr lang="zh-CN" altLang="en-US" dirty="0"/>
              <a:t>）</a:t>
            </a:r>
            <a:r>
              <a:rPr lang="en-US" altLang="zh-CN" dirty="0"/>
              <a:t>= </a:t>
            </a:r>
            <a:r>
              <a:rPr lang="en-US" altLang="zh-CN" dirty="0" err="1"/>
              <a:t>Ⅱc</a:t>
            </a:r>
            <a:r>
              <a:rPr lang="en-US" altLang="zh-CN" dirty="0"/>
              <a:t> </a:t>
            </a:r>
          </a:p>
          <a:p>
            <a:pPr lvl="1"/>
            <a:r>
              <a:rPr lang="zh-CN" altLang="en-US" dirty="0"/>
              <a:t>这个公式将两大部类之间的交换关系简洁的概括出来，是社会简单再生产的基本实现条件</a:t>
            </a:r>
            <a:endParaRPr lang="en-US" altLang="zh-CN" dirty="0"/>
          </a:p>
          <a:p>
            <a:pPr lvl="1"/>
            <a:r>
              <a:rPr lang="zh-CN" altLang="en-US" dirty="0"/>
              <a:t>如果该公式两端不平衡，就意味着有某个部类的产出相对过剩，社会简单再生产就不能正常进行。</a:t>
            </a:r>
          </a:p>
          <a:p>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35</a:t>
            </a:fld>
            <a:endParaRPr lang="zh-CN" altLang="en-US"/>
          </a:p>
        </p:txBody>
      </p:sp>
    </p:spTree>
    <p:extLst>
      <p:ext uri="{BB962C8B-B14F-4D97-AF65-F5344CB8AC3E}">
        <p14:creationId xmlns:p14="http://schemas.microsoft.com/office/powerpoint/2010/main" val="37583468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扩大再生产及其实现条件</a:t>
            </a:r>
          </a:p>
        </p:txBody>
      </p:sp>
      <p:sp>
        <p:nvSpPr>
          <p:cNvPr id="3" name="内容占位符 2"/>
          <p:cNvSpPr>
            <a:spLocks noGrp="1"/>
          </p:cNvSpPr>
          <p:nvPr>
            <p:ph idx="1"/>
          </p:nvPr>
        </p:nvSpPr>
        <p:spPr/>
        <p:txBody>
          <a:bodyPr/>
          <a:lstStyle/>
          <a:p>
            <a:r>
              <a:rPr lang="zh-CN" altLang="en-US" dirty="0"/>
              <a:t>扩大再生产的条件</a:t>
            </a:r>
            <a:endParaRPr lang="en-US" altLang="zh-CN" dirty="0"/>
          </a:p>
          <a:p>
            <a:pPr lvl="1"/>
            <a:r>
              <a:rPr lang="zh-CN" altLang="en-US" dirty="0"/>
              <a:t>假设：剩余价值中用于资本家个人消费的部分是：</a:t>
            </a:r>
            <a:r>
              <a:rPr lang="en-US" altLang="zh-CN" dirty="0"/>
              <a:t>m/x</a:t>
            </a:r>
            <a:r>
              <a:rPr lang="zh-CN" altLang="en-US" dirty="0"/>
              <a:t>，剩余价值中用来积累的部分为：</a:t>
            </a:r>
            <a:r>
              <a:rPr lang="en-US" altLang="zh-CN" dirty="0"/>
              <a:t>m-m/x</a:t>
            </a:r>
            <a:r>
              <a:rPr lang="zh-CN" altLang="en-US" dirty="0"/>
              <a:t>，剩余价值中积累的部分按一定的比例分为追加的不变资本（用△</a:t>
            </a:r>
            <a:r>
              <a:rPr lang="en-US" altLang="zh-CN" dirty="0"/>
              <a:t>c</a:t>
            </a:r>
            <a:r>
              <a:rPr lang="zh-CN" altLang="en-US" dirty="0"/>
              <a:t>表示）和追加的可变资本（用△</a:t>
            </a:r>
            <a:r>
              <a:rPr lang="en-US" altLang="zh-CN" dirty="0"/>
              <a:t>v</a:t>
            </a:r>
            <a:r>
              <a:rPr lang="zh-CN" altLang="en-US" dirty="0"/>
              <a:t>表示</a:t>
            </a:r>
            <a:r>
              <a:rPr lang="en-US" altLang="zh-CN" dirty="0"/>
              <a:t>)</a:t>
            </a:r>
          </a:p>
          <a:p>
            <a:pPr lvl="1"/>
            <a:r>
              <a:rPr lang="zh-CN" altLang="en-US" dirty="0"/>
              <a:t>扩大再生产的前提条件</a:t>
            </a:r>
            <a:endParaRPr lang="en-US" altLang="zh-CN" dirty="0"/>
          </a:p>
          <a:p>
            <a:pPr lvl="2"/>
            <a:r>
              <a:rPr lang="en-US" altLang="zh-CN" dirty="0"/>
              <a:t>I</a:t>
            </a:r>
            <a:r>
              <a:rPr lang="zh-CN" altLang="en-US" dirty="0"/>
              <a:t>（</a:t>
            </a:r>
            <a:r>
              <a:rPr lang="en-US" altLang="zh-CN" dirty="0" err="1"/>
              <a:t>v+m</a:t>
            </a:r>
            <a:r>
              <a:rPr lang="zh-CN" altLang="en-US" dirty="0"/>
              <a:t>）</a:t>
            </a:r>
            <a:r>
              <a:rPr lang="en-US" altLang="zh-CN" dirty="0"/>
              <a:t>&gt;II</a:t>
            </a:r>
            <a:r>
              <a:rPr lang="zh-CN" altLang="en-US" dirty="0"/>
              <a:t>（</a:t>
            </a:r>
            <a:r>
              <a:rPr lang="en-US" altLang="zh-CN" dirty="0"/>
              <a:t>c</a:t>
            </a:r>
            <a:r>
              <a:rPr lang="zh-CN" altLang="en-US" dirty="0"/>
              <a:t>）</a:t>
            </a:r>
            <a:endParaRPr lang="en-US" altLang="zh-CN" dirty="0"/>
          </a:p>
          <a:p>
            <a:pPr lvl="2"/>
            <a:r>
              <a:rPr lang="en-US" altLang="zh-CN" dirty="0"/>
              <a:t>II[c+</a:t>
            </a:r>
            <a:r>
              <a:rPr lang="zh-CN" altLang="en-US" dirty="0"/>
              <a:t>（</a:t>
            </a:r>
            <a:r>
              <a:rPr lang="en-US" altLang="zh-CN" dirty="0"/>
              <a:t>m-m/x</a:t>
            </a:r>
            <a:r>
              <a:rPr lang="zh-CN" altLang="en-US" dirty="0"/>
              <a:t>）</a:t>
            </a:r>
            <a:r>
              <a:rPr lang="en-US" altLang="zh-CN" dirty="0"/>
              <a:t>]&gt;I[</a:t>
            </a:r>
            <a:r>
              <a:rPr lang="en-US" altLang="zh-CN" dirty="0" err="1"/>
              <a:t>v+m</a:t>
            </a:r>
            <a:r>
              <a:rPr lang="en-US" altLang="zh-CN" dirty="0"/>
              <a:t>/x]</a:t>
            </a:r>
            <a:endParaRPr lang="zh-CN" altLang="en-US" dirty="0"/>
          </a:p>
          <a:p>
            <a:pPr lvl="1"/>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36</a:t>
            </a:fld>
            <a:endParaRPr lang="zh-CN" altLang="en-US"/>
          </a:p>
        </p:txBody>
      </p:sp>
    </p:spTree>
    <p:extLst>
      <p:ext uri="{BB962C8B-B14F-4D97-AF65-F5344CB8AC3E}">
        <p14:creationId xmlns:p14="http://schemas.microsoft.com/office/powerpoint/2010/main" val="7028997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dirty="0"/>
              <a:t>扩大再生产的实现条件</a:t>
            </a:r>
          </a:p>
        </p:txBody>
      </p:sp>
      <p:sp>
        <p:nvSpPr>
          <p:cNvPr id="28675" name="内容占位符 2"/>
          <p:cNvSpPr>
            <a:spLocks noGrp="1"/>
          </p:cNvSpPr>
          <p:nvPr>
            <p:ph idx="1"/>
          </p:nvPr>
        </p:nvSpPr>
        <p:spPr/>
        <p:txBody>
          <a:bodyPr/>
          <a:lstStyle/>
          <a:p>
            <a:r>
              <a:rPr lang="zh-CN" altLang="en-US" dirty="0"/>
              <a:t>第一部类：</a:t>
            </a:r>
            <a:r>
              <a:rPr lang="en-US" altLang="zh-CN" dirty="0"/>
              <a:t>I</a:t>
            </a:r>
            <a:r>
              <a:rPr lang="zh-CN" altLang="en-US" dirty="0"/>
              <a:t>（</a:t>
            </a:r>
            <a:r>
              <a:rPr lang="en-US" altLang="zh-CN" dirty="0" err="1"/>
              <a:t>v+m</a:t>
            </a:r>
            <a:r>
              <a:rPr lang="zh-CN" altLang="en-US" dirty="0"/>
              <a:t>）</a:t>
            </a:r>
            <a:r>
              <a:rPr lang="en-US" altLang="zh-CN" dirty="0"/>
              <a:t>=II</a:t>
            </a:r>
            <a:r>
              <a:rPr lang="zh-CN" altLang="en-US" dirty="0"/>
              <a:t>（</a:t>
            </a:r>
            <a:r>
              <a:rPr lang="en-US" altLang="zh-CN" dirty="0"/>
              <a:t>c+∆c</a:t>
            </a:r>
            <a:r>
              <a:rPr lang="zh-CN" altLang="en-US" dirty="0"/>
              <a:t>）</a:t>
            </a:r>
            <a:r>
              <a:rPr lang="en-US" altLang="zh-CN" dirty="0"/>
              <a:t>+I</a:t>
            </a:r>
            <a:r>
              <a:rPr lang="zh-CN" altLang="en-US" dirty="0"/>
              <a:t>（</a:t>
            </a:r>
            <a:r>
              <a:rPr lang="en-US" altLang="zh-CN" dirty="0"/>
              <a:t> ∆c </a:t>
            </a:r>
            <a:r>
              <a:rPr lang="zh-CN" altLang="en-US" dirty="0"/>
              <a:t>）</a:t>
            </a:r>
            <a:endParaRPr lang="en-US" altLang="zh-CN" dirty="0"/>
          </a:p>
          <a:p>
            <a:r>
              <a:rPr lang="zh-CN" altLang="en-US" dirty="0"/>
              <a:t>第二部类：</a:t>
            </a:r>
            <a:r>
              <a:rPr lang="en-US" altLang="zh-CN" dirty="0"/>
              <a:t>II[c+</a:t>
            </a:r>
            <a:r>
              <a:rPr lang="zh-CN" altLang="en-US" dirty="0"/>
              <a:t>（</a:t>
            </a:r>
            <a:r>
              <a:rPr lang="en-US" altLang="zh-CN" dirty="0"/>
              <a:t>m-m/x</a:t>
            </a:r>
            <a:r>
              <a:rPr lang="zh-CN" altLang="en-US" dirty="0"/>
              <a:t>）</a:t>
            </a:r>
            <a:r>
              <a:rPr lang="en-US" altLang="zh-CN" dirty="0"/>
              <a:t>]=I(v+ ∆</a:t>
            </a:r>
            <a:r>
              <a:rPr lang="en-US" altLang="zh-CN" dirty="0" err="1"/>
              <a:t>v+m</a:t>
            </a:r>
            <a:r>
              <a:rPr lang="en-US" altLang="zh-CN" dirty="0"/>
              <a:t>/x)+II(∆v)</a:t>
            </a:r>
          </a:p>
          <a:p>
            <a:r>
              <a:rPr lang="zh-CN" altLang="en-US" dirty="0"/>
              <a:t>交换：</a:t>
            </a:r>
            <a:r>
              <a:rPr lang="en-US" altLang="zh-CN" dirty="0"/>
              <a:t>I[v+ ∆v +m/x</a:t>
            </a:r>
            <a:r>
              <a:rPr lang="zh-CN" altLang="en-US" dirty="0"/>
              <a:t>）</a:t>
            </a:r>
            <a:r>
              <a:rPr lang="en-US" altLang="zh-CN" dirty="0"/>
              <a:t>]=II(c+∆c)</a:t>
            </a:r>
            <a:endParaRPr lang="zh-CN" altLang="en-US" dirty="0"/>
          </a:p>
        </p:txBody>
      </p:sp>
    </p:spTree>
    <p:extLst>
      <p:ext uri="{BB962C8B-B14F-4D97-AF65-F5344CB8AC3E}">
        <p14:creationId xmlns:p14="http://schemas.microsoft.com/office/powerpoint/2010/main" val="1164646127"/>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516</TotalTime>
  <Words>2186</Words>
  <Application>Microsoft Office PowerPoint</Application>
  <PresentationFormat>全屏显示(4:3)</PresentationFormat>
  <Paragraphs>288</Paragraphs>
  <Slides>37</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楷体_GB2312</vt:lpstr>
      <vt:lpstr>微软雅黑</vt:lpstr>
      <vt:lpstr>Arial</vt:lpstr>
      <vt:lpstr>Calibri</vt:lpstr>
      <vt:lpstr>Calibri Light</vt:lpstr>
      <vt:lpstr>Garamond</vt:lpstr>
      <vt:lpstr>Times New Roman</vt:lpstr>
      <vt:lpstr>Wingdings</vt:lpstr>
      <vt:lpstr>Office 主题</vt:lpstr>
      <vt:lpstr>第六章 资本主义流通</vt:lpstr>
      <vt:lpstr>主要内容</vt:lpstr>
      <vt:lpstr>资本的形态</vt:lpstr>
      <vt:lpstr>PowerPoint 演示文稿</vt:lpstr>
      <vt:lpstr>产业资本</vt:lpstr>
      <vt:lpstr>产业资本的循环</vt:lpstr>
      <vt:lpstr>资本的循环</vt:lpstr>
      <vt:lpstr>产业资本正常循环的条件</vt:lpstr>
      <vt:lpstr>资本循环时间：生产时间和流通时间之和</vt:lpstr>
      <vt:lpstr>PowerPoint 演示文稿</vt:lpstr>
      <vt:lpstr>资本周转和资本周转速度</vt:lpstr>
      <vt:lpstr>资本周转次数</vt:lpstr>
      <vt:lpstr>生产资本构成</vt:lpstr>
      <vt:lpstr>固定资本的价值转移</vt:lpstr>
      <vt:lpstr>固定资本的损耗</vt:lpstr>
      <vt:lpstr>资本构成示意图</vt:lpstr>
      <vt:lpstr>资本两种分类的差异</vt:lpstr>
      <vt:lpstr>预付资本的总周转</vt:lpstr>
      <vt:lpstr>资本周转速度的影响因素</vt:lpstr>
      <vt:lpstr>例题分析</vt:lpstr>
      <vt:lpstr>提高资本周转速度的意义和途径</vt:lpstr>
      <vt:lpstr>年剩余价值量和年剩余价值率</vt:lpstr>
      <vt:lpstr>剩余价值率和年剩余价值率</vt:lpstr>
      <vt:lpstr>PowerPoint 演示文稿</vt:lpstr>
      <vt:lpstr>PowerPoint 演示文稿</vt:lpstr>
      <vt:lpstr>PowerPoint 演示文稿</vt:lpstr>
      <vt:lpstr>社会总产品</vt:lpstr>
      <vt:lpstr>社会总资本再生产的核心问题</vt:lpstr>
      <vt:lpstr>社会总资本再生产的核心问题</vt:lpstr>
      <vt:lpstr>考察社会资本再生产的理论前提</vt:lpstr>
      <vt:lpstr>简单再生产及其实现条件</vt:lpstr>
      <vt:lpstr>简单再生产及其实现条件</vt:lpstr>
      <vt:lpstr>简单再生产及其实现条件</vt:lpstr>
      <vt:lpstr>简单再生产及其实现条件</vt:lpstr>
      <vt:lpstr>简单再生产及其实现条件</vt:lpstr>
      <vt:lpstr>扩大再生产及其实现条件</vt:lpstr>
      <vt:lpstr>扩大再生产的实现条件</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王成城</dc:creator>
  <cp:lastModifiedBy>jiang</cp:lastModifiedBy>
  <cp:revision>40</cp:revision>
  <dcterms:created xsi:type="dcterms:W3CDTF">2013-11-29T11:59:20Z</dcterms:created>
  <dcterms:modified xsi:type="dcterms:W3CDTF">2023-11-21T15:30:50Z</dcterms:modified>
</cp:coreProperties>
</file>
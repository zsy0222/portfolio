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5"/>
  </p:notesMasterIdLst>
  <p:sldIdLst>
    <p:sldId id="256" r:id="rId2"/>
    <p:sldId id="257" r:id="rId3"/>
    <p:sldId id="258" r:id="rId4"/>
    <p:sldId id="265" r:id="rId5"/>
    <p:sldId id="268" r:id="rId6"/>
    <p:sldId id="266" r:id="rId7"/>
    <p:sldId id="295" r:id="rId8"/>
    <p:sldId id="260" r:id="rId9"/>
    <p:sldId id="261" r:id="rId10"/>
    <p:sldId id="262" r:id="rId11"/>
    <p:sldId id="263" r:id="rId12"/>
    <p:sldId id="264" r:id="rId13"/>
    <p:sldId id="269" r:id="rId14"/>
    <p:sldId id="271" r:id="rId15"/>
    <p:sldId id="272" r:id="rId16"/>
    <p:sldId id="273" r:id="rId17"/>
    <p:sldId id="274" r:id="rId18"/>
    <p:sldId id="270"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96" r:id="rId34"/>
    <p:sldId id="297" r:id="rId35"/>
    <p:sldId id="298" r:id="rId36"/>
    <p:sldId id="299" r:id="rId37"/>
    <p:sldId id="300" r:id="rId38"/>
    <p:sldId id="305" r:id="rId39"/>
    <p:sldId id="306" r:id="rId40"/>
    <p:sldId id="301" r:id="rId41"/>
    <p:sldId id="307" r:id="rId42"/>
    <p:sldId id="302" r:id="rId43"/>
    <p:sldId id="303" r:id="rId4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81" autoAdjust="0"/>
    <p:restoredTop sz="94660"/>
  </p:normalViewPr>
  <p:slideViewPr>
    <p:cSldViewPr snapToGrid="0">
      <p:cViewPr varScale="1">
        <p:scale>
          <a:sx n="73" d="100"/>
          <a:sy n="73" d="100"/>
        </p:scale>
        <p:origin x="1194" y="6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39002E-6663-44C7-8136-2276ECC2B749}" type="datetimeFigureOut">
              <a:rPr lang="zh-CN" altLang="en-US" smtClean="0"/>
              <a:t>2021/11/4</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BD2699-BFC2-46FE-A849-DE58F412D66F}" type="slidenum">
              <a:rPr lang="zh-CN" altLang="en-US" smtClean="0"/>
              <a:t>‹#›</a:t>
            </a:fld>
            <a:endParaRPr lang="zh-CN" altLang="en-US"/>
          </a:p>
        </p:txBody>
      </p:sp>
    </p:spTree>
    <p:extLst>
      <p:ext uri="{BB962C8B-B14F-4D97-AF65-F5344CB8AC3E}">
        <p14:creationId xmlns:p14="http://schemas.microsoft.com/office/powerpoint/2010/main" val="1522169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fld id="{1416DE2F-5228-431E-8C22-0B478578DEE1}" type="slidenum">
              <a:rPr lang="en-US" altLang="zh-CN">
                <a:latin typeface="Arial" panose="020B0604020202020204" pitchFamily="34" charset="0"/>
              </a:rPr>
              <a:pPr eaLnBrk="1" hangingPunct="1"/>
              <a:t>4</a:t>
            </a:fld>
            <a:endParaRPr lang="en-US" altLang="zh-CN">
              <a:latin typeface="Arial" panose="020B0604020202020204" pitchFamily="34" charset="0"/>
            </a:endParaRPr>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extLst>
      <p:ext uri="{BB962C8B-B14F-4D97-AF65-F5344CB8AC3E}">
        <p14:creationId xmlns:p14="http://schemas.microsoft.com/office/powerpoint/2010/main" val="2287080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fld id="{0D412CC9-61B3-4825-80ED-DB7CC74FC25D}" type="slidenum">
              <a:rPr lang="en-US" altLang="zh-CN">
                <a:latin typeface="Arial" panose="020B0604020202020204" pitchFamily="34" charset="0"/>
              </a:rPr>
              <a:pPr eaLnBrk="1" hangingPunct="1"/>
              <a:t>6</a:t>
            </a:fld>
            <a:endParaRPr lang="en-US" altLang="zh-CN">
              <a:latin typeface="Arial" panose="020B0604020202020204" pitchFamily="34" charset="0"/>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extLst>
      <p:ext uri="{BB962C8B-B14F-4D97-AF65-F5344CB8AC3E}">
        <p14:creationId xmlns:p14="http://schemas.microsoft.com/office/powerpoint/2010/main" val="2663261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fld id="{08B4E0A1-FE11-4869-9C15-D7C8AE460D88}" type="slidenum">
              <a:rPr lang="en-US" altLang="zh-CN">
                <a:latin typeface="Arial" panose="020B0604020202020204" pitchFamily="34" charset="0"/>
              </a:rPr>
              <a:pPr eaLnBrk="1" hangingPunct="1"/>
              <a:t>15</a:t>
            </a:fld>
            <a:endParaRPr lang="en-US" altLang="zh-CN">
              <a:latin typeface="Arial" panose="020B0604020202020204" pitchFamily="34"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extLst>
      <p:ext uri="{BB962C8B-B14F-4D97-AF65-F5344CB8AC3E}">
        <p14:creationId xmlns:p14="http://schemas.microsoft.com/office/powerpoint/2010/main" val="3225524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fld id="{9F926914-A93C-4FB9-8412-FEC9AF27AD67}" type="slidenum">
              <a:rPr lang="en-US" altLang="zh-CN">
                <a:latin typeface="Arial" panose="020B0604020202020204" pitchFamily="34" charset="0"/>
              </a:rPr>
              <a:pPr eaLnBrk="1" hangingPunct="1"/>
              <a:t>16</a:t>
            </a:fld>
            <a:endParaRPr lang="en-US" altLang="zh-CN">
              <a:latin typeface="Arial" panose="020B0604020202020204" pitchFamily="34" charset="0"/>
            </a:endParaRPr>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extLst>
      <p:ext uri="{BB962C8B-B14F-4D97-AF65-F5344CB8AC3E}">
        <p14:creationId xmlns:p14="http://schemas.microsoft.com/office/powerpoint/2010/main" val="10093858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4133" y="2404536"/>
            <a:ext cx="7772400" cy="715963"/>
          </a:xfrm>
        </p:spPr>
        <p:txBody>
          <a:bodyPr anchor="b">
            <a:normAutofit/>
          </a:bodyPr>
          <a:lstStyle>
            <a:lvl1pPr algn="l">
              <a:defRPr sz="360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en-US" dirty="0"/>
          </a:p>
        </p:txBody>
      </p:sp>
      <p:sp>
        <p:nvSpPr>
          <p:cNvPr id="3" name="Subtitle 2"/>
          <p:cNvSpPr>
            <a:spLocks noGrp="1"/>
          </p:cNvSpPr>
          <p:nvPr>
            <p:ph type="subTitle" idx="1" hasCustomPrompt="1"/>
          </p:nvPr>
        </p:nvSpPr>
        <p:spPr>
          <a:xfrm>
            <a:off x="533399" y="3407310"/>
            <a:ext cx="6858000" cy="495829"/>
          </a:xfrm>
        </p:spPr>
        <p:txBody>
          <a:bodyPr>
            <a:normAutofit/>
          </a:bodyPr>
          <a:lstStyle>
            <a:lvl1pPr marL="0" indent="0" algn="l">
              <a:buNone/>
              <a:defRPr sz="2000" baseline="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dirty="0" smtClean="0"/>
              <a:t>— </a:t>
            </a:r>
            <a:r>
              <a:rPr lang="zh-CN" altLang="en-US" dirty="0" smtClean="0"/>
              <a:t>单击此处编辑母版副标题样式</a:t>
            </a:r>
            <a:endParaRPr lang="en-US" dirty="0"/>
          </a:p>
        </p:txBody>
      </p:sp>
      <p:sp>
        <p:nvSpPr>
          <p:cNvPr id="4" name="Date Placeholder 3"/>
          <p:cNvSpPr>
            <a:spLocks noGrp="1"/>
          </p:cNvSpPr>
          <p:nvPr>
            <p:ph type="dt" sz="half" idx="10"/>
          </p:nvPr>
        </p:nvSpPr>
        <p:spPr/>
        <p:txBody>
          <a:bodyPr/>
          <a:lstStyle/>
          <a:p>
            <a:fld id="{261D6E3F-3296-44D2-823C-DE11DCBDC05C}" type="datetime1">
              <a:rPr lang="zh-CN" altLang="en-US" smtClean="0"/>
              <a:t>2021/11/4</a:t>
            </a:fld>
            <a:endParaRPr lang="zh-CN" altLang="en-US"/>
          </a:p>
        </p:txBody>
      </p:sp>
      <p:sp>
        <p:nvSpPr>
          <p:cNvPr id="5" name="Footer Placeholder 4"/>
          <p:cNvSpPr>
            <a:spLocks noGrp="1"/>
          </p:cNvSpPr>
          <p:nvPr>
            <p:ph type="ftr" sz="quarter" idx="11"/>
          </p:nvPr>
        </p:nvSpPr>
        <p:spPr>
          <a:xfrm>
            <a:off x="3028950" y="6533093"/>
            <a:ext cx="3086100" cy="365125"/>
          </a:xfrm>
        </p:spPr>
        <p:txBody>
          <a:bodyPr/>
          <a:lstStyle>
            <a:lvl1pPr>
              <a:defRPr>
                <a:solidFill>
                  <a:schemeClr val="bg2">
                    <a:lumMod val="25000"/>
                  </a:schemeClr>
                </a:solidFill>
              </a:defRPr>
            </a:lvl1pPr>
          </a:lstStyle>
          <a:p>
            <a:r>
              <a:rPr lang="zh-CN" altLang="en-US" dirty="0" smtClean="0"/>
              <a:t>南京大学商学院</a:t>
            </a:r>
            <a:endParaRPr lang="zh-CN" altLang="en-US" dirty="0"/>
          </a:p>
        </p:txBody>
      </p:sp>
      <p:sp>
        <p:nvSpPr>
          <p:cNvPr id="6" name="Slide Number Placeholder 5"/>
          <p:cNvSpPr>
            <a:spLocks noGrp="1"/>
          </p:cNvSpPr>
          <p:nvPr>
            <p:ph type="sldNum" sz="quarter" idx="12"/>
          </p:nvPr>
        </p:nvSpPr>
        <p:spPr/>
        <p:txBody>
          <a:bodyPr/>
          <a:lstStyle/>
          <a:p>
            <a:fld id="{10F2143F-0457-4E80-A290-5DB1806D65E5}" type="slidenum">
              <a:rPr lang="zh-CN" altLang="en-US" smtClean="0"/>
              <a:t>‹#›</a:t>
            </a:fld>
            <a:endParaRPr lang="zh-CN" altLang="en-US"/>
          </a:p>
        </p:txBody>
      </p:sp>
    </p:spTree>
    <p:extLst>
      <p:ext uri="{BB962C8B-B14F-4D97-AF65-F5344CB8AC3E}">
        <p14:creationId xmlns:p14="http://schemas.microsoft.com/office/powerpoint/2010/main" val="1162771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804332"/>
            <a:ext cx="5755217" cy="778931"/>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628650" y="1701799"/>
            <a:ext cx="7886700" cy="4555067"/>
          </a:xfrm>
        </p:spPr>
        <p:txBody>
          <a:bodyPr/>
          <a:lstStyle>
            <a:lvl1pPr>
              <a:lnSpc>
                <a:spcPct val="150000"/>
              </a:lnSpc>
              <a:spcBef>
                <a:spcPts val="0"/>
              </a:spcBef>
              <a:defRPr sz="2400" baseline="0">
                <a:latin typeface="微软雅黑" panose="020B0503020204020204" pitchFamily="34" charset="-122"/>
                <a:ea typeface="微软雅黑" panose="020B0503020204020204" pitchFamily="34" charset="-122"/>
              </a:defRPr>
            </a:lvl1pPr>
            <a:lvl2pPr>
              <a:lnSpc>
                <a:spcPct val="150000"/>
              </a:lnSpc>
              <a:spcBef>
                <a:spcPts val="0"/>
              </a:spcBef>
              <a:defRPr sz="2000" baseline="0">
                <a:latin typeface="微软雅黑" panose="020B0503020204020204" pitchFamily="34" charset="-122"/>
                <a:ea typeface="微软雅黑" panose="020B0503020204020204" pitchFamily="34" charset="-122"/>
              </a:defRPr>
            </a:lvl2pPr>
            <a:lvl3pPr>
              <a:lnSpc>
                <a:spcPct val="150000"/>
              </a:lnSpc>
              <a:spcBef>
                <a:spcPts val="0"/>
              </a:spcBef>
              <a:defRPr>
                <a:latin typeface="微软雅黑" panose="020B0503020204020204" pitchFamily="34" charset="-122"/>
                <a:ea typeface="微软雅黑" panose="020B0503020204020204" pitchFamily="34" charset="-122"/>
              </a:defRPr>
            </a:lvl3pPr>
            <a:lvl4pPr>
              <a:lnSpc>
                <a:spcPct val="150000"/>
              </a:lnSpc>
              <a:spcBef>
                <a:spcPts val="0"/>
              </a:spcBef>
              <a:defRPr>
                <a:latin typeface="微软雅黑" panose="020B0503020204020204" pitchFamily="34" charset="-122"/>
                <a:ea typeface="微软雅黑" panose="020B0503020204020204" pitchFamily="34" charset="-122"/>
              </a:defRPr>
            </a:lvl4pPr>
            <a:lvl5pPr>
              <a:lnSpc>
                <a:spcPct val="150000"/>
              </a:lnSpc>
              <a:spcBef>
                <a:spcPts val="0"/>
              </a:spcBef>
              <a:defRPr>
                <a:latin typeface="微软雅黑" panose="020B0503020204020204" pitchFamily="34" charset="-122"/>
                <a:ea typeface="微软雅黑" panose="020B0503020204020204" pitchFamily="34"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4" name="Date Placeholder 3"/>
          <p:cNvSpPr>
            <a:spLocks noGrp="1"/>
          </p:cNvSpPr>
          <p:nvPr>
            <p:ph type="dt" sz="half" idx="10"/>
          </p:nvPr>
        </p:nvSpPr>
        <p:spPr/>
        <p:txBody>
          <a:bodyPr/>
          <a:lstStyle/>
          <a:p>
            <a:fld id="{E0D2E42A-1E66-431D-BB59-EBF8D47B9C24}" type="datetime1">
              <a:rPr lang="zh-CN" altLang="en-US" smtClean="0"/>
              <a:t>2021/11/4</a:t>
            </a:fld>
            <a:endParaRPr lang="zh-CN" altLang="en-US"/>
          </a:p>
        </p:txBody>
      </p:sp>
      <p:sp>
        <p:nvSpPr>
          <p:cNvPr id="5" name="Footer Placeholder 4"/>
          <p:cNvSpPr>
            <a:spLocks noGrp="1"/>
          </p:cNvSpPr>
          <p:nvPr>
            <p:ph type="ftr" sz="quarter" idx="11"/>
          </p:nvPr>
        </p:nvSpPr>
        <p:spPr>
          <a:xfrm>
            <a:off x="3028950" y="6519864"/>
            <a:ext cx="3086100" cy="365125"/>
          </a:xfrm>
        </p:spPr>
        <p:txBody>
          <a:bodyPr/>
          <a:lstStyle>
            <a:lvl1pPr>
              <a:defRPr>
                <a:solidFill>
                  <a:schemeClr val="bg2">
                    <a:lumMod val="25000"/>
                  </a:schemeClr>
                </a:solidFill>
              </a:defRPr>
            </a:lvl1pPr>
          </a:lstStyle>
          <a:p>
            <a:r>
              <a:rPr lang="zh-CN" altLang="en-US" dirty="0" smtClean="0"/>
              <a:t>南京大学商学院</a:t>
            </a:r>
            <a:endParaRPr lang="zh-CN" altLang="en-US" dirty="0"/>
          </a:p>
        </p:txBody>
      </p:sp>
      <p:sp>
        <p:nvSpPr>
          <p:cNvPr id="6" name="Slide Number Placeholder 5"/>
          <p:cNvSpPr>
            <a:spLocks noGrp="1"/>
          </p:cNvSpPr>
          <p:nvPr>
            <p:ph type="sldNum" sz="quarter" idx="12"/>
          </p:nvPr>
        </p:nvSpPr>
        <p:spPr/>
        <p:txBody>
          <a:bodyPr/>
          <a:lstStyle/>
          <a:p>
            <a:fld id="{10F2143F-0457-4E80-A290-5DB1806D65E5}" type="slidenum">
              <a:rPr lang="zh-CN" altLang="en-US" smtClean="0"/>
              <a:t>‹#›</a:t>
            </a:fld>
            <a:endParaRPr lang="zh-CN" altLang="en-US"/>
          </a:p>
        </p:txBody>
      </p:sp>
    </p:spTree>
    <p:extLst>
      <p:ext uri="{BB962C8B-B14F-4D97-AF65-F5344CB8AC3E}">
        <p14:creationId xmlns:p14="http://schemas.microsoft.com/office/powerpoint/2010/main" val="8980666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9AFE1E-691E-4A3D-978C-4DE990FF2C2C}" type="datetime1">
              <a:rPr lang="zh-CN" altLang="en-US" smtClean="0"/>
              <a:t>2021/11/4</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smtClean="0"/>
              <a:t>南京大学商学院</a:t>
            </a:r>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F2143F-0457-4E80-A290-5DB1806D65E5}" type="slidenum">
              <a:rPr lang="zh-CN" altLang="en-US" smtClean="0"/>
              <a:t>‹#›</a:t>
            </a:fld>
            <a:endParaRPr lang="zh-CN" altLang="en-US"/>
          </a:p>
        </p:txBody>
      </p:sp>
    </p:spTree>
    <p:extLst>
      <p:ext uri="{BB962C8B-B14F-4D97-AF65-F5344CB8AC3E}">
        <p14:creationId xmlns:p14="http://schemas.microsoft.com/office/powerpoint/2010/main" val="3960140058"/>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第五章 资本主义生产</a:t>
            </a:r>
            <a:endParaRPr lang="zh-CN" altLang="en-US" dirty="0"/>
          </a:p>
        </p:txBody>
      </p:sp>
      <p:sp>
        <p:nvSpPr>
          <p:cNvPr id="5" name="副标题 4"/>
          <p:cNvSpPr>
            <a:spLocks noGrp="1"/>
          </p:cNvSpPr>
          <p:nvPr>
            <p:ph type="subTitle" idx="1"/>
          </p:nvPr>
        </p:nvSpPr>
        <p:spPr/>
        <p:txBody>
          <a:bodyPr/>
          <a:lstStyle/>
          <a:p>
            <a:endParaRPr lang="zh-CN" altLang="en-US"/>
          </a:p>
        </p:txBody>
      </p:sp>
      <p:sp>
        <p:nvSpPr>
          <p:cNvPr id="3" name="灯片编号占位符 2"/>
          <p:cNvSpPr>
            <a:spLocks noGrp="1"/>
          </p:cNvSpPr>
          <p:nvPr>
            <p:ph type="sldNum" sz="quarter" idx="12"/>
          </p:nvPr>
        </p:nvSpPr>
        <p:spPr/>
        <p:txBody>
          <a:bodyPr/>
          <a:lstStyle/>
          <a:p>
            <a:fld id="{10F2143F-0457-4E80-A290-5DB1806D65E5}" type="slidenum">
              <a:rPr lang="zh-CN" altLang="en-US" smtClean="0"/>
              <a:t>1</a:t>
            </a:fld>
            <a:endParaRPr lang="zh-CN" altLang="en-US"/>
          </a:p>
        </p:txBody>
      </p:sp>
    </p:spTree>
    <p:extLst>
      <p:ext uri="{BB962C8B-B14F-4D97-AF65-F5344CB8AC3E}">
        <p14:creationId xmlns:p14="http://schemas.microsoft.com/office/powerpoint/2010/main" val="3224151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主要内容</a:t>
            </a:r>
            <a:endParaRPr lang="zh-CN" altLang="en-US" dirty="0"/>
          </a:p>
        </p:txBody>
      </p:sp>
      <p:sp>
        <p:nvSpPr>
          <p:cNvPr id="3" name="内容占位符 2"/>
          <p:cNvSpPr>
            <a:spLocks noGrp="1"/>
          </p:cNvSpPr>
          <p:nvPr>
            <p:ph idx="1"/>
          </p:nvPr>
        </p:nvSpPr>
        <p:spPr/>
        <p:txBody>
          <a:bodyPr/>
          <a:lstStyle/>
          <a:p>
            <a:r>
              <a:rPr lang="zh-CN" altLang="en-US" dirty="0" smtClean="0"/>
              <a:t>第一节 货币转化为资本</a:t>
            </a:r>
            <a:endParaRPr lang="en-US" altLang="zh-CN" dirty="0" smtClean="0"/>
          </a:p>
          <a:p>
            <a:r>
              <a:rPr lang="zh-CN" altLang="en-US" dirty="0" smtClean="0"/>
              <a:t>第二节 剩余价值的生产</a:t>
            </a:r>
            <a:endParaRPr lang="en-US" altLang="zh-CN" dirty="0" smtClean="0"/>
          </a:p>
          <a:p>
            <a:r>
              <a:rPr lang="zh-CN" altLang="en-US" dirty="0" smtClean="0"/>
              <a:t>第三节 剩余价值生产的两种形式</a:t>
            </a:r>
            <a:endParaRPr lang="en-US" altLang="zh-CN" dirty="0" smtClean="0"/>
          </a:p>
          <a:p>
            <a:r>
              <a:rPr lang="zh-CN" altLang="en-US" dirty="0" smtClean="0"/>
              <a:t>第四节 资本主义工资</a:t>
            </a:r>
            <a:endParaRPr lang="en-US" altLang="zh-CN" dirty="0" smtClean="0"/>
          </a:p>
          <a:p>
            <a:r>
              <a:rPr lang="zh-CN" altLang="en-US" dirty="0" smtClean="0"/>
              <a:t>第五节 资本主义再生产和</a:t>
            </a:r>
            <a:r>
              <a:rPr lang="zh-CN" altLang="en-US" dirty="0" smtClean="0"/>
              <a:t>资本积累</a:t>
            </a:r>
            <a:endParaRPr lang="en-US" altLang="zh-CN" dirty="0" smtClean="0"/>
          </a:p>
        </p:txBody>
      </p:sp>
      <p:sp>
        <p:nvSpPr>
          <p:cNvPr id="5" name="灯片编号占位符 4"/>
          <p:cNvSpPr>
            <a:spLocks noGrp="1"/>
          </p:cNvSpPr>
          <p:nvPr>
            <p:ph type="sldNum" sz="quarter" idx="12"/>
          </p:nvPr>
        </p:nvSpPr>
        <p:spPr/>
        <p:txBody>
          <a:bodyPr/>
          <a:lstStyle/>
          <a:p>
            <a:fld id="{10F2143F-0457-4E80-A290-5DB1806D65E5}" type="slidenum">
              <a:rPr lang="zh-CN" altLang="en-US" smtClean="0"/>
              <a:t>2</a:t>
            </a:fld>
            <a:endParaRPr lang="zh-CN" altLang="en-US"/>
          </a:p>
        </p:txBody>
      </p:sp>
    </p:spTree>
    <p:extLst>
      <p:ext uri="{BB962C8B-B14F-4D97-AF65-F5344CB8AC3E}">
        <p14:creationId xmlns:p14="http://schemas.microsoft.com/office/powerpoint/2010/main" val="1028602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en-US" altLang="zh-CN" dirty="0" smtClean="0"/>
          </a:p>
          <a:p>
            <a:endParaRPr lang="en-US" altLang="zh-CN" dirty="0"/>
          </a:p>
          <a:p>
            <a:endParaRPr lang="en-US" altLang="zh-CN" dirty="0" smtClean="0"/>
          </a:p>
          <a:p>
            <a:r>
              <a:rPr lang="zh-CN" altLang="en-US" dirty="0" smtClean="0"/>
              <a:t>第一</a:t>
            </a:r>
            <a:r>
              <a:rPr lang="zh-CN" altLang="en-US" dirty="0"/>
              <a:t>节 货币转化为资本</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a:t>
            </a:fld>
            <a:endParaRPr lang="zh-CN" altLang="en-US"/>
          </a:p>
        </p:txBody>
      </p:sp>
    </p:spTree>
    <p:extLst>
      <p:ext uri="{BB962C8B-B14F-4D97-AF65-F5344CB8AC3E}">
        <p14:creationId xmlns:p14="http://schemas.microsoft.com/office/powerpoint/2010/main" val="85245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Rot="1" noChangeArrowheads="1"/>
          </p:cNvSpPr>
          <p:nvPr>
            <p:ph type="title"/>
          </p:nvPr>
        </p:nvSpPr>
        <p:spPr/>
        <p:txBody>
          <a:bodyPr/>
          <a:lstStyle/>
          <a:p>
            <a:r>
              <a:rPr lang="zh-CN" altLang="en-US" dirty="0" smtClean="0"/>
              <a:t>商品流通</a:t>
            </a:r>
            <a:r>
              <a:rPr lang="en-US" altLang="zh-CN" dirty="0" smtClean="0"/>
              <a:t>/</a:t>
            </a:r>
            <a:r>
              <a:rPr lang="zh-CN" altLang="en-US" dirty="0" smtClean="0"/>
              <a:t>货币流通：为买而卖</a:t>
            </a:r>
          </a:p>
        </p:txBody>
      </p:sp>
      <p:sp>
        <p:nvSpPr>
          <p:cNvPr id="6147" name="Rectangle 3"/>
          <p:cNvSpPr>
            <a:spLocks noGrp="1" noChangeArrowheads="1"/>
          </p:cNvSpPr>
          <p:nvPr>
            <p:ph type="body" idx="1"/>
          </p:nvPr>
        </p:nvSpPr>
        <p:spPr/>
        <p:txBody>
          <a:bodyPr>
            <a:normAutofit lnSpcReduction="10000"/>
          </a:bodyPr>
          <a:lstStyle/>
          <a:p>
            <a:pPr marL="228600" lvl="1">
              <a:lnSpc>
                <a:spcPct val="90000"/>
              </a:lnSpc>
              <a:buNone/>
            </a:pPr>
            <a:r>
              <a:rPr lang="en-US" altLang="zh-CN" dirty="0" smtClean="0"/>
              <a:t> </a:t>
            </a:r>
            <a:r>
              <a:rPr lang="zh-CN" altLang="en-US" sz="2000" dirty="0" smtClean="0"/>
              <a:t>货币充当了商品交换的媒介：</a:t>
            </a:r>
            <a:endParaRPr lang="en-US" altLang="zh-CN" sz="2000" dirty="0"/>
          </a:p>
          <a:p>
            <a:pPr>
              <a:lnSpc>
                <a:spcPct val="90000"/>
              </a:lnSpc>
              <a:buFont typeface="Wingdings" panose="05000000000000000000" pitchFamily="2" charset="2"/>
              <a:buNone/>
            </a:pPr>
            <a:endParaRPr lang="en-US" altLang="zh-CN" sz="2000" dirty="0" smtClean="0"/>
          </a:p>
          <a:p>
            <a:pPr>
              <a:lnSpc>
                <a:spcPct val="90000"/>
              </a:lnSpc>
              <a:buFont typeface="Wingdings" panose="05000000000000000000" pitchFamily="2" charset="2"/>
              <a:buNone/>
            </a:pPr>
            <a:endParaRPr lang="zh-CN" altLang="en-US" sz="2000" dirty="0" smtClean="0"/>
          </a:p>
          <a:p>
            <a:pPr>
              <a:lnSpc>
                <a:spcPct val="90000"/>
              </a:lnSpc>
              <a:buFont typeface="Wingdings" panose="05000000000000000000" pitchFamily="2" charset="2"/>
              <a:buNone/>
            </a:pPr>
            <a:endParaRPr lang="zh-CN" altLang="en-US" sz="2000" dirty="0" smtClean="0"/>
          </a:p>
          <a:p>
            <a:pPr>
              <a:lnSpc>
                <a:spcPct val="90000"/>
              </a:lnSpc>
              <a:buFont typeface="Wingdings" panose="05000000000000000000" pitchFamily="2" charset="2"/>
              <a:buNone/>
            </a:pPr>
            <a:endParaRPr lang="zh-CN" altLang="en-US" sz="2000" dirty="0" smtClean="0"/>
          </a:p>
          <a:p>
            <a:pPr>
              <a:lnSpc>
                <a:spcPct val="90000"/>
              </a:lnSpc>
              <a:buFont typeface="Wingdings" panose="05000000000000000000" pitchFamily="2" charset="2"/>
              <a:buNone/>
            </a:pPr>
            <a:endParaRPr lang="zh-CN" altLang="en-US" sz="2000" dirty="0" smtClean="0"/>
          </a:p>
          <a:p>
            <a:pPr>
              <a:lnSpc>
                <a:spcPct val="90000"/>
              </a:lnSpc>
              <a:buFont typeface="Wingdings" panose="05000000000000000000" pitchFamily="2" charset="2"/>
              <a:buNone/>
            </a:pPr>
            <a:endParaRPr lang="zh-CN" altLang="en-US" sz="2000" dirty="0" smtClean="0"/>
          </a:p>
          <a:p>
            <a:pPr>
              <a:lnSpc>
                <a:spcPct val="90000"/>
              </a:lnSpc>
              <a:buFont typeface="Wingdings" panose="05000000000000000000" pitchFamily="2" charset="2"/>
              <a:buNone/>
            </a:pPr>
            <a:endParaRPr lang="zh-CN" altLang="en-US" sz="2000" dirty="0" smtClean="0"/>
          </a:p>
          <a:p>
            <a:pPr>
              <a:lnSpc>
                <a:spcPct val="130000"/>
              </a:lnSpc>
              <a:buFont typeface="Wingdings" panose="05000000000000000000" pitchFamily="2" charset="2"/>
              <a:buNone/>
            </a:pPr>
            <a:r>
              <a:rPr lang="zh-CN" altLang="en-US" sz="2000" dirty="0" smtClean="0"/>
              <a:t>    </a:t>
            </a:r>
            <a:r>
              <a:rPr lang="en-US" altLang="zh-CN" sz="2000" dirty="0" smtClean="0"/>
              <a:t>    </a:t>
            </a:r>
          </a:p>
          <a:p>
            <a:pPr marL="228600" lvl="1">
              <a:lnSpc>
                <a:spcPct val="90000"/>
              </a:lnSpc>
              <a:buNone/>
            </a:pPr>
            <a:r>
              <a:rPr lang="zh-CN" altLang="en-US" dirty="0"/>
              <a:t>商品</a:t>
            </a:r>
            <a:r>
              <a:rPr lang="en-US" altLang="zh-CN" dirty="0"/>
              <a:t>——</a:t>
            </a:r>
            <a:r>
              <a:rPr lang="zh-CN" altLang="en-US" dirty="0"/>
              <a:t>货币</a:t>
            </a:r>
            <a:r>
              <a:rPr lang="en-US" altLang="zh-CN" dirty="0"/>
              <a:t>——</a:t>
            </a:r>
            <a:r>
              <a:rPr lang="zh-CN" altLang="en-US" dirty="0"/>
              <a:t>商品（</a:t>
            </a:r>
            <a:r>
              <a:rPr lang="en-US" altLang="zh-CN" dirty="0"/>
              <a:t>W-G-W</a:t>
            </a:r>
            <a:r>
              <a:rPr lang="zh-CN" altLang="en-US" dirty="0"/>
              <a:t>）</a:t>
            </a:r>
            <a:endParaRPr lang="en-US" altLang="zh-CN" dirty="0"/>
          </a:p>
          <a:p>
            <a:pPr>
              <a:lnSpc>
                <a:spcPct val="90000"/>
              </a:lnSpc>
              <a:buFont typeface="Wingdings" panose="05000000000000000000" pitchFamily="2" charset="2"/>
              <a:buNone/>
            </a:pPr>
            <a:endParaRPr lang="en-US" altLang="zh-CN" sz="2000" dirty="0"/>
          </a:p>
          <a:p>
            <a:pPr>
              <a:lnSpc>
                <a:spcPct val="130000"/>
              </a:lnSpc>
              <a:buFont typeface="Wingdings" panose="05000000000000000000" pitchFamily="2" charset="2"/>
              <a:buNone/>
            </a:pPr>
            <a:r>
              <a:rPr lang="zh-CN" altLang="en-US" sz="2000" dirty="0" smtClean="0"/>
              <a:t>       货币充当了交换的媒介</a:t>
            </a:r>
          </a:p>
          <a:p>
            <a:pPr>
              <a:lnSpc>
                <a:spcPct val="130000"/>
              </a:lnSpc>
              <a:buFont typeface="Wingdings" panose="05000000000000000000" pitchFamily="2" charset="2"/>
              <a:buNone/>
            </a:pPr>
            <a:r>
              <a:rPr lang="en-US" altLang="zh-CN" sz="2000" dirty="0" smtClean="0"/>
              <a:t>        </a:t>
            </a:r>
            <a:r>
              <a:rPr lang="zh-CN" altLang="en-US" sz="2000" dirty="0" smtClean="0"/>
              <a:t>两端均是商品，但商品类型不同</a:t>
            </a:r>
          </a:p>
          <a:p>
            <a:pPr>
              <a:lnSpc>
                <a:spcPct val="130000"/>
              </a:lnSpc>
              <a:buFont typeface="Wingdings" panose="05000000000000000000" pitchFamily="2" charset="2"/>
              <a:buNone/>
            </a:pPr>
            <a:r>
              <a:rPr lang="zh-CN" altLang="en-US" sz="2000" dirty="0" smtClean="0"/>
              <a:t>        交换的目标是获取不同使用价值 </a:t>
            </a:r>
          </a:p>
          <a:p>
            <a:pPr>
              <a:lnSpc>
                <a:spcPct val="130000"/>
              </a:lnSpc>
              <a:buFont typeface="Wingdings" panose="05000000000000000000" pitchFamily="2" charset="2"/>
              <a:buNone/>
            </a:pPr>
            <a:r>
              <a:rPr lang="zh-CN" altLang="en-US" sz="2000" dirty="0" smtClean="0"/>
              <a:t>        两个交换均遵循了等价交换原则          </a:t>
            </a:r>
          </a:p>
        </p:txBody>
      </p:sp>
      <p:sp>
        <p:nvSpPr>
          <p:cNvPr id="6148" name="Rectangle 4"/>
          <p:cNvSpPr>
            <a:spLocks noChangeArrowheads="1"/>
          </p:cNvSpPr>
          <p:nvPr/>
        </p:nvSpPr>
        <p:spPr bwMode="auto">
          <a:xfrm>
            <a:off x="2102068" y="2781299"/>
            <a:ext cx="1152525" cy="8636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W</a:t>
            </a:r>
          </a:p>
          <a:p>
            <a:pPr eaLnBrk="1" hangingPunct="1"/>
            <a:r>
              <a:rPr lang="en-US" altLang="zh-CN"/>
              <a:t> </a:t>
            </a:r>
            <a:r>
              <a:rPr lang="zh-CN" altLang="en-US"/>
              <a:t>（商品）</a:t>
            </a:r>
          </a:p>
        </p:txBody>
      </p:sp>
      <p:sp>
        <p:nvSpPr>
          <p:cNvPr id="6149" name="Rectangle 5"/>
          <p:cNvSpPr>
            <a:spLocks noChangeArrowheads="1"/>
          </p:cNvSpPr>
          <p:nvPr/>
        </p:nvSpPr>
        <p:spPr bwMode="auto">
          <a:xfrm>
            <a:off x="4261515" y="2768608"/>
            <a:ext cx="1223962" cy="8636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G</a:t>
            </a:r>
          </a:p>
          <a:p>
            <a:pPr eaLnBrk="1" hangingPunct="1"/>
            <a:r>
              <a:rPr lang="zh-CN" altLang="en-US"/>
              <a:t>（货币）</a:t>
            </a:r>
          </a:p>
        </p:txBody>
      </p:sp>
      <p:sp>
        <p:nvSpPr>
          <p:cNvPr id="6150" name="Rectangle 6"/>
          <p:cNvSpPr>
            <a:spLocks noChangeArrowheads="1"/>
          </p:cNvSpPr>
          <p:nvPr/>
        </p:nvSpPr>
        <p:spPr bwMode="auto">
          <a:xfrm>
            <a:off x="6422102" y="2781299"/>
            <a:ext cx="1152525" cy="8636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t>W</a:t>
            </a:r>
          </a:p>
          <a:p>
            <a:pPr eaLnBrk="1" hangingPunct="1"/>
            <a:r>
              <a:rPr lang="zh-CN" altLang="en-US" dirty="0"/>
              <a:t>（商品）</a:t>
            </a:r>
          </a:p>
        </p:txBody>
      </p:sp>
      <p:sp>
        <p:nvSpPr>
          <p:cNvPr id="6151" name="Line 7"/>
          <p:cNvSpPr>
            <a:spLocks noChangeShapeType="1"/>
          </p:cNvSpPr>
          <p:nvPr/>
        </p:nvSpPr>
        <p:spPr bwMode="auto">
          <a:xfrm flipV="1">
            <a:off x="3253452" y="3279595"/>
            <a:ext cx="10080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2" name="Line 8"/>
          <p:cNvSpPr>
            <a:spLocks noChangeShapeType="1"/>
          </p:cNvSpPr>
          <p:nvPr/>
        </p:nvSpPr>
        <p:spPr bwMode="auto">
          <a:xfrm>
            <a:off x="5485477" y="3283520"/>
            <a:ext cx="9366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3" name="AutoShape 10"/>
          <p:cNvSpPr>
            <a:spLocks noChangeArrowheads="1"/>
          </p:cNvSpPr>
          <p:nvPr/>
        </p:nvSpPr>
        <p:spPr bwMode="auto">
          <a:xfrm>
            <a:off x="323055" y="2636837"/>
            <a:ext cx="1223963" cy="1152525"/>
          </a:xfrm>
          <a:prstGeom prst="cloudCallout">
            <a:avLst>
              <a:gd name="adj1" fmla="val 85537"/>
              <a:gd name="adj2" fmla="val 18458"/>
            </a:avLst>
          </a:prstGeom>
          <a:solidFill>
            <a:schemeClr val="accent1"/>
          </a:solidFill>
          <a:ln w="9525">
            <a:solidFill>
              <a:schemeClr val="tx1"/>
            </a:solidFill>
            <a:round/>
            <a:headEnd/>
            <a:tailEnd/>
          </a:ln>
        </p:spPr>
        <p:txBody>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dirty="0"/>
              <a:t>德语商品为</a:t>
            </a:r>
          </a:p>
          <a:p>
            <a:pPr eaLnBrk="1" hangingPunct="1"/>
            <a:r>
              <a:rPr lang="en-US" altLang="zh-CN" sz="1600" dirty="0" err="1"/>
              <a:t>waren</a:t>
            </a:r>
            <a:endParaRPr lang="en-US" altLang="zh-CN" sz="1600" dirty="0"/>
          </a:p>
        </p:txBody>
      </p:sp>
      <p:sp>
        <p:nvSpPr>
          <p:cNvPr id="6154" name="AutoShape 11"/>
          <p:cNvSpPr>
            <a:spLocks noChangeArrowheads="1"/>
          </p:cNvSpPr>
          <p:nvPr/>
        </p:nvSpPr>
        <p:spPr bwMode="auto">
          <a:xfrm>
            <a:off x="6566747" y="1295108"/>
            <a:ext cx="1223963" cy="1152525"/>
          </a:xfrm>
          <a:prstGeom prst="cloudCallout">
            <a:avLst>
              <a:gd name="adj1" fmla="val -145588"/>
              <a:gd name="adj2" fmla="val 54958"/>
            </a:avLst>
          </a:prstGeom>
          <a:solidFill>
            <a:schemeClr val="accent1"/>
          </a:solidFill>
          <a:ln w="9525">
            <a:solidFill>
              <a:schemeClr val="tx1"/>
            </a:solidFill>
            <a:round/>
            <a:headEnd/>
            <a:tailEnd/>
          </a:ln>
        </p:spPr>
        <p:txBody>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dirty="0"/>
              <a:t>德语货币为</a:t>
            </a:r>
          </a:p>
          <a:p>
            <a:pPr eaLnBrk="1" hangingPunct="1"/>
            <a:r>
              <a:rPr lang="en-US" altLang="zh-CN" sz="1600" dirty="0"/>
              <a:t>geld</a:t>
            </a:r>
          </a:p>
        </p:txBody>
      </p:sp>
    </p:spTree>
    <p:extLst>
      <p:ext uri="{BB962C8B-B14F-4D97-AF65-F5344CB8AC3E}">
        <p14:creationId xmlns:p14="http://schemas.microsoft.com/office/powerpoint/2010/main" val="3816901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资本流通</a:t>
            </a:r>
            <a:endParaRPr lang="zh-CN" altLang="en-US" dirty="0"/>
          </a:p>
        </p:txBody>
      </p:sp>
      <p:sp>
        <p:nvSpPr>
          <p:cNvPr id="3" name="内容占位符 2"/>
          <p:cNvSpPr>
            <a:spLocks noGrp="1"/>
          </p:cNvSpPr>
          <p:nvPr>
            <p:ph idx="1"/>
          </p:nvPr>
        </p:nvSpPr>
        <p:spPr/>
        <p:txBody>
          <a:bodyPr>
            <a:normAutofit/>
          </a:bodyPr>
          <a:lstStyle/>
          <a:p>
            <a:r>
              <a:rPr lang="zh-CN" altLang="en-US" dirty="0" smtClean="0"/>
              <a:t>货币</a:t>
            </a:r>
            <a:r>
              <a:rPr lang="en-US" altLang="zh-CN" dirty="0"/>
              <a:t>——</a:t>
            </a:r>
            <a:r>
              <a:rPr lang="zh-CN" altLang="en-US" dirty="0"/>
              <a:t>商品</a:t>
            </a:r>
            <a:r>
              <a:rPr lang="en-US" altLang="zh-CN" dirty="0"/>
              <a:t>——</a:t>
            </a:r>
            <a:r>
              <a:rPr lang="zh-CN" altLang="en-US" dirty="0"/>
              <a:t>货币（</a:t>
            </a:r>
            <a:r>
              <a:rPr lang="en-US" altLang="zh-CN" dirty="0"/>
              <a:t>G-W-G’</a:t>
            </a:r>
            <a:r>
              <a:rPr lang="zh-CN" altLang="en-US" dirty="0" smtClean="0"/>
              <a:t>）</a:t>
            </a:r>
            <a:endParaRPr lang="en-US" altLang="zh-CN" dirty="0" smtClean="0"/>
          </a:p>
          <a:p>
            <a:pPr lvl="1"/>
            <a:r>
              <a:rPr lang="zh-CN" altLang="en-US" dirty="0" smtClean="0"/>
              <a:t>为</a:t>
            </a:r>
            <a:r>
              <a:rPr lang="zh-CN" altLang="en-US" dirty="0"/>
              <a:t>卖而</a:t>
            </a:r>
            <a:r>
              <a:rPr lang="zh-CN" altLang="en-US" dirty="0" smtClean="0"/>
              <a:t>买</a:t>
            </a:r>
            <a:endParaRPr lang="en-US" altLang="zh-CN" dirty="0" smtClean="0"/>
          </a:p>
          <a:p>
            <a:pPr lvl="1"/>
            <a:r>
              <a:rPr lang="zh-CN" altLang="en-US" dirty="0" smtClean="0"/>
              <a:t>价值增殖：除了收回预付货币外，还获得了一笔增加的货币（剩余价值），货币转化为资本</a:t>
            </a:r>
            <a:endParaRPr lang="en-US" altLang="zh-CN" dirty="0" smtClean="0"/>
          </a:p>
          <a:p>
            <a:pPr lvl="1"/>
            <a:r>
              <a:rPr lang="zh-CN" altLang="en-US" dirty="0" smtClean="0"/>
              <a:t>资本是能带来剩余价值的</a:t>
            </a:r>
            <a:r>
              <a:rPr lang="zh-CN" altLang="en-US" dirty="0"/>
              <a:t>价值（资本是价值的一种特殊形式，是不断地在运动中谋求自身增殖的</a:t>
            </a:r>
            <a:r>
              <a:rPr lang="zh-CN" altLang="en-US" dirty="0" smtClean="0"/>
              <a:t>价值</a:t>
            </a:r>
            <a:r>
              <a:rPr lang="zh-CN" altLang="en-US" dirty="0" smtClean="0"/>
              <a:t>）</a:t>
            </a:r>
            <a:endParaRPr lang="en-US" altLang="zh-CN" dirty="0" smtClean="0"/>
          </a:p>
          <a:p>
            <a:pPr lvl="2"/>
            <a:r>
              <a:rPr lang="zh-CN" altLang="en-US" dirty="0" smtClean="0"/>
              <a:t>资本的特点：</a:t>
            </a:r>
            <a:r>
              <a:rPr lang="zh-CN" altLang="en-US" dirty="0"/>
              <a:t>增殖性、运动性、返还性、风险性</a:t>
            </a:r>
            <a:endParaRPr lang="en-US" altLang="zh-CN" dirty="0"/>
          </a:p>
          <a:p>
            <a:pPr lvl="1"/>
            <a:r>
              <a:rPr lang="zh-CN" altLang="en-US" dirty="0" smtClean="0"/>
              <a:t>资本</a:t>
            </a:r>
            <a:r>
              <a:rPr lang="zh-CN" altLang="en-US" dirty="0" smtClean="0"/>
              <a:t>总公式：</a:t>
            </a:r>
            <a:r>
              <a:rPr lang="en-US" altLang="zh-CN" dirty="0"/>
              <a:t> G-W-G’</a:t>
            </a:r>
            <a:endParaRPr lang="en-US" altLang="zh-CN" dirty="0" smtClean="0"/>
          </a:p>
          <a:p>
            <a:pPr lvl="2"/>
            <a:r>
              <a:rPr lang="zh-CN" altLang="en-US" dirty="0" smtClean="0"/>
              <a:t>囊括</a:t>
            </a:r>
            <a:r>
              <a:rPr lang="zh-CN" altLang="en-US" dirty="0"/>
              <a:t>了产业资本、商业资本和借贷资本运动的</a:t>
            </a:r>
            <a:r>
              <a:rPr lang="zh-CN" altLang="en-US" dirty="0" smtClean="0"/>
              <a:t>共同点</a:t>
            </a:r>
            <a:endParaRPr lang="en-US" altLang="zh-CN" dirty="0" smtClean="0"/>
          </a:p>
          <a:p>
            <a:pPr marL="914400" lvl="2" indent="0">
              <a:buNone/>
            </a:pP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5</a:t>
            </a:fld>
            <a:endParaRPr lang="zh-CN" altLang="en-US"/>
          </a:p>
        </p:txBody>
      </p:sp>
    </p:spTree>
    <p:extLst>
      <p:ext uri="{BB962C8B-B14F-4D97-AF65-F5344CB8AC3E}">
        <p14:creationId xmlns:p14="http://schemas.microsoft.com/office/powerpoint/2010/main" val="3050012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rrowheads="1"/>
          </p:cNvSpPr>
          <p:nvPr>
            <p:ph type="title"/>
          </p:nvPr>
        </p:nvSpPr>
        <p:spPr/>
        <p:txBody>
          <a:bodyPr/>
          <a:lstStyle/>
          <a:p>
            <a:r>
              <a:rPr lang="zh-CN" altLang="en-US" dirty="0"/>
              <a:t>资本流通</a:t>
            </a:r>
            <a:endParaRPr lang="zh-CN" altLang="en-US" dirty="0" smtClean="0"/>
          </a:p>
        </p:txBody>
      </p:sp>
      <p:sp>
        <p:nvSpPr>
          <p:cNvPr id="7171" name="Rectangle 3"/>
          <p:cNvSpPr>
            <a:spLocks noGrp="1" noChangeArrowheads="1"/>
          </p:cNvSpPr>
          <p:nvPr>
            <p:ph type="body" idx="1"/>
          </p:nvPr>
        </p:nvSpPr>
        <p:spPr/>
        <p:txBody>
          <a:bodyPr>
            <a:normAutofit lnSpcReduction="10000"/>
          </a:bodyPr>
          <a:lstStyle/>
          <a:p>
            <a:pPr>
              <a:buFont typeface="Wingdings" panose="05000000000000000000" pitchFamily="2" charset="2"/>
              <a:buNone/>
            </a:pPr>
            <a:r>
              <a:rPr lang="zh-CN" altLang="en-US" sz="2000" dirty="0" smtClean="0"/>
              <a:t>作为资本的货币的运动是为了获取增殖</a:t>
            </a:r>
          </a:p>
          <a:p>
            <a:pPr>
              <a:buFont typeface="Wingdings" panose="05000000000000000000" pitchFamily="2" charset="2"/>
              <a:buNone/>
            </a:pPr>
            <a:endParaRPr lang="zh-CN" altLang="en-US" sz="2000" dirty="0" smtClean="0"/>
          </a:p>
          <a:p>
            <a:pPr>
              <a:buFont typeface="Wingdings" panose="05000000000000000000" pitchFamily="2" charset="2"/>
              <a:buNone/>
            </a:pPr>
            <a:endParaRPr lang="zh-CN" altLang="en-US" sz="2000" dirty="0" smtClean="0"/>
          </a:p>
          <a:p>
            <a:pPr>
              <a:buFont typeface="Wingdings" panose="05000000000000000000" pitchFamily="2" charset="2"/>
              <a:buNone/>
            </a:pPr>
            <a:endParaRPr lang="zh-CN" altLang="en-US" sz="2000" dirty="0" smtClean="0"/>
          </a:p>
          <a:p>
            <a:pPr>
              <a:buFont typeface="Wingdings" panose="05000000000000000000" pitchFamily="2" charset="2"/>
              <a:buNone/>
            </a:pPr>
            <a:endParaRPr lang="zh-CN" altLang="en-US" sz="2000" dirty="0" smtClean="0"/>
          </a:p>
          <a:p>
            <a:pPr>
              <a:buFont typeface="Wingdings" panose="05000000000000000000" pitchFamily="2" charset="2"/>
              <a:buNone/>
            </a:pPr>
            <a:endParaRPr lang="zh-CN" altLang="en-US" sz="2000" dirty="0" smtClean="0"/>
          </a:p>
          <a:p>
            <a:pPr>
              <a:buFont typeface="Wingdings" panose="05000000000000000000" pitchFamily="2" charset="2"/>
              <a:buNone/>
            </a:pPr>
            <a:endParaRPr lang="zh-CN" altLang="en-US" sz="2000" dirty="0" smtClean="0"/>
          </a:p>
          <a:p>
            <a:pPr>
              <a:lnSpc>
                <a:spcPct val="110000"/>
              </a:lnSpc>
              <a:buFont typeface="Wingdings" panose="05000000000000000000" pitchFamily="2" charset="2"/>
              <a:buNone/>
            </a:pPr>
            <a:r>
              <a:rPr lang="zh-CN" altLang="en-US" sz="2000" dirty="0" smtClean="0"/>
              <a:t>                  商品成为获取价值增殖的一个桥梁</a:t>
            </a:r>
          </a:p>
          <a:p>
            <a:pPr>
              <a:lnSpc>
                <a:spcPct val="110000"/>
              </a:lnSpc>
              <a:buFont typeface="Wingdings" panose="05000000000000000000" pitchFamily="2" charset="2"/>
              <a:buNone/>
            </a:pPr>
            <a:r>
              <a:rPr lang="zh-CN" altLang="en-US" sz="2000" dirty="0" smtClean="0"/>
              <a:t>                  两端均是货币，但货币数量不同</a:t>
            </a:r>
          </a:p>
          <a:p>
            <a:pPr>
              <a:lnSpc>
                <a:spcPct val="110000"/>
              </a:lnSpc>
              <a:buFont typeface="Wingdings" panose="05000000000000000000" pitchFamily="2" charset="2"/>
              <a:buNone/>
            </a:pPr>
            <a:r>
              <a:rPr lang="zh-CN" altLang="en-US" sz="2000" dirty="0" smtClean="0"/>
              <a:t>                  交换的目的是为了获取价值增殖</a:t>
            </a:r>
          </a:p>
          <a:p>
            <a:pPr>
              <a:lnSpc>
                <a:spcPct val="110000"/>
              </a:lnSpc>
              <a:buFont typeface="Wingdings" panose="05000000000000000000" pitchFamily="2" charset="2"/>
              <a:buNone/>
            </a:pPr>
            <a:r>
              <a:rPr lang="zh-CN" altLang="en-US" sz="2000" dirty="0" smtClean="0"/>
              <a:t>                  两个交换均遵循等价交换原则，但</a:t>
            </a:r>
            <a:r>
              <a:rPr lang="el-GR" altLang="zh-CN" sz="2000" dirty="0" smtClean="0"/>
              <a:t>ΔG</a:t>
            </a:r>
            <a:r>
              <a:rPr lang="zh-CN" altLang="el-GR" sz="2000" dirty="0" smtClean="0"/>
              <a:t>何来</a:t>
            </a:r>
            <a:endParaRPr lang="zh-CN" altLang="en-US" sz="2000" dirty="0" smtClean="0"/>
          </a:p>
        </p:txBody>
      </p:sp>
      <p:sp>
        <p:nvSpPr>
          <p:cNvPr id="7172" name="Rectangle 4"/>
          <p:cNvSpPr>
            <a:spLocks noChangeArrowheads="1"/>
          </p:cNvSpPr>
          <p:nvPr/>
        </p:nvSpPr>
        <p:spPr bwMode="auto">
          <a:xfrm>
            <a:off x="1835150" y="2565400"/>
            <a:ext cx="1152525" cy="719138"/>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G</a:t>
            </a:r>
          </a:p>
          <a:p>
            <a:pPr eaLnBrk="1" hangingPunct="1"/>
            <a:r>
              <a:rPr lang="zh-CN" altLang="en-US"/>
              <a:t>（货币）</a:t>
            </a:r>
          </a:p>
        </p:txBody>
      </p:sp>
      <p:sp>
        <p:nvSpPr>
          <p:cNvPr id="7173" name="Line 5"/>
          <p:cNvSpPr>
            <a:spLocks noChangeShapeType="1"/>
          </p:cNvSpPr>
          <p:nvPr/>
        </p:nvSpPr>
        <p:spPr bwMode="auto">
          <a:xfrm>
            <a:off x="2987675" y="2924175"/>
            <a:ext cx="86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4" name="Rectangle 6"/>
          <p:cNvSpPr>
            <a:spLocks noChangeArrowheads="1"/>
          </p:cNvSpPr>
          <p:nvPr/>
        </p:nvSpPr>
        <p:spPr bwMode="auto">
          <a:xfrm>
            <a:off x="3851275" y="2565400"/>
            <a:ext cx="1152525" cy="719138"/>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W</a:t>
            </a:r>
          </a:p>
          <a:p>
            <a:pPr eaLnBrk="1" hangingPunct="1"/>
            <a:r>
              <a:rPr lang="zh-CN" altLang="en-US"/>
              <a:t>（ 商品）</a:t>
            </a:r>
          </a:p>
        </p:txBody>
      </p:sp>
      <p:sp>
        <p:nvSpPr>
          <p:cNvPr id="7175" name="Line 7"/>
          <p:cNvSpPr>
            <a:spLocks noChangeShapeType="1"/>
          </p:cNvSpPr>
          <p:nvPr/>
        </p:nvSpPr>
        <p:spPr bwMode="auto">
          <a:xfrm>
            <a:off x="5003800" y="2924175"/>
            <a:ext cx="7921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6" name="Rectangle 8"/>
          <p:cNvSpPr>
            <a:spLocks noChangeArrowheads="1"/>
          </p:cNvSpPr>
          <p:nvPr/>
        </p:nvSpPr>
        <p:spPr bwMode="auto">
          <a:xfrm>
            <a:off x="5795963" y="2565400"/>
            <a:ext cx="1152525" cy="719138"/>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G</a:t>
            </a:r>
            <a:r>
              <a:rPr lang="en-US" altLang="zh-CN">
                <a:latin typeface="Arial" panose="020B0604020202020204" pitchFamily="34" charset="0"/>
              </a:rPr>
              <a:t>’</a:t>
            </a:r>
            <a:endParaRPr lang="en-US" altLang="zh-CN"/>
          </a:p>
          <a:p>
            <a:pPr eaLnBrk="1" hangingPunct="1"/>
            <a:r>
              <a:rPr lang="zh-CN" altLang="en-US"/>
              <a:t>（</a:t>
            </a:r>
            <a:r>
              <a:rPr lang="en-US" altLang="zh-CN"/>
              <a:t>G+</a:t>
            </a:r>
            <a:r>
              <a:rPr lang="el-GR" altLang="zh-CN"/>
              <a:t>ΔG</a:t>
            </a:r>
            <a:r>
              <a:rPr lang="zh-CN" altLang="en-US"/>
              <a:t>）</a:t>
            </a:r>
            <a:endParaRPr lang="zh-CN" altLang="el-GR"/>
          </a:p>
        </p:txBody>
      </p:sp>
      <p:sp>
        <p:nvSpPr>
          <p:cNvPr id="7177" name="Line 9"/>
          <p:cNvSpPr>
            <a:spLocks noChangeShapeType="1"/>
          </p:cNvSpPr>
          <p:nvPr/>
        </p:nvSpPr>
        <p:spPr bwMode="auto">
          <a:xfrm flipV="1">
            <a:off x="2411413" y="3284538"/>
            <a:ext cx="0" cy="43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8" name="Oval 10"/>
          <p:cNvSpPr>
            <a:spLocks noChangeArrowheads="1"/>
          </p:cNvSpPr>
          <p:nvPr/>
        </p:nvSpPr>
        <p:spPr bwMode="auto">
          <a:xfrm>
            <a:off x="1692275" y="3716338"/>
            <a:ext cx="1511300" cy="504825"/>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t>预付价值</a:t>
            </a:r>
          </a:p>
        </p:txBody>
      </p:sp>
      <p:sp>
        <p:nvSpPr>
          <p:cNvPr id="7179" name="Line 11"/>
          <p:cNvSpPr>
            <a:spLocks noChangeShapeType="1"/>
          </p:cNvSpPr>
          <p:nvPr/>
        </p:nvSpPr>
        <p:spPr bwMode="auto">
          <a:xfrm flipV="1">
            <a:off x="6372225" y="3284538"/>
            <a:ext cx="0" cy="43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0" name="Oval 12"/>
          <p:cNvSpPr>
            <a:spLocks noChangeArrowheads="1"/>
          </p:cNvSpPr>
          <p:nvPr/>
        </p:nvSpPr>
        <p:spPr bwMode="auto">
          <a:xfrm>
            <a:off x="5651499" y="3716338"/>
            <a:ext cx="1738515" cy="581342"/>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l-GR" altLang="zh-CN" dirty="0"/>
              <a:t>ΔG</a:t>
            </a:r>
            <a:r>
              <a:rPr lang="en-US" altLang="zh-CN" dirty="0"/>
              <a:t>-</a:t>
            </a:r>
            <a:r>
              <a:rPr lang="zh-CN" altLang="en-US" dirty="0"/>
              <a:t>剩余价值</a:t>
            </a:r>
          </a:p>
        </p:txBody>
      </p:sp>
    </p:spTree>
    <p:extLst>
      <p:ext uri="{BB962C8B-B14F-4D97-AF65-F5344CB8AC3E}">
        <p14:creationId xmlns:p14="http://schemas.microsoft.com/office/powerpoint/2010/main" val="2314982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r>
              <a:rPr lang="zh-CN" altLang="en-US" dirty="0" smtClean="0"/>
              <a:t>资本流通</a:t>
            </a:r>
            <a:endParaRPr lang="zh-CN" altLang="en-US" dirty="0" smtClean="0"/>
          </a:p>
        </p:txBody>
      </p:sp>
      <p:sp>
        <p:nvSpPr>
          <p:cNvPr id="7171" name="内容占位符 2"/>
          <p:cNvSpPr>
            <a:spLocks noGrp="1"/>
          </p:cNvSpPr>
          <p:nvPr>
            <p:ph idx="1"/>
          </p:nvPr>
        </p:nvSpPr>
        <p:spPr/>
        <p:txBody>
          <a:bodyPr>
            <a:normAutofit/>
          </a:bodyPr>
          <a:lstStyle/>
          <a:p>
            <a:r>
              <a:rPr lang="zh-CN" altLang="en-US" dirty="0"/>
              <a:t>货币流通（</a:t>
            </a:r>
            <a:r>
              <a:rPr lang="en-US" altLang="zh-CN" dirty="0"/>
              <a:t>G-W-G</a:t>
            </a:r>
            <a:r>
              <a:rPr lang="zh-CN" altLang="en-US" dirty="0"/>
              <a:t>）和资本</a:t>
            </a:r>
            <a:r>
              <a:rPr lang="zh-CN" altLang="en-US" dirty="0" smtClean="0"/>
              <a:t>流通（</a:t>
            </a:r>
            <a:r>
              <a:rPr lang="en-US" altLang="zh-CN" dirty="0" smtClean="0"/>
              <a:t>G-W-G’</a:t>
            </a:r>
            <a:r>
              <a:rPr lang="zh-CN" altLang="en-US" dirty="0" smtClean="0"/>
              <a:t>）</a:t>
            </a:r>
            <a:endParaRPr lang="en-US" altLang="zh-CN" dirty="0" smtClean="0"/>
          </a:p>
          <a:p>
            <a:pPr lvl="1"/>
            <a:r>
              <a:rPr lang="zh-CN" altLang="en-US" dirty="0" smtClean="0"/>
              <a:t>流通的形式不同</a:t>
            </a:r>
            <a:endParaRPr lang="en-US" altLang="zh-CN" dirty="0" smtClean="0"/>
          </a:p>
          <a:p>
            <a:pPr lvl="1"/>
            <a:r>
              <a:rPr lang="zh-CN" altLang="en-US" dirty="0" smtClean="0"/>
              <a:t>流通</a:t>
            </a:r>
            <a:r>
              <a:rPr lang="zh-CN" altLang="en-US" dirty="0"/>
              <a:t>的目的不同</a:t>
            </a:r>
            <a:endParaRPr lang="en-US" altLang="zh-CN" dirty="0"/>
          </a:p>
          <a:p>
            <a:pPr lvl="1"/>
            <a:r>
              <a:rPr lang="zh-CN" altLang="en-US" dirty="0"/>
              <a:t>流通的限度不同</a:t>
            </a:r>
            <a:endParaRPr lang="en-US" altLang="zh-CN" dirty="0"/>
          </a:p>
          <a:p>
            <a:pPr marL="228600" lvl="2"/>
            <a:r>
              <a:rPr lang="zh-CN" altLang="en-US" sz="2400" dirty="0" smtClean="0"/>
              <a:t>资本总公式</a:t>
            </a:r>
            <a:r>
              <a:rPr lang="zh-CN" altLang="en-US" sz="2400" dirty="0"/>
              <a:t>（</a:t>
            </a:r>
            <a:r>
              <a:rPr lang="en-US" altLang="zh-CN" sz="2400" dirty="0"/>
              <a:t>G-W-G’</a:t>
            </a:r>
            <a:r>
              <a:rPr lang="zh-CN" altLang="en-US" sz="2400" dirty="0"/>
              <a:t>）</a:t>
            </a:r>
            <a:endParaRPr lang="en-US" altLang="zh-CN" sz="2400" dirty="0"/>
          </a:p>
          <a:p>
            <a:pPr marL="685800" lvl="3"/>
            <a:r>
              <a:rPr lang="zh-CN" altLang="en-US" dirty="0" smtClean="0"/>
              <a:t>囊括</a:t>
            </a:r>
            <a:r>
              <a:rPr lang="zh-CN" altLang="en-US" dirty="0"/>
              <a:t>了产业资本、商业资本和借贷资本运动的</a:t>
            </a:r>
            <a:r>
              <a:rPr lang="zh-CN" altLang="en-US" dirty="0" smtClean="0"/>
              <a:t>共同点</a:t>
            </a:r>
            <a:endParaRPr lang="en-US" altLang="zh-CN" dirty="0" smtClean="0"/>
          </a:p>
        </p:txBody>
      </p:sp>
    </p:spTree>
    <p:extLst>
      <p:ext uri="{BB962C8B-B14F-4D97-AF65-F5344CB8AC3E}">
        <p14:creationId xmlns:p14="http://schemas.microsoft.com/office/powerpoint/2010/main" val="2354116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资本总公式的矛盾</a:t>
            </a:r>
            <a:endParaRPr lang="zh-CN" altLang="en-US" dirty="0"/>
          </a:p>
        </p:txBody>
      </p:sp>
      <p:sp>
        <p:nvSpPr>
          <p:cNvPr id="3" name="内容占位符 2"/>
          <p:cNvSpPr>
            <a:spLocks noGrp="1"/>
          </p:cNvSpPr>
          <p:nvPr>
            <p:ph idx="1"/>
          </p:nvPr>
        </p:nvSpPr>
        <p:spPr/>
        <p:txBody>
          <a:bodyPr/>
          <a:lstStyle/>
          <a:p>
            <a:r>
              <a:rPr lang="zh-CN" altLang="en-US" dirty="0" smtClean="0"/>
              <a:t>形式上看，资本总公式与价值规律相矛盾</a:t>
            </a:r>
            <a:endParaRPr lang="en-US" altLang="zh-CN" dirty="0" smtClean="0"/>
          </a:p>
          <a:p>
            <a:pPr lvl="1"/>
            <a:r>
              <a:rPr lang="zh-CN" altLang="en-US" dirty="0" smtClean="0"/>
              <a:t>等价交换与资本增值的矛盾</a:t>
            </a:r>
            <a:endParaRPr lang="en-US" altLang="zh-CN" dirty="0" smtClean="0"/>
          </a:p>
          <a:p>
            <a:pPr lvl="2"/>
            <a:r>
              <a:rPr lang="zh-CN" altLang="en-US" dirty="0" smtClean="0"/>
              <a:t>剩余价值不能产生于流通领域，但又离不开流通领域</a:t>
            </a:r>
            <a:endParaRPr lang="en-US" altLang="zh-CN" dirty="0" smtClean="0"/>
          </a:p>
          <a:p>
            <a:pPr lvl="2"/>
            <a:r>
              <a:rPr lang="zh-CN" altLang="en-US" dirty="0" smtClean="0"/>
              <a:t>劳动力成为商品，是货币转化为资本的前提</a:t>
            </a:r>
            <a:endParaRPr lang="en-US" altLang="zh-CN" dirty="0" smtClean="0"/>
          </a:p>
          <a:p>
            <a:r>
              <a:rPr lang="zh-CN" altLang="en-US" dirty="0"/>
              <a:t>如何理解马克思的判断：剩余价值的产生，即货币到资本的转化既在流通中，又不在流通中？换言之， </a:t>
            </a:r>
            <a:r>
              <a:rPr lang="el-GR" altLang="zh-CN" dirty="0"/>
              <a:t>ΔG</a:t>
            </a:r>
            <a:r>
              <a:rPr lang="zh-CN" altLang="el-GR" dirty="0"/>
              <a:t>是如何产生的？</a:t>
            </a: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8</a:t>
            </a:fld>
            <a:endParaRPr lang="zh-CN" altLang="en-US"/>
          </a:p>
        </p:txBody>
      </p:sp>
    </p:spTree>
    <p:extLst>
      <p:ext uri="{BB962C8B-B14F-4D97-AF65-F5344CB8AC3E}">
        <p14:creationId xmlns:p14="http://schemas.microsoft.com/office/powerpoint/2010/main" val="4210021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劳动力的买卖</a:t>
            </a:r>
            <a:endParaRPr lang="zh-CN" altLang="en-US" dirty="0"/>
          </a:p>
        </p:txBody>
      </p:sp>
      <p:sp>
        <p:nvSpPr>
          <p:cNvPr id="3" name="内容占位符 2"/>
          <p:cNvSpPr>
            <a:spLocks noGrp="1"/>
          </p:cNvSpPr>
          <p:nvPr>
            <p:ph idx="1"/>
          </p:nvPr>
        </p:nvSpPr>
        <p:spPr/>
        <p:txBody>
          <a:bodyPr/>
          <a:lstStyle/>
          <a:p>
            <a:r>
              <a:rPr lang="zh-CN" altLang="en-US" dirty="0" smtClean="0"/>
              <a:t>两个基本前提</a:t>
            </a:r>
            <a:endParaRPr lang="en-US" altLang="zh-CN" dirty="0" smtClean="0"/>
          </a:p>
          <a:p>
            <a:pPr lvl="1"/>
            <a:r>
              <a:rPr lang="zh-CN" altLang="en-US" dirty="0" smtClean="0"/>
              <a:t>劳动者必须有人身自由</a:t>
            </a:r>
            <a:endParaRPr lang="en-US" altLang="zh-CN" dirty="0" smtClean="0"/>
          </a:p>
          <a:p>
            <a:pPr lvl="1"/>
            <a:r>
              <a:rPr lang="zh-CN" altLang="en-US" dirty="0" smtClean="0"/>
              <a:t>劳动者丧失了生产资料和生活资料，除劳动力以外一无所有</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9</a:t>
            </a:fld>
            <a:endParaRPr lang="zh-CN" altLang="en-US"/>
          </a:p>
        </p:txBody>
      </p:sp>
    </p:spTree>
    <p:extLst>
      <p:ext uri="{BB962C8B-B14F-4D97-AF65-F5344CB8AC3E}">
        <p14:creationId xmlns:p14="http://schemas.microsoft.com/office/powerpoint/2010/main" val="491986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劳动力作为商品的两重性</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t>价值</a:t>
            </a:r>
            <a:endParaRPr lang="en-US" altLang="zh-CN" dirty="0" smtClean="0"/>
          </a:p>
          <a:p>
            <a:pPr lvl="1"/>
            <a:r>
              <a:rPr lang="zh-CN" altLang="en-US" dirty="0" smtClean="0"/>
              <a:t>劳动力的价值是由生产、发展、维持和延续劳动力所必需的生活资料的价值构成的</a:t>
            </a:r>
            <a:endParaRPr lang="en-US" altLang="zh-CN" dirty="0" smtClean="0"/>
          </a:p>
          <a:p>
            <a:pPr lvl="2"/>
            <a:r>
              <a:rPr lang="zh-CN" altLang="en-US" dirty="0" smtClean="0"/>
              <a:t>正常情况下维持工人本人生活所必须的生活资料价值的总和</a:t>
            </a:r>
            <a:endParaRPr lang="en-US" altLang="zh-CN" dirty="0" smtClean="0"/>
          </a:p>
          <a:p>
            <a:pPr lvl="2"/>
            <a:r>
              <a:rPr lang="zh-CN" altLang="en-US" dirty="0" smtClean="0"/>
              <a:t>维持工人家属所需的生活资料的价值</a:t>
            </a:r>
            <a:endParaRPr lang="en-US" altLang="zh-CN" dirty="0" smtClean="0"/>
          </a:p>
          <a:p>
            <a:pPr lvl="2"/>
            <a:r>
              <a:rPr lang="zh-CN" altLang="en-US" dirty="0" smtClean="0"/>
              <a:t>劳动者的教育和培训费用</a:t>
            </a:r>
            <a:endParaRPr lang="en-US" altLang="zh-CN" dirty="0" smtClean="0"/>
          </a:p>
          <a:p>
            <a:r>
              <a:rPr lang="zh-CN" altLang="en-US" dirty="0" smtClean="0"/>
              <a:t>使用价值</a:t>
            </a:r>
            <a:endParaRPr lang="en-US" altLang="zh-CN" dirty="0" smtClean="0"/>
          </a:p>
          <a:p>
            <a:pPr lvl="1"/>
            <a:r>
              <a:rPr lang="zh-CN" altLang="en-US" dirty="0" smtClean="0"/>
              <a:t>劳动力商品使用价值的特殊性在于它是价值的源泉，能创造出超过劳动力价值的剩余价值</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10</a:t>
            </a:fld>
            <a:endParaRPr lang="zh-CN" altLang="en-US"/>
          </a:p>
        </p:txBody>
      </p:sp>
    </p:spTree>
    <p:extLst>
      <p:ext uri="{BB962C8B-B14F-4D97-AF65-F5344CB8AC3E}">
        <p14:creationId xmlns:p14="http://schemas.microsoft.com/office/powerpoint/2010/main" val="1554251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en-US" altLang="zh-CN" dirty="0" smtClean="0"/>
          </a:p>
          <a:p>
            <a:endParaRPr lang="en-US" altLang="zh-CN" dirty="0"/>
          </a:p>
          <a:p>
            <a:endParaRPr lang="en-US" altLang="zh-CN" dirty="0" smtClean="0"/>
          </a:p>
          <a:p>
            <a:r>
              <a:rPr lang="zh-CN" altLang="en-US" dirty="0"/>
              <a:t>第二节 剩余价值的生产</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11</a:t>
            </a:fld>
            <a:endParaRPr lang="zh-CN" altLang="en-US"/>
          </a:p>
        </p:txBody>
      </p:sp>
    </p:spTree>
    <p:extLst>
      <p:ext uri="{BB962C8B-B14F-4D97-AF65-F5344CB8AC3E}">
        <p14:creationId xmlns:p14="http://schemas.microsoft.com/office/powerpoint/2010/main" val="3336588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劳动过程和价值增殖过程</a:t>
            </a:r>
            <a:endParaRPr lang="zh-CN" altLang="en-US" dirty="0"/>
          </a:p>
        </p:txBody>
      </p:sp>
      <p:sp>
        <p:nvSpPr>
          <p:cNvPr id="3" name="内容占位符 2"/>
          <p:cNvSpPr>
            <a:spLocks noGrp="1"/>
          </p:cNvSpPr>
          <p:nvPr>
            <p:ph idx="1"/>
          </p:nvPr>
        </p:nvSpPr>
        <p:spPr/>
        <p:txBody>
          <a:bodyPr/>
          <a:lstStyle/>
          <a:p>
            <a:r>
              <a:rPr lang="zh-CN" altLang="en-US" dirty="0" smtClean="0"/>
              <a:t>资本主义</a:t>
            </a:r>
            <a:r>
              <a:rPr lang="zh-CN" altLang="en-US" dirty="0" smtClean="0"/>
              <a:t>生产：以雇佣劳动为基础的商品生产</a:t>
            </a:r>
            <a:endParaRPr lang="en-US" altLang="zh-CN" dirty="0" smtClean="0"/>
          </a:p>
          <a:p>
            <a:r>
              <a:rPr lang="zh-CN" altLang="en-US" dirty="0" smtClean="0"/>
              <a:t>资本主义生产的两重性</a:t>
            </a:r>
            <a:endParaRPr lang="en-US" altLang="zh-CN" dirty="0" smtClean="0"/>
          </a:p>
          <a:p>
            <a:pPr lvl="1"/>
            <a:r>
              <a:rPr lang="zh-CN" altLang="en-US" dirty="0" smtClean="0"/>
              <a:t>生产使用价值的劳动过程</a:t>
            </a:r>
            <a:endParaRPr lang="en-US" altLang="zh-CN" dirty="0" smtClean="0"/>
          </a:p>
          <a:p>
            <a:pPr lvl="1"/>
            <a:r>
              <a:rPr lang="zh-CN" altLang="en-US" dirty="0" smtClean="0"/>
              <a:t>生产剩余价值的价值增殖过程</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12</a:t>
            </a:fld>
            <a:endParaRPr lang="zh-CN" altLang="en-US"/>
          </a:p>
        </p:txBody>
      </p:sp>
    </p:spTree>
    <p:extLst>
      <p:ext uri="{BB962C8B-B14F-4D97-AF65-F5344CB8AC3E}">
        <p14:creationId xmlns:p14="http://schemas.microsoft.com/office/powerpoint/2010/main" val="2585911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不变资本和可变资本</a:t>
            </a:r>
            <a:endParaRPr lang="zh-CN" altLang="en-US" dirty="0"/>
          </a:p>
        </p:txBody>
      </p:sp>
      <p:sp>
        <p:nvSpPr>
          <p:cNvPr id="3" name="内容占位符 2"/>
          <p:cNvSpPr>
            <a:spLocks noGrp="1"/>
          </p:cNvSpPr>
          <p:nvPr>
            <p:ph idx="1"/>
          </p:nvPr>
        </p:nvSpPr>
        <p:spPr/>
        <p:txBody>
          <a:bodyPr/>
          <a:lstStyle/>
          <a:p>
            <a:r>
              <a:rPr lang="zh-CN" altLang="en-US" dirty="0" smtClean="0"/>
              <a:t>根据在剩余价值生产过程或者价值增殖过程中所起作用不同来区分</a:t>
            </a:r>
            <a:endParaRPr lang="en-US" altLang="zh-CN" dirty="0" smtClean="0"/>
          </a:p>
          <a:p>
            <a:pPr lvl="1"/>
            <a:r>
              <a:rPr lang="zh-CN" altLang="en-US" dirty="0" smtClean="0"/>
              <a:t>不变资本</a:t>
            </a:r>
            <a:r>
              <a:rPr lang="en-US" altLang="zh-CN" dirty="0"/>
              <a:t>c</a:t>
            </a:r>
            <a:r>
              <a:rPr lang="zh-CN" altLang="en-US" dirty="0" smtClean="0"/>
              <a:t>：价值转移，不改变价值量</a:t>
            </a:r>
            <a:endParaRPr lang="en-US" altLang="zh-CN" dirty="0" smtClean="0"/>
          </a:p>
          <a:p>
            <a:pPr lvl="1"/>
            <a:r>
              <a:rPr lang="zh-CN" altLang="en-US" dirty="0" smtClean="0"/>
              <a:t>可变资本</a:t>
            </a:r>
            <a:r>
              <a:rPr lang="en-US" altLang="zh-CN" dirty="0" smtClean="0"/>
              <a:t>v: </a:t>
            </a:r>
            <a:r>
              <a:rPr lang="zh-CN" altLang="en-US" dirty="0" smtClean="0"/>
              <a:t>价值增殖</a:t>
            </a:r>
            <a:endParaRPr lang="en-US" altLang="zh-CN" dirty="0"/>
          </a:p>
          <a:p>
            <a:r>
              <a:rPr lang="zh-CN" altLang="en-US" dirty="0" smtClean="0"/>
              <a:t>这种区分揭示了剩余价值产生的源泉</a:t>
            </a:r>
            <a:endParaRPr lang="en-US" altLang="zh-CN" dirty="0" smtClean="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13</a:t>
            </a:fld>
            <a:endParaRPr lang="zh-CN" altLang="en-US"/>
          </a:p>
        </p:txBody>
      </p:sp>
    </p:spTree>
    <p:extLst>
      <p:ext uri="{BB962C8B-B14F-4D97-AF65-F5344CB8AC3E}">
        <p14:creationId xmlns:p14="http://schemas.microsoft.com/office/powerpoint/2010/main" val="2150649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r>
              <a:rPr lang="zh-CN" altLang="en-US" dirty="0" smtClean="0"/>
              <a:t>价值增殖</a:t>
            </a:r>
          </a:p>
        </p:txBody>
      </p:sp>
      <p:sp>
        <p:nvSpPr>
          <p:cNvPr id="10243" name="内容占位符 2"/>
          <p:cNvSpPr>
            <a:spLocks noGrp="1"/>
          </p:cNvSpPr>
          <p:nvPr>
            <p:ph idx="1"/>
          </p:nvPr>
        </p:nvSpPr>
        <p:spPr/>
        <p:txBody>
          <a:bodyPr/>
          <a:lstStyle/>
          <a:p>
            <a:r>
              <a:rPr lang="zh-CN" altLang="en-US" dirty="0" smtClean="0"/>
              <a:t>必要劳动和剩余劳动</a:t>
            </a:r>
            <a:endParaRPr lang="en-US" altLang="zh-CN" dirty="0" smtClean="0"/>
          </a:p>
          <a:p>
            <a:pPr lvl="1"/>
            <a:r>
              <a:rPr lang="zh-CN" altLang="en-US" dirty="0" smtClean="0"/>
              <a:t>必要劳动是指劳动者用以实现劳动力再生产而付出的劳动。</a:t>
            </a:r>
            <a:endParaRPr lang="en-US" altLang="zh-CN" dirty="0" smtClean="0"/>
          </a:p>
          <a:p>
            <a:pPr lvl="1"/>
            <a:r>
              <a:rPr lang="zh-CN" altLang="en-US" dirty="0" smtClean="0"/>
              <a:t>剩余劳动是指一定时期内劳动者的劳动中超出必要劳动的部分。</a:t>
            </a:r>
            <a:endParaRPr lang="en-US" altLang="zh-CN" dirty="0" smtClean="0"/>
          </a:p>
        </p:txBody>
      </p:sp>
    </p:spTree>
    <p:extLst>
      <p:ext uri="{BB962C8B-B14F-4D97-AF65-F5344CB8AC3E}">
        <p14:creationId xmlns:p14="http://schemas.microsoft.com/office/powerpoint/2010/main" val="16844725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Rot="1" noChangeArrowheads="1"/>
          </p:cNvSpPr>
          <p:nvPr>
            <p:ph type="title"/>
          </p:nvPr>
        </p:nvSpPr>
        <p:spPr/>
        <p:txBody>
          <a:bodyPr/>
          <a:lstStyle/>
          <a:p>
            <a:r>
              <a:rPr lang="zh-CN" altLang="en-US" dirty="0" smtClean="0"/>
              <a:t>价值增殖</a:t>
            </a:r>
          </a:p>
        </p:txBody>
      </p:sp>
      <p:sp>
        <p:nvSpPr>
          <p:cNvPr id="11267" name="Rectangle 3"/>
          <p:cNvSpPr>
            <a:spLocks noGrp="1" noChangeArrowheads="1"/>
          </p:cNvSpPr>
          <p:nvPr>
            <p:ph type="body" idx="1"/>
          </p:nvPr>
        </p:nvSpPr>
        <p:spPr/>
        <p:txBody>
          <a:bodyPr/>
          <a:lstStyle/>
          <a:p>
            <a:pPr>
              <a:buFont typeface="Wingdings" panose="05000000000000000000" pitchFamily="2" charset="2"/>
              <a:buNone/>
            </a:pPr>
            <a:r>
              <a:rPr lang="en-US" altLang="zh-CN" smtClean="0"/>
              <a:t>   </a:t>
            </a:r>
          </a:p>
        </p:txBody>
      </p:sp>
      <p:sp>
        <p:nvSpPr>
          <p:cNvPr id="11268" name="Rectangle 4"/>
          <p:cNvSpPr>
            <a:spLocks noChangeArrowheads="1"/>
          </p:cNvSpPr>
          <p:nvPr/>
        </p:nvSpPr>
        <p:spPr bwMode="auto">
          <a:xfrm>
            <a:off x="1187450" y="2852738"/>
            <a:ext cx="792163" cy="1512887"/>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t>劳</a:t>
            </a:r>
          </a:p>
          <a:p>
            <a:pPr eaLnBrk="1" hangingPunct="1"/>
            <a:r>
              <a:rPr lang="zh-CN" altLang="en-US" dirty="0"/>
              <a:t>动</a:t>
            </a:r>
          </a:p>
          <a:p>
            <a:pPr eaLnBrk="1" hangingPunct="1"/>
            <a:r>
              <a:rPr lang="zh-CN" altLang="en-US" dirty="0" smtClean="0"/>
              <a:t>时</a:t>
            </a:r>
            <a:endParaRPr lang="en-US" altLang="zh-CN" dirty="0" smtClean="0"/>
          </a:p>
          <a:p>
            <a:pPr eaLnBrk="1" hangingPunct="1"/>
            <a:r>
              <a:rPr lang="zh-CN" altLang="en-US" dirty="0" smtClean="0"/>
              <a:t>间</a:t>
            </a:r>
            <a:endParaRPr lang="zh-CN" altLang="en-US" dirty="0"/>
          </a:p>
        </p:txBody>
      </p:sp>
      <p:sp>
        <p:nvSpPr>
          <p:cNvPr id="11269" name="AutoShape 5"/>
          <p:cNvSpPr>
            <a:spLocks/>
          </p:cNvSpPr>
          <p:nvPr/>
        </p:nvSpPr>
        <p:spPr bwMode="auto">
          <a:xfrm>
            <a:off x="2051050" y="2420938"/>
            <a:ext cx="360363" cy="2447925"/>
          </a:xfrm>
          <a:prstGeom prst="leftBrace">
            <a:avLst>
              <a:gd name="adj1" fmla="val 5660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270" name="Rectangle 6"/>
          <p:cNvSpPr>
            <a:spLocks noChangeArrowheads="1"/>
          </p:cNvSpPr>
          <p:nvPr/>
        </p:nvSpPr>
        <p:spPr bwMode="auto">
          <a:xfrm>
            <a:off x="2484438" y="2060575"/>
            <a:ext cx="1727200" cy="720725"/>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t>必要劳动时间和</a:t>
            </a:r>
          </a:p>
          <a:p>
            <a:pPr eaLnBrk="1" hangingPunct="1"/>
            <a:r>
              <a:rPr lang="zh-CN" altLang="en-US"/>
              <a:t>必要劳动</a:t>
            </a:r>
          </a:p>
        </p:txBody>
      </p:sp>
      <p:sp>
        <p:nvSpPr>
          <p:cNvPr id="11271" name="Line 7"/>
          <p:cNvSpPr>
            <a:spLocks noChangeShapeType="1"/>
          </p:cNvSpPr>
          <p:nvPr/>
        </p:nvSpPr>
        <p:spPr bwMode="auto">
          <a:xfrm>
            <a:off x="4211638" y="2420938"/>
            <a:ext cx="5762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72" name="Rectangle 8"/>
          <p:cNvSpPr>
            <a:spLocks noChangeArrowheads="1"/>
          </p:cNvSpPr>
          <p:nvPr/>
        </p:nvSpPr>
        <p:spPr bwMode="auto">
          <a:xfrm>
            <a:off x="4787900" y="1773238"/>
            <a:ext cx="2736850" cy="1296987"/>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a:t>工作日的一部分劳动时间，</a:t>
            </a:r>
          </a:p>
          <a:p>
            <a:pPr eaLnBrk="1" hangingPunct="1"/>
            <a:r>
              <a:rPr lang="zh-CN" altLang="en-US" sz="1600"/>
              <a:t>是用于再生产劳动力价值，</a:t>
            </a:r>
          </a:p>
          <a:p>
            <a:pPr eaLnBrk="1" hangingPunct="1"/>
            <a:r>
              <a:rPr lang="zh-CN" altLang="en-US" sz="1600"/>
              <a:t>叫必要劳动时间。在这个</a:t>
            </a:r>
          </a:p>
          <a:p>
            <a:pPr eaLnBrk="1" hangingPunct="1"/>
            <a:r>
              <a:rPr lang="zh-CN" altLang="en-US" sz="1600"/>
              <a:t>时间内支出的劳动，叫</a:t>
            </a:r>
          </a:p>
          <a:p>
            <a:pPr eaLnBrk="1" hangingPunct="1"/>
            <a:r>
              <a:rPr lang="zh-CN" altLang="en-US" sz="1600"/>
              <a:t>必要劳动</a:t>
            </a:r>
          </a:p>
        </p:txBody>
      </p:sp>
      <p:sp>
        <p:nvSpPr>
          <p:cNvPr id="11273" name="Rectangle 9"/>
          <p:cNvSpPr>
            <a:spLocks noChangeArrowheads="1"/>
          </p:cNvSpPr>
          <p:nvPr/>
        </p:nvSpPr>
        <p:spPr bwMode="auto">
          <a:xfrm>
            <a:off x="2411413" y="4581525"/>
            <a:ext cx="1800225" cy="719138"/>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t>剩余劳动时间和</a:t>
            </a:r>
          </a:p>
          <a:p>
            <a:pPr eaLnBrk="1" hangingPunct="1"/>
            <a:r>
              <a:rPr lang="zh-CN" altLang="en-US"/>
              <a:t>剩余劳动</a:t>
            </a:r>
          </a:p>
        </p:txBody>
      </p:sp>
      <p:sp>
        <p:nvSpPr>
          <p:cNvPr id="11274" name="Line 10"/>
          <p:cNvSpPr>
            <a:spLocks noChangeShapeType="1"/>
          </p:cNvSpPr>
          <p:nvPr/>
        </p:nvSpPr>
        <p:spPr bwMode="auto">
          <a:xfrm flipV="1">
            <a:off x="4211638" y="4941888"/>
            <a:ext cx="5762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75" name="Rectangle 11"/>
          <p:cNvSpPr>
            <a:spLocks noChangeArrowheads="1"/>
          </p:cNvSpPr>
          <p:nvPr/>
        </p:nvSpPr>
        <p:spPr bwMode="auto">
          <a:xfrm>
            <a:off x="4787900" y="4221163"/>
            <a:ext cx="2663825" cy="1439862"/>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a:t>工作日中超过必要劳动时间</a:t>
            </a:r>
          </a:p>
          <a:p>
            <a:pPr eaLnBrk="1" hangingPunct="1"/>
            <a:r>
              <a:rPr lang="zh-CN" altLang="en-US" sz="1600"/>
              <a:t>以外的那部分劳动时间，叫</a:t>
            </a:r>
          </a:p>
          <a:p>
            <a:pPr eaLnBrk="1" hangingPunct="1"/>
            <a:r>
              <a:rPr lang="zh-CN" altLang="en-US" sz="1600"/>
              <a:t>剩余劳动时间。在这个时间</a:t>
            </a:r>
          </a:p>
          <a:p>
            <a:pPr eaLnBrk="1" hangingPunct="1"/>
            <a:r>
              <a:rPr lang="zh-CN" altLang="en-US" sz="1600"/>
              <a:t>内支出的劳动，叫剩余劳动</a:t>
            </a:r>
          </a:p>
        </p:txBody>
      </p:sp>
      <p:sp>
        <p:nvSpPr>
          <p:cNvPr id="11276" name="Line 12"/>
          <p:cNvSpPr>
            <a:spLocks noChangeShapeType="1"/>
          </p:cNvSpPr>
          <p:nvPr/>
        </p:nvSpPr>
        <p:spPr bwMode="auto">
          <a:xfrm flipV="1">
            <a:off x="3203575" y="4005263"/>
            <a:ext cx="0" cy="5746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77" name="Rectangle 13"/>
          <p:cNvSpPr>
            <a:spLocks noChangeArrowheads="1"/>
          </p:cNvSpPr>
          <p:nvPr/>
        </p:nvSpPr>
        <p:spPr bwMode="auto">
          <a:xfrm>
            <a:off x="2771775" y="3500438"/>
            <a:ext cx="5184775" cy="504825"/>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a:t>剩余价值只是剩余劳动时间的凝结，是物化的剩余劳动</a:t>
            </a:r>
          </a:p>
        </p:txBody>
      </p:sp>
    </p:spTree>
    <p:extLst>
      <p:ext uri="{BB962C8B-B14F-4D97-AF65-F5344CB8AC3E}">
        <p14:creationId xmlns:p14="http://schemas.microsoft.com/office/powerpoint/2010/main" val="20381606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Rot="1" noChangeArrowheads="1"/>
          </p:cNvSpPr>
          <p:nvPr>
            <p:ph type="title"/>
          </p:nvPr>
        </p:nvSpPr>
        <p:spPr/>
        <p:txBody>
          <a:bodyPr/>
          <a:lstStyle/>
          <a:p>
            <a:r>
              <a:rPr lang="zh-CN" altLang="en-US" dirty="0" smtClean="0"/>
              <a:t>价值增殖</a:t>
            </a:r>
          </a:p>
        </p:txBody>
      </p:sp>
      <p:sp>
        <p:nvSpPr>
          <p:cNvPr id="12291" name="Rectangle 3"/>
          <p:cNvSpPr>
            <a:spLocks noGrp="1" noChangeArrowheads="1"/>
          </p:cNvSpPr>
          <p:nvPr>
            <p:ph type="body" idx="1"/>
          </p:nvPr>
        </p:nvSpPr>
        <p:spPr/>
        <p:txBody>
          <a:bodyPr/>
          <a:lstStyle/>
          <a:p>
            <a:pPr>
              <a:buFont typeface="Wingdings" panose="05000000000000000000" pitchFamily="2" charset="2"/>
              <a:buNone/>
            </a:pPr>
            <a:r>
              <a:rPr lang="en-US" altLang="zh-CN" smtClean="0"/>
              <a:t> </a:t>
            </a:r>
          </a:p>
        </p:txBody>
      </p:sp>
      <p:sp>
        <p:nvSpPr>
          <p:cNvPr id="12292" name="Line 4"/>
          <p:cNvSpPr>
            <a:spLocks noChangeShapeType="1"/>
          </p:cNvSpPr>
          <p:nvPr/>
        </p:nvSpPr>
        <p:spPr bwMode="auto">
          <a:xfrm>
            <a:off x="1476375" y="4005263"/>
            <a:ext cx="60483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93" name="Line 5"/>
          <p:cNvSpPr>
            <a:spLocks noChangeShapeType="1"/>
          </p:cNvSpPr>
          <p:nvPr/>
        </p:nvSpPr>
        <p:spPr bwMode="auto">
          <a:xfrm>
            <a:off x="1476375" y="3789363"/>
            <a:ext cx="0" cy="215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94" name="Line 6"/>
          <p:cNvSpPr>
            <a:spLocks noChangeShapeType="1"/>
          </p:cNvSpPr>
          <p:nvPr/>
        </p:nvSpPr>
        <p:spPr bwMode="auto">
          <a:xfrm>
            <a:off x="7524750" y="3789363"/>
            <a:ext cx="0" cy="215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95" name="Line 7"/>
          <p:cNvSpPr>
            <a:spLocks noChangeShapeType="1"/>
          </p:cNvSpPr>
          <p:nvPr/>
        </p:nvSpPr>
        <p:spPr bwMode="auto">
          <a:xfrm>
            <a:off x="4643438" y="3789363"/>
            <a:ext cx="0" cy="215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96" name="AutoShape 8"/>
          <p:cNvSpPr>
            <a:spLocks noChangeArrowheads="1"/>
          </p:cNvSpPr>
          <p:nvPr/>
        </p:nvSpPr>
        <p:spPr bwMode="auto">
          <a:xfrm>
            <a:off x="1403350" y="4076700"/>
            <a:ext cx="3671888" cy="863600"/>
          </a:xfrm>
          <a:prstGeom prst="curvedUpArrow">
            <a:avLst>
              <a:gd name="adj1" fmla="val 85037"/>
              <a:gd name="adj2" fmla="val 170074"/>
              <a:gd name="adj3" fmla="val 33333"/>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297" name="AutoShape 9"/>
          <p:cNvSpPr>
            <a:spLocks noChangeArrowheads="1"/>
          </p:cNvSpPr>
          <p:nvPr/>
        </p:nvSpPr>
        <p:spPr bwMode="auto">
          <a:xfrm>
            <a:off x="4716463" y="4076700"/>
            <a:ext cx="3311525" cy="865188"/>
          </a:xfrm>
          <a:prstGeom prst="curvedUpArrow">
            <a:avLst>
              <a:gd name="adj1" fmla="val 76409"/>
              <a:gd name="adj2" fmla="val 153101"/>
              <a:gd name="adj3" fmla="val 33333"/>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298" name="Rectangle 10"/>
          <p:cNvSpPr>
            <a:spLocks noChangeArrowheads="1"/>
          </p:cNvSpPr>
          <p:nvPr/>
        </p:nvSpPr>
        <p:spPr bwMode="auto">
          <a:xfrm>
            <a:off x="2051050" y="5084763"/>
            <a:ext cx="2160588" cy="576262"/>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6</a:t>
            </a:r>
            <a:r>
              <a:rPr lang="zh-CN" altLang="en-US"/>
              <a:t>个小时</a:t>
            </a:r>
          </a:p>
          <a:p>
            <a:pPr eaLnBrk="1" hangingPunct="1"/>
            <a:r>
              <a:rPr lang="zh-CN" altLang="en-US" sz="1600"/>
              <a:t>（必要劳动）</a:t>
            </a:r>
          </a:p>
        </p:txBody>
      </p:sp>
      <p:sp>
        <p:nvSpPr>
          <p:cNvPr id="12299" name="Rectangle 11"/>
          <p:cNvSpPr>
            <a:spLocks noChangeArrowheads="1"/>
          </p:cNvSpPr>
          <p:nvPr/>
        </p:nvSpPr>
        <p:spPr bwMode="auto">
          <a:xfrm>
            <a:off x="5435600" y="5084763"/>
            <a:ext cx="1873250" cy="576262"/>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6</a:t>
            </a:r>
            <a:r>
              <a:rPr lang="zh-CN" altLang="en-US"/>
              <a:t>个小时</a:t>
            </a:r>
          </a:p>
          <a:p>
            <a:pPr eaLnBrk="1" hangingPunct="1"/>
            <a:r>
              <a:rPr lang="zh-CN" altLang="en-US" sz="1600"/>
              <a:t>（剩余劳动）</a:t>
            </a:r>
          </a:p>
        </p:txBody>
      </p:sp>
      <p:sp>
        <p:nvSpPr>
          <p:cNvPr id="12300" name="AutoShape 12"/>
          <p:cNvSpPr>
            <a:spLocks noChangeArrowheads="1"/>
          </p:cNvSpPr>
          <p:nvPr/>
        </p:nvSpPr>
        <p:spPr bwMode="auto">
          <a:xfrm>
            <a:off x="1403350" y="1700213"/>
            <a:ext cx="2232025" cy="1511300"/>
          </a:xfrm>
          <a:prstGeom prst="wedgeRoundRectCallout">
            <a:avLst>
              <a:gd name="adj1" fmla="val 49718"/>
              <a:gd name="adj2" fmla="val 101681"/>
              <a:gd name="adj3" fmla="val 16667"/>
            </a:avLst>
          </a:prstGeom>
          <a:solidFill>
            <a:schemeClr val="accent1"/>
          </a:solidFill>
          <a:ln w="9525">
            <a:solidFill>
              <a:schemeClr val="tx1"/>
            </a:solidFill>
            <a:miter lim="800000"/>
            <a:headEnd/>
            <a:tailEnd/>
          </a:ln>
        </p:spPr>
        <p:txBody>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dirty="0"/>
              <a:t>价值形成过程</a:t>
            </a:r>
            <a:r>
              <a:rPr lang="en-US" altLang="zh-CN" sz="1600" dirty="0">
                <a:latin typeface="Arial" panose="020B0604020202020204" pitchFamily="34" charset="0"/>
              </a:rPr>
              <a:t>——</a:t>
            </a:r>
            <a:endParaRPr lang="en-US" altLang="zh-CN" sz="1600" dirty="0"/>
          </a:p>
          <a:p>
            <a:pPr eaLnBrk="1" hangingPunct="1"/>
            <a:r>
              <a:rPr lang="zh-CN" altLang="en-US" sz="1600" dirty="0"/>
              <a:t>工人的劳动形成了新的价值，但仅补偿了劳动力价值，没有</a:t>
            </a:r>
            <a:r>
              <a:rPr lang="zh-CN" altLang="en-US" sz="1600" dirty="0" smtClean="0"/>
              <a:t>价值</a:t>
            </a:r>
            <a:r>
              <a:rPr lang="zh-CN" altLang="en-US" sz="1600" dirty="0"/>
              <a:t>增殖</a:t>
            </a:r>
            <a:r>
              <a:rPr lang="zh-CN" altLang="en-US" sz="1600" dirty="0" smtClean="0"/>
              <a:t>。</a:t>
            </a:r>
            <a:endParaRPr lang="zh-CN" altLang="en-US" sz="1600" dirty="0"/>
          </a:p>
        </p:txBody>
      </p:sp>
      <p:sp>
        <p:nvSpPr>
          <p:cNvPr id="12301" name="AutoShape 13"/>
          <p:cNvSpPr>
            <a:spLocks noChangeArrowheads="1"/>
          </p:cNvSpPr>
          <p:nvPr/>
        </p:nvSpPr>
        <p:spPr bwMode="auto">
          <a:xfrm>
            <a:off x="5580063" y="1700213"/>
            <a:ext cx="2232025" cy="1512887"/>
          </a:xfrm>
          <a:prstGeom prst="wedgeRoundRectCallout">
            <a:avLst>
              <a:gd name="adj1" fmla="val -50500"/>
              <a:gd name="adj2" fmla="val 101310"/>
              <a:gd name="adj3" fmla="val 16667"/>
            </a:avLst>
          </a:prstGeom>
          <a:solidFill>
            <a:schemeClr val="accent1"/>
          </a:solidFill>
          <a:ln w="9525">
            <a:solidFill>
              <a:schemeClr val="tx1"/>
            </a:solidFill>
            <a:miter lim="800000"/>
            <a:headEnd/>
            <a:tailEnd/>
          </a:ln>
        </p:spPr>
        <p:txBody>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dirty="0"/>
              <a:t>价值增值过程</a:t>
            </a:r>
            <a:r>
              <a:rPr lang="en-US" altLang="zh-CN" sz="1600" dirty="0">
                <a:latin typeface="Arial" panose="020B0604020202020204" pitchFamily="34" charset="0"/>
              </a:rPr>
              <a:t>——</a:t>
            </a:r>
            <a:endParaRPr lang="en-US" altLang="zh-CN" sz="1600" dirty="0"/>
          </a:p>
          <a:p>
            <a:pPr eaLnBrk="1" hangingPunct="1"/>
            <a:r>
              <a:rPr lang="zh-CN" altLang="en-US" sz="1600" dirty="0"/>
              <a:t>工人的劳动形成的新价值超出了劳动力价值，实现了</a:t>
            </a:r>
            <a:r>
              <a:rPr lang="zh-CN" altLang="en-US" sz="1600" dirty="0" smtClean="0"/>
              <a:t>价值增殖。</a:t>
            </a:r>
            <a:endParaRPr lang="zh-CN" altLang="en-US" sz="1600" dirty="0"/>
          </a:p>
        </p:txBody>
      </p:sp>
    </p:spTree>
    <p:extLst>
      <p:ext uri="{BB962C8B-B14F-4D97-AF65-F5344CB8AC3E}">
        <p14:creationId xmlns:p14="http://schemas.microsoft.com/office/powerpoint/2010/main" val="24478806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a:lstStyle/>
          <a:p>
            <a:r>
              <a:rPr lang="zh-CN" altLang="en-US" dirty="0" smtClean="0"/>
              <a:t>价值增殖</a:t>
            </a:r>
          </a:p>
        </p:txBody>
      </p:sp>
      <p:sp>
        <p:nvSpPr>
          <p:cNvPr id="13315" name="内容占位符 2"/>
          <p:cNvSpPr>
            <a:spLocks noGrp="1"/>
          </p:cNvSpPr>
          <p:nvPr>
            <p:ph idx="1"/>
          </p:nvPr>
        </p:nvSpPr>
        <p:spPr/>
        <p:txBody>
          <a:bodyPr/>
          <a:lstStyle/>
          <a:p>
            <a:r>
              <a:rPr lang="zh-CN" altLang="en-US" dirty="0" smtClean="0"/>
              <a:t>剩余价值和利润</a:t>
            </a:r>
            <a:endParaRPr lang="en-US" altLang="zh-CN" dirty="0" smtClean="0"/>
          </a:p>
          <a:p>
            <a:pPr lvl="2"/>
            <a:r>
              <a:rPr lang="zh-CN" altLang="en-US" sz="2400" dirty="0" smtClean="0"/>
              <a:t>价值增殖额，如果定义为在剩余劳动时间里创造的价值，则称为剩余价值。</a:t>
            </a:r>
            <a:endParaRPr lang="en-US" altLang="zh-CN" sz="2400" dirty="0" smtClean="0"/>
          </a:p>
          <a:p>
            <a:pPr lvl="2"/>
            <a:r>
              <a:rPr lang="zh-CN" altLang="en-US" sz="2400" dirty="0" smtClean="0"/>
              <a:t>如果将价值增殖额定义为与全部预付资本中大于预付资本的增殖额，则是利润。</a:t>
            </a:r>
            <a:endParaRPr lang="en-US" altLang="zh-CN" sz="2400" dirty="0" smtClean="0"/>
          </a:p>
          <a:p>
            <a:endParaRPr lang="zh-CN" altLang="en-US" dirty="0" smtClean="0"/>
          </a:p>
        </p:txBody>
      </p:sp>
    </p:spTree>
    <p:extLst>
      <p:ext uri="{BB962C8B-B14F-4D97-AF65-F5344CB8AC3E}">
        <p14:creationId xmlns:p14="http://schemas.microsoft.com/office/powerpoint/2010/main" val="605358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剩余价值率</a:t>
            </a:r>
            <a:endParaRPr lang="zh-CN" altLang="en-US" dirty="0"/>
          </a:p>
        </p:txBody>
      </p:sp>
      <p:sp>
        <p:nvSpPr>
          <p:cNvPr id="3" name="内容占位符 2"/>
          <p:cNvSpPr>
            <a:spLocks noGrp="1"/>
          </p:cNvSpPr>
          <p:nvPr>
            <p:ph idx="1"/>
          </p:nvPr>
        </p:nvSpPr>
        <p:spPr/>
        <p:txBody>
          <a:bodyPr/>
          <a:lstStyle/>
          <a:p>
            <a:r>
              <a:rPr lang="zh-CN" altLang="en-US" dirty="0"/>
              <a:t>剩余价值率和利润率</a:t>
            </a:r>
            <a:endParaRPr lang="en-US" altLang="zh-CN" dirty="0"/>
          </a:p>
          <a:p>
            <a:pPr lvl="1"/>
            <a:r>
              <a:rPr lang="zh-CN" altLang="en-US" dirty="0"/>
              <a:t>利润率</a:t>
            </a:r>
            <a:r>
              <a:rPr lang="en-US" altLang="zh-CN" dirty="0"/>
              <a:t>=</a:t>
            </a:r>
            <a:r>
              <a:rPr lang="zh-CN" altLang="en-US" dirty="0"/>
              <a:t>利润额</a:t>
            </a:r>
            <a:r>
              <a:rPr lang="en-US" altLang="zh-CN" dirty="0"/>
              <a:t>/</a:t>
            </a:r>
            <a:r>
              <a:rPr lang="zh-CN" altLang="en-US" dirty="0"/>
              <a:t>预付资本</a:t>
            </a:r>
            <a:r>
              <a:rPr lang="en-US" altLang="zh-CN" dirty="0"/>
              <a:t>*100</a:t>
            </a:r>
          </a:p>
          <a:p>
            <a:pPr lvl="1"/>
            <a:r>
              <a:rPr lang="zh-CN" altLang="en-US" dirty="0"/>
              <a:t>剩余价值率</a:t>
            </a:r>
            <a:r>
              <a:rPr lang="en-US" altLang="zh-CN" dirty="0"/>
              <a:t>=</a:t>
            </a:r>
            <a:r>
              <a:rPr lang="zh-CN" altLang="en-US" dirty="0"/>
              <a:t>剩余价值</a:t>
            </a:r>
            <a:r>
              <a:rPr lang="en-US" altLang="zh-CN" dirty="0"/>
              <a:t>/</a:t>
            </a:r>
            <a:r>
              <a:rPr lang="zh-CN" altLang="en-US" dirty="0"/>
              <a:t>必要劳动价值</a:t>
            </a:r>
            <a:r>
              <a:rPr lang="en-US" altLang="zh-CN" dirty="0"/>
              <a:t>*100</a:t>
            </a:r>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18</a:t>
            </a:fld>
            <a:endParaRPr lang="zh-CN" altLang="en-US"/>
          </a:p>
        </p:txBody>
      </p:sp>
    </p:spTree>
    <p:extLst>
      <p:ext uri="{BB962C8B-B14F-4D97-AF65-F5344CB8AC3E}">
        <p14:creationId xmlns:p14="http://schemas.microsoft.com/office/powerpoint/2010/main" val="1341937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en-US" altLang="zh-CN" dirty="0" smtClean="0"/>
          </a:p>
          <a:p>
            <a:endParaRPr lang="en-US" altLang="zh-CN" dirty="0"/>
          </a:p>
          <a:p>
            <a:endParaRPr lang="en-US" altLang="zh-CN" dirty="0" smtClean="0"/>
          </a:p>
          <a:p>
            <a:r>
              <a:rPr lang="zh-CN" altLang="en-US" dirty="0"/>
              <a:t>第三节 剩余价值生产的两种形式</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19</a:t>
            </a:fld>
            <a:endParaRPr lang="zh-CN" altLang="en-US"/>
          </a:p>
        </p:txBody>
      </p:sp>
    </p:spTree>
    <p:extLst>
      <p:ext uri="{BB962C8B-B14F-4D97-AF65-F5344CB8AC3E}">
        <p14:creationId xmlns:p14="http://schemas.microsoft.com/office/powerpoint/2010/main" val="4995173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绝对剩余价值生产</a:t>
            </a:r>
            <a:endParaRPr lang="zh-CN" altLang="en-US" dirty="0"/>
          </a:p>
        </p:txBody>
      </p:sp>
      <p:sp>
        <p:nvSpPr>
          <p:cNvPr id="3" name="内容占位符 2"/>
          <p:cNvSpPr>
            <a:spLocks noGrp="1"/>
          </p:cNvSpPr>
          <p:nvPr>
            <p:ph idx="1"/>
          </p:nvPr>
        </p:nvSpPr>
        <p:spPr/>
        <p:txBody>
          <a:bodyPr/>
          <a:lstStyle/>
          <a:p>
            <a:r>
              <a:rPr lang="zh-CN" altLang="en-US" dirty="0" smtClean="0"/>
              <a:t>绝对剩余价值指在必要劳动时间不变的条件下，由于延长工作日的劳动时间和生产的剩余价值</a:t>
            </a:r>
            <a:endParaRPr lang="en-US" altLang="zh-CN" dirty="0" smtClean="0"/>
          </a:p>
          <a:p>
            <a:pPr lvl="1"/>
            <a:r>
              <a:rPr lang="zh-CN" altLang="en-US" dirty="0" smtClean="0"/>
              <a:t>受两个因素制约</a:t>
            </a:r>
            <a:endParaRPr lang="en-US" altLang="zh-CN" dirty="0" smtClean="0"/>
          </a:p>
          <a:p>
            <a:pPr lvl="2"/>
            <a:r>
              <a:rPr lang="zh-CN" altLang="en-US" dirty="0" smtClean="0"/>
              <a:t>劳动时间的生理界限：休息、吃饭等，恢复体力</a:t>
            </a:r>
            <a:endParaRPr lang="en-US" altLang="zh-CN" dirty="0" smtClean="0"/>
          </a:p>
          <a:p>
            <a:pPr lvl="2"/>
            <a:r>
              <a:rPr lang="zh-CN" altLang="en-US" dirty="0" smtClean="0"/>
              <a:t>道德的界限：社会活动和文化生活</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20</a:t>
            </a:fld>
            <a:endParaRPr lang="zh-CN" altLang="en-US"/>
          </a:p>
        </p:txBody>
      </p:sp>
    </p:spTree>
    <p:extLst>
      <p:ext uri="{BB962C8B-B14F-4D97-AF65-F5344CB8AC3E}">
        <p14:creationId xmlns:p14="http://schemas.microsoft.com/office/powerpoint/2010/main" val="1293333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相对剩余价值生产</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smtClean="0"/>
              <a:t>在工作日劳动时间长度不变的条件下，资本家通过缩短必要劳动时间相对延长剩余劳动时间而生产的剩余价值，称为相对剩余价值</a:t>
            </a:r>
            <a:endParaRPr lang="en-US" altLang="zh-CN" dirty="0" smtClean="0"/>
          </a:p>
          <a:p>
            <a:pPr lvl="1"/>
            <a:r>
              <a:rPr lang="zh-CN" altLang="en-US" dirty="0" smtClean="0"/>
              <a:t>降低生活资料价值，提高部分的劳动生产率</a:t>
            </a:r>
            <a:endParaRPr lang="en-US" altLang="zh-CN" dirty="0" smtClean="0"/>
          </a:p>
          <a:p>
            <a:pPr lvl="1"/>
            <a:r>
              <a:rPr lang="zh-CN" altLang="en-US" dirty="0" smtClean="0"/>
              <a:t>单个企业提高劳动生产率不能产生相对剩余价值，只能产生超额剩余价值</a:t>
            </a:r>
            <a:endParaRPr lang="en-US" altLang="zh-CN" dirty="0" smtClean="0"/>
          </a:p>
          <a:p>
            <a:pPr lvl="2"/>
            <a:r>
              <a:rPr lang="zh-CN" altLang="en-US" dirty="0" smtClean="0"/>
              <a:t>超额剩余价值：指企业由于提高劳动生产率而使商品个别价值低于社会价值的差额</a:t>
            </a:r>
            <a:endParaRPr lang="en-US" altLang="zh-CN" dirty="0" smtClean="0"/>
          </a:p>
          <a:p>
            <a:pPr lvl="1"/>
            <a:r>
              <a:rPr lang="zh-CN" altLang="en-US" dirty="0" smtClean="0"/>
              <a:t>社会劳动生产率提高，单个资本家失去超额剩余价值，整个资本家阶级获得相对剩余价值</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21</a:t>
            </a:fld>
            <a:endParaRPr lang="zh-CN" altLang="en-US"/>
          </a:p>
        </p:txBody>
      </p:sp>
    </p:spTree>
    <p:extLst>
      <p:ext uri="{BB962C8B-B14F-4D97-AF65-F5344CB8AC3E}">
        <p14:creationId xmlns:p14="http://schemas.microsoft.com/office/powerpoint/2010/main" val="8635191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804332"/>
            <a:ext cx="7651054" cy="778931"/>
          </a:xfrm>
        </p:spPr>
        <p:txBody>
          <a:bodyPr>
            <a:normAutofit fontScale="90000"/>
          </a:bodyPr>
          <a:lstStyle/>
          <a:p>
            <a:r>
              <a:rPr lang="zh-CN" altLang="en-US" dirty="0" smtClean="0"/>
              <a:t>绝对剩余价值生产与相对剩余价值生产的联系和区别</a:t>
            </a:r>
            <a:endParaRPr lang="zh-CN" altLang="en-US" dirty="0"/>
          </a:p>
        </p:txBody>
      </p:sp>
      <p:sp>
        <p:nvSpPr>
          <p:cNvPr id="3" name="内容占位符 2"/>
          <p:cNvSpPr>
            <a:spLocks noGrp="1"/>
          </p:cNvSpPr>
          <p:nvPr>
            <p:ph idx="1"/>
          </p:nvPr>
        </p:nvSpPr>
        <p:spPr/>
        <p:txBody>
          <a:bodyPr/>
          <a:lstStyle/>
          <a:p>
            <a:r>
              <a:rPr lang="zh-CN" altLang="en-US" dirty="0" smtClean="0"/>
              <a:t>联系</a:t>
            </a:r>
            <a:endParaRPr lang="en-US" altLang="zh-CN" dirty="0" smtClean="0"/>
          </a:p>
          <a:p>
            <a:pPr lvl="1"/>
            <a:r>
              <a:rPr lang="zh-CN" altLang="en-US" dirty="0" smtClean="0"/>
              <a:t>剥削方法是一致的，都是延长了工人剩余劳动时间，增加了剩余价值</a:t>
            </a:r>
            <a:endParaRPr lang="en-US" altLang="zh-CN" dirty="0" smtClean="0"/>
          </a:p>
          <a:p>
            <a:r>
              <a:rPr lang="zh-CN" altLang="en-US" dirty="0" smtClean="0"/>
              <a:t>区别</a:t>
            </a:r>
            <a:endParaRPr lang="en-US" altLang="zh-CN" dirty="0" smtClean="0"/>
          </a:p>
          <a:p>
            <a:pPr lvl="1"/>
            <a:r>
              <a:rPr lang="zh-CN" altLang="en-US" dirty="0" smtClean="0"/>
              <a:t>绝对剩余价值生产是剥削的一般基础，是相对剩余价值生产的起点</a:t>
            </a:r>
            <a:endParaRPr lang="en-US" altLang="zh-CN" dirty="0" smtClean="0"/>
          </a:p>
          <a:p>
            <a:pPr lvl="1"/>
            <a:r>
              <a:rPr lang="zh-CN" altLang="en-US" dirty="0" smtClean="0"/>
              <a:t>两种提高剥削程度的方法在资本主义发展的不同阶段起着不同的作用，早期是绝对剩余价值生产，随着资本主义发展，技术水平提高，相对剩余价值生产比较突出</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22</a:t>
            </a:fld>
            <a:endParaRPr lang="zh-CN" altLang="en-US"/>
          </a:p>
        </p:txBody>
      </p:sp>
    </p:spTree>
    <p:extLst>
      <p:ext uri="{BB962C8B-B14F-4D97-AF65-F5344CB8AC3E}">
        <p14:creationId xmlns:p14="http://schemas.microsoft.com/office/powerpoint/2010/main" val="3691826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资本主义的基本经济规律</a:t>
            </a:r>
            <a:endParaRPr lang="zh-CN" altLang="en-US" dirty="0"/>
          </a:p>
        </p:txBody>
      </p:sp>
      <p:sp>
        <p:nvSpPr>
          <p:cNvPr id="3" name="内容占位符 2"/>
          <p:cNvSpPr>
            <a:spLocks noGrp="1"/>
          </p:cNvSpPr>
          <p:nvPr>
            <p:ph idx="1"/>
          </p:nvPr>
        </p:nvSpPr>
        <p:spPr/>
        <p:txBody>
          <a:bodyPr/>
          <a:lstStyle/>
          <a:p>
            <a:r>
              <a:rPr lang="zh-CN" altLang="en-US" dirty="0" smtClean="0"/>
              <a:t>剩余价值规律</a:t>
            </a:r>
            <a:endParaRPr lang="en-US" altLang="zh-CN" dirty="0" smtClean="0"/>
          </a:p>
          <a:p>
            <a:pPr lvl="1"/>
            <a:r>
              <a:rPr lang="zh-CN" altLang="en-US" dirty="0" smtClean="0"/>
              <a:t>资本主义的基本经济规律是剩余价值规律，即资本主义的生产目的和动机是最大响度地追求剩余价值，达到这一目的的手段是不断扩大和加强对雇佣劳动的剥削</a:t>
            </a:r>
            <a:endParaRPr lang="en-US" altLang="zh-CN" dirty="0" smtClean="0"/>
          </a:p>
          <a:p>
            <a:pPr lvl="2"/>
            <a:r>
              <a:rPr lang="zh-CN" altLang="en-US" dirty="0" smtClean="0"/>
              <a:t>剩余价值规律决定着资本主义生产的实质</a:t>
            </a:r>
            <a:endParaRPr lang="en-US" altLang="zh-CN" dirty="0" smtClean="0"/>
          </a:p>
          <a:p>
            <a:pPr lvl="2"/>
            <a:r>
              <a:rPr lang="zh-CN" altLang="en-US" dirty="0" smtClean="0"/>
              <a:t>剩余价值规律决定着资本主义生产发展的一切主要方面和主要过程</a:t>
            </a:r>
            <a:endParaRPr lang="en-US" altLang="zh-CN" dirty="0" smtClean="0"/>
          </a:p>
          <a:p>
            <a:pPr lvl="2"/>
            <a:r>
              <a:rPr lang="zh-CN" altLang="en-US" dirty="0" smtClean="0"/>
              <a:t>剩余价值规律还决定了资本主义经济的发展及其历史趋势</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23</a:t>
            </a:fld>
            <a:endParaRPr lang="zh-CN" altLang="en-US"/>
          </a:p>
        </p:txBody>
      </p:sp>
    </p:spTree>
    <p:extLst>
      <p:ext uri="{BB962C8B-B14F-4D97-AF65-F5344CB8AC3E}">
        <p14:creationId xmlns:p14="http://schemas.microsoft.com/office/powerpoint/2010/main" val="15225570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en-US" altLang="zh-CN" dirty="0" smtClean="0"/>
          </a:p>
          <a:p>
            <a:endParaRPr lang="en-US" altLang="zh-CN" dirty="0"/>
          </a:p>
          <a:p>
            <a:endParaRPr lang="en-US" altLang="zh-CN" dirty="0" smtClean="0"/>
          </a:p>
          <a:p>
            <a:r>
              <a:rPr lang="zh-CN" altLang="en-US" dirty="0"/>
              <a:t>第四节 资本主义工资</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24</a:t>
            </a:fld>
            <a:endParaRPr lang="zh-CN" altLang="en-US"/>
          </a:p>
        </p:txBody>
      </p:sp>
    </p:spTree>
    <p:extLst>
      <p:ext uri="{BB962C8B-B14F-4D97-AF65-F5344CB8AC3E}">
        <p14:creationId xmlns:p14="http://schemas.microsoft.com/office/powerpoint/2010/main" val="22383130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资本主义工资的本质</a:t>
            </a:r>
            <a:endParaRPr lang="zh-CN" altLang="en-US" dirty="0"/>
          </a:p>
        </p:txBody>
      </p:sp>
      <p:sp>
        <p:nvSpPr>
          <p:cNvPr id="3" name="内容占位符 2"/>
          <p:cNvSpPr>
            <a:spLocks noGrp="1"/>
          </p:cNvSpPr>
          <p:nvPr>
            <p:ph idx="1"/>
          </p:nvPr>
        </p:nvSpPr>
        <p:spPr/>
        <p:txBody>
          <a:bodyPr/>
          <a:lstStyle/>
          <a:p>
            <a:r>
              <a:rPr lang="zh-CN" altLang="en-US" dirty="0" smtClean="0"/>
              <a:t>一种假象</a:t>
            </a:r>
            <a:endParaRPr lang="en-US" altLang="zh-CN" dirty="0" smtClean="0"/>
          </a:p>
          <a:p>
            <a:pPr lvl="1"/>
            <a:r>
              <a:rPr lang="zh-CN" altLang="en-US" dirty="0" smtClean="0"/>
              <a:t>工人好像出卖的是劳动而不是劳动力</a:t>
            </a:r>
            <a:endParaRPr lang="en-US" altLang="zh-CN" dirty="0" smtClean="0"/>
          </a:p>
          <a:p>
            <a:r>
              <a:rPr lang="zh-CN" altLang="en-US" dirty="0" smtClean="0"/>
              <a:t>劳动不能成为一种商品</a:t>
            </a:r>
            <a:endParaRPr lang="en-US" altLang="zh-CN" dirty="0" smtClean="0"/>
          </a:p>
          <a:p>
            <a:pPr lvl="1"/>
            <a:r>
              <a:rPr lang="zh-CN" altLang="en-US" dirty="0" smtClean="0"/>
              <a:t>如果劳动是商品，价值量就无法计算</a:t>
            </a:r>
            <a:endParaRPr lang="en-US" altLang="zh-CN" dirty="0" smtClean="0"/>
          </a:p>
          <a:p>
            <a:pPr lvl="1"/>
            <a:r>
              <a:rPr lang="zh-CN" altLang="en-US" dirty="0" smtClean="0"/>
              <a:t>劳动不是独立存在</a:t>
            </a:r>
            <a:r>
              <a:rPr lang="zh-CN" altLang="en-US" dirty="0" smtClean="0"/>
              <a:t>的“经济的具体物”，</a:t>
            </a:r>
            <a:r>
              <a:rPr lang="zh-CN" altLang="en-US" dirty="0" smtClean="0"/>
              <a:t>不能作为商品出卖</a:t>
            </a:r>
            <a:endParaRPr lang="en-US" altLang="zh-CN" dirty="0" smtClean="0"/>
          </a:p>
          <a:p>
            <a:pPr lvl="1"/>
            <a:r>
              <a:rPr lang="zh-CN" altLang="en-US" dirty="0" smtClean="0"/>
              <a:t>把劳动看作商品，不是违反价值规律，就是违背剩余价值规律</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25</a:t>
            </a:fld>
            <a:endParaRPr lang="zh-CN" altLang="en-US"/>
          </a:p>
        </p:txBody>
      </p:sp>
    </p:spTree>
    <p:extLst>
      <p:ext uri="{BB962C8B-B14F-4D97-AF65-F5344CB8AC3E}">
        <p14:creationId xmlns:p14="http://schemas.microsoft.com/office/powerpoint/2010/main" val="35207276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资本主义工资的实质</a:t>
            </a:r>
            <a:endParaRPr lang="zh-CN" altLang="en-US" dirty="0"/>
          </a:p>
        </p:txBody>
      </p:sp>
      <p:sp>
        <p:nvSpPr>
          <p:cNvPr id="3" name="内容占位符 2"/>
          <p:cNvSpPr>
            <a:spLocks noGrp="1"/>
          </p:cNvSpPr>
          <p:nvPr>
            <p:ph idx="1"/>
          </p:nvPr>
        </p:nvSpPr>
        <p:spPr/>
        <p:txBody>
          <a:bodyPr/>
          <a:lstStyle/>
          <a:p>
            <a:r>
              <a:rPr lang="zh-CN" altLang="en-US" dirty="0"/>
              <a:t>工资</a:t>
            </a:r>
            <a:r>
              <a:rPr lang="zh-CN" altLang="en-US" dirty="0" smtClean="0"/>
              <a:t>是劳动力价值（价格）的转化形式</a:t>
            </a:r>
            <a:endParaRPr lang="en-US" altLang="zh-CN" dirty="0" smtClean="0"/>
          </a:p>
          <a:p>
            <a:r>
              <a:rPr lang="zh-CN" altLang="en-US" dirty="0" smtClean="0"/>
              <a:t>劳动力的价值（价格）表现为劳动的价值（价格），是由工资的特点及其支付形式本身产生的</a:t>
            </a:r>
            <a:endParaRPr lang="en-US" altLang="zh-CN" dirty="0" smtClean="0"/>
          </a:p>
          <a:p>
            <a:pPr lvl="1"/>
            <a:r>
              <a:rPr lang="zh-CN" altLang="en-US" dirty="0" smtClean="0"/>
              <a:t>工人的劳动能力存在于活的人体内</a:t>
            </a:r>
            <a:endParaRPr lang="en-US" altLang="zh-CN" dirty="0" smtClean="0"/>
          </a:p>
          <a:p>
            <a:pPr lvl="1"/>
            <a:r>
              <a:rPr lang="zh-CN" altLang="en-US" dirty="0" smtClean="0"/>
              <a:t>劳动力的买卖上，货币充当支付手段</a:t>
            </a:r>
            <a:endParaRPr lang="en-US" altLang="zh-CN" dirty="0" smtClean="0"/>
          </a:p>
          <a:p>
            <a:pPr lvl="1"/>
            <a:r>
              <a:rPr lang="zh-CN" altLang="en-US" dirty="0" smtClean="0"/>
              <a:t>工资形式的实际运动中，也显示出许多现象，掩盖了其本质（计件、计时工资等）</a:t>
            </a:r>
            <a:endParaRPr lang="en-US" altLang="zh-CN" dirty="0" smtClean="0"/>
          </a:p>
          <a:p>
            <a:pPr lvl="1"/>
            <a:r>
              <a:rPr lang="zh-CN" altLang="en-US" dirty="0" smtClean="0"/>
              <a:t>劳动对工人来说是谋生的手段，出卖劳动力所得的工资看起来是劳动换来的</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26</a:t>
            </a:fld>
            <a:endParaRPr lang="zh-CN" altLang="en-US"/>
          </a:p>
        </p:txBody>
      </p:sp>
    </p:spTree>
    <p:extLst>
      <p:ext uri="{BB962C8B-B14F-4D97-AF65-F5344CB8AC3E}">
        <p14:creationId xmlns:p14="http://schemas.microsoft.com/office/powerpoint/2010/main" val="8450534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资本家和工人阶级的对立和冲突</a:t>
            </a:r>
            <a:endParaRPr lang="zh-CN" altLang="en-US" dirty="0"/>
          </a:p>
        </p:txBody>
      </p:sp>
      <p:sp>
        <p:nvSpPr>
          <p:cNvPr id="3" name="内容占位符 2"/>
          <p:cNvSpPr>
            <a:spLocks noGrp="1"/>
          </p:cNvSpPr>
          <p:nvPr>
            <p:ph idx="1"/>
          </p:nvPr>
        </p:nvSpPr>
        <p:spPr/>
        <p:txBody>
          <a:bodyPr/>
          <a:lstStyle/>
          <a:p>
            <a:r>
              <a:rPr lang="zh-CN" altLang="en-US" dirty="0" smtClean="0"/>
              <a:t>资本家具有将工人工资压低至劳动力价值之下的内在冲动，工人则力图维护自己的劳动力价值</a:t>
            </a:r>
            <a:endParaRPr lang="en-US" altLang="zh-CN" dirty="0" smtClean="0"/>
          </a:p>
          <a:p>
            <a:r>
              <a:rPr lang="zh-CN" altLang="en-US" dirty="0" smtClean="0"/>
              <a:t>劳资冲突</a:t>
            </a:r>
            <a:endParaRPr lang="en-US" altLang="zh-CN" dirty="0" smtClean="0"/>
          </a:p>
          <a:p>
            <a:pPr lvl="1"/>
            <a:r>
              <a:rPr lang="zh-CN" altLang="en-US" dirty="0" smtClean="0"/>
              <a:t>最低工资立法</a:t>
            </a:r>
            <a:endParaRPr lang="en-US" altLang="zh-CN" dirty="0" smtClean="0"/>
          </a:p>
          <a:p>
            <a:pPr lvl="1"/>
            <a:r>
              <a:rPr lang="zh-CN" altLang="en-US" dirty="0" smtClean="0"/>
              <a:t>劳资集体谈判制度</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27</a:t>
            </a:fld>
            <a:endParaRPr lang="zh-CN" altLang="en-US"/>
          </a:p>
        </p:txBody>
      </p:sp>
    </p:spTree>
    <p:extLst>
      <p:ext uri="{BB962C8B-B14F-4D97-AF65-F5344CB8AC3E}">
        <p14:creationId xmlns:p14="http://schemas.microsoft.com/office/powerpoint/2010/main" val="30875246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资本主义工资的基本形式</a:t>
            </a:r>
            <a:endParaRPr lang="zh-CN" altLang="en-US" dirty="0"/>
          </a:p>
        </p:txBody>
      </p:sp>
      <p:sp>
        <p:nvSpPr>
          <p:cNvPr id="3" name="内容占位符 2"/>
          <p:cNvSpPr>
            <a:spLocks noGrp="1"/>
          </p:cNvSpPr>
          <p:nvPr>
            <p:ph idx="1"/>
          </p:nvPr>
        </p:nvSpPr>
        <p:spPr/>
        <p:txBody>
          <a:bodyPr/>
          <a:lstStyle/>
          <a:p>
            <a:r>
              <a:rPr lang="zh-CN" altLang="en-US" dirty="0" smtClean="0"/>
              <a:t>计时工资</a:t>
            </a:r>
            <a:endParaRPr lang="en-US" altLang="zh-CN" dirty="0" smtClean="0"/>
          </a:p>
          <a:p>
            <a:pPr lvl="1"/>
            <a:r>
              <a:rPr lang="zh-CN" altLang="en-US" dirty="0" smtClean="0"/>
              <a:t>按照劳动时间支付工资的形式</a:t>
            </a:r>
            <a:endParaRPr lang="en-US" altLang="zh-CN" dirty="0" smtClean="0"/>
          </a:p>
          <a:p>
            <a:r>
              <a:rPr lang="zh-CN" altLang="en-US" dirty="0" smtClean="0"/>
              <a:t>计件工资</a:t>
            </a:r>
            <a:endParaRPr lang="en-US" altLang="zh-CN" dirty="0" smtClean="0"/>
          </a:p>
          <a:p>
            <a:pPr lvl="1"/>
            <a:r>
              <a:rPr lang="zh-CN" altLang="en-US" dirty="0" smtClean="0"/>
              <a:t>按照劳动成果数量支付工资的形式</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28</a:t>
            </a:fld>
            <a:endParaRPr lang="zh-CN" altLang="en-US"/>
          </a:p>
        </p:txBody>
      </p:sp>
    </p:spTree>
    <p:extLst>
      <p:ext uri="{BB962C8B-B14F-4D97-AF65-F5344CB8AC3E}">
        <p14:creationId xmlns:p14="http://schemas.microsoft.com/office/powerpoint/2010/main" val="31046727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名义工资和实际工资</a:t>
            </a:r>
            <a:endParaRPr lang="zh-CN" altLang="en-US" dirty="0"/>
          </a:p>
        </p:txBody>
      </p:sp>
      <p:sp>
        <p:nvSpPr>
          <p:cNvPr id="3" name="内容占位符 2"/>
          <p:cNvSpPr>
            <a:spLocks noGrp="1"/>
          </p:cNvSpPr>
          <p:nvPr>
            <p:ph idx="1"/>
          </p:nvPr>
        </p:nvSpPr>
        <p:spPr/>
        <p:txBody>
          <a:bodyPr/>
          <a:lstStyle/>
          <a:p>
            <a:r>
              <a:rPr lang="zh-CN" altLang="en-US" dirty="0" smtClean="0"/>
              <a:t>名义工资</a:t>
            </a:r>
            <a:endParaRPr lang="en-US" altLang="zh-CN" dirty="0" smtClean="0"/>
          </a:p>
          <a:p>
            <a:pPr lvl="1"/>
            <a:r>
              <a:rPr lang="zh-CN" altLang="en-US" dirty="0" smtClean="0"/>
              <a:t>即货币工资，指工人出卖劳动力所得到的货币数量</a:t>
            </a:r>
            <a:endParaRPr lang="en-US" altLang="zh-CN" dirty="0" smtClean="0"/>
          </a:p>
          <a:p>
            <a:r>
              <a:rPr lang="zh-CN" altLang="en-US" dirty="0" smtClean="0"/>
              <a:t>实际工资</a:t>
            </a:r>
            <a:endParaRPr lang="en-US" altLang="zh-CN" dirty="0" smtClean="0"/>
          </a:p>
          <a:p>
            <a:pPr lvl="1"/>
            <a:r>
              <a:rPr lang="zh-CN" altLang="en-US" dirty="0" smtClean="0"/>
              <a:t>工人用货币工资实际买到的各类生活资料和服务的数量</a:t>
            </a:r>
            <a:endParaRPr lang="en-US" altLang="zh-CN" dirty="0" smtClean="0"/>
          </a:p>
          <a:p>
            <a:pPr lvl="1"/>
            <a:r>
              <a:rPr lang="zh-CN" altLang="en-US" dirty="0" smtClean="0"/>
              <a:t>名义工资扣除物价变动因素</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29</a:t>
            </a:fld>
            <a:endParaRPr lang="zh-CN" altLang="en-US"/>
          </a:p>
        </p:txBody>
      </p:sp>
    </p:spTree>
    <p:extLst>
      <p:ext uri="{BB962C8B-B14F-4D97-AF65-F5344CB8AC3E}">
        <p14:creationId xmlns:p14="http://schemas.microsoft.com/office/powerpoint/2010/main" val="28195710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资本主义工资数量的</a:t>
            </a:r>
            <a:r>
              <a:rPr lang="zh-CN" altLang="en-US" dirty="0" smtClean="0"/>
              <a:t>变动</a:t>
            </a:r>
            <a:r>
              <a:rPr lang="zh-CN" altLang="en-US" dirty="0"/>
              <a:t>特征</a:t>
            </a:r>
          </a:p>
        </p:txBody>
      </p:sp>
      <p:sp>
        <p:nvSpPr>
          <p:cNvPr id="3" name="内容占位符 2"/>
          <p:cNvSpPr>
            <a:spLocks noGrp="1"/>
          </p:cNvSpPr>
          <p:nvPr>
            <p:ph idx="1"/>
          </p:nvPr>
        </p:nvSpPr>
        <p:spPr/>
        <p:txBody>
          <a:bodyPr/>
          <a:lstStyle/>
          <a:p>
            <a:r>
              <a:rPr lang="zh-CN" altLang="en-US" dirty="0" smtClean="0"/>
              <a:t>名义工资一般呈增加趋势</a:t>
            </a:r>
            <a:endParaRPr lang="en-US" altLang="zh-CN" dirty="0" smtClean="0"/>
          </a:p>
          <a:p>
            <a:r>
              <a:rPr lang="zh-CN" altLang="en-US" dirty="0" smtClean="0"/>
              <a:t>实际工资有时降低，有时提高</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30</a:t>
            </a:fld>
            <a:endParaRPr lang="zh-CN" altLang="en-US"/>
          </a:p>
        </p:txBody>
      </p:sp>
    </p:spTree>
    <p:extLst>
      <p:ext uri="{BB962C8B-B14F-4D97-AF65-F5344CB8AC3E}">
        <p14:creationId xmlns:p14="http://schemas.microsoft.com/office/powerpoint/2010/main" val="28216818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剥削程度要看工资的相对数量</a:t>
            </a:r>
            <a:endParaRPr lang="zh-CN" altLang="en-US" dirty="0"/>
          </a:p>
        </p:txBody>
      </p:sp>
      <p:sp>
        <p:nvSpPr>
          <p:cNvPr id="3" name="内容占位符 2"/>
          <p:cNvSpPr>
            <a:spLocks noGrp="1"/>
          </p:cNvSpPr>
          <p:nvPr>
            <p:ph idx="1"/>
          </p:nvPr>
        </p:nvSpPr>
        <p:spPr/>
        <p:txBody>
          <a:bodyPr/>
          <a:lstStyle/>
          <a:p>
            <a:r>
              <a:rPr lang="zh-CN" altLang="en-US" dirty="0" smtClean="0"/>
              <a:t>相对工资</a:t>
            </a:r>
            <a:endParaRPr lang="en-US" altLang="zh-CN" dirty="0" smtClean="0"/>
          </a:p>
          <a:p>
            <a:pPr lvl="1"/>
            <a:r>
              <a:rPr lang="zh-CN" altLang="en-US" dirty="0" smtClean="0"/>
              <a:t>工人新创造的价值</a:t>
            </a:r>
            <a:r>
              <a:rPr lang="en-US" altLang="zh-CN" dirty="0" err="1" smtClean="0"/>
              <a:t>v+m</a:t>
            </a:r>
            <a:r>
              <a:rPr lang="zh-CN" altLang="en-US" dirty="0" smtClean="0"/>
              <a:t>中，工人</a:t>
            </a:r>
            <a:r>
              <a:rPr lang="en-US" altLang="zh-CN" dirty="0" smtClean="0"/>
              <a:t>v</a:t>
            </a:r>
            <a:r>
              <a:rPr lang="zh-CN" altLang="en-US" dirty="0" smtClean="0"/>
              <a:t>所占的份额</a:t>
            </a:r>
            <a:endParaRPr lang="en-US" altLang="zh-CN" dirty="0" smtClean="0"/>
          </a:p>
          <a:p>
            <a:r>
              <a:rPr lang="zh-CN" altLang="en-US" dirty="0" smtClean="0"/>
              <a:t>只要工资增长速度赶不上资本家获得剩余价值增长的速度，相对工资仍然是下降的</a:t>
            </a:r>
            <a:endParaRPr lang="en-US" altLang="zh-CN" dirty="0" smtClean="0"/>
          </a:p>
          <a:p>
            <a:pPr lvl="1"/>
            <a:r>
              <a:rPr lang="zh-CN" altLang="en-US" dirty="0" smtClean="0"/>
              <a:t>意味着剥削率或者剩余价值率的提高</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31</a:t>
            </a:fld>
            <a:endParaRPr lang="zh-CN" altLang="en-US"/>
          </a:p>
        </p:txBody>
      </p:sp>
    </p:spTree>
    <p:extLst>
      <p:ext uri="{BB962C8B-B14F-4D97-AF65-F5344CB8AC3E}">
        <p14:creationId xmlns:p14="http://schemas.microsoft.com/office/powerpoint/2010/main" val="32699396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工资的国民差异</a:t>
            </a:r>
            <a:endParaRPr lang="zh-CN" altLang="en-US" dirty="0"/>
          </a:p>
        </p:txBody>
      </p:sp>
      <p:sp>
        <p:nvSpPr>
          <p:cNvPr id="3" name="内容占位符 2"/>
          <p:cNvSpPr>
            <a:spLocks noGrp="1"/>
          </p:cNvSpPr>
          <p:nvPr>
            <p:ph idx="1"/>
          </p:nvPr>
        </p:nvSpPr>
        <p:spPr/>
        <p:txBody>
          <a:bodyPr/>
          <a:lstStyle/>
          <a:p>
            <a:r>
              <a:rPr lang="zh-CN" altLang="en-US" dirty="0" smtClean="0"/>
              <a:t>劳动生产率的国际性差异</a:t>
            </a:r>
            <a:endParaRPr lang="en-US" altLang="zh-CN" dirty="0" smtClean="0"/>
          </a:p>
          <a:p>
            <a:r>
              <a:rPr lang="zh-CN" altLang="en-US" dirty="0" smtClean="0"/>
              <a:t>劳资力量对比的国际性差异</a:t>
            </a:r>
            <a:endParaRPr lang="en-US" altLang="zh-CN" dirty="0" smtClean="0"/>
          </a:p>
          <a:p>
            <a:r>
              <a:rPr lang="zh-CN" altLang="en-US" dirty="0" smtClean="0"/>
              <a:t>垄断资本主义世界体系下落后国家与发达国家的差异</a:t>
            </a:r>
            <a:endParaRPr lang="en-US" altLang="zh-CN" dirty="0" smtClean="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32</a:t>
            </a:fld>
            <a:endParaRPr lang="zh-CN" altLang="en-US"/>
          </a:p>
        </p:txBody>
      </p:sp>
    </p:spTree>
    <p:extLst>
      <p:ext uri="{BB962C8B-B14F-4D97-AF65-F5344CB8AC3E}">
        <p14:creationId xmlns:p14="http://schemas.microsoft.com/office/powerpoint/2010/main" val="15617720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en-US" altLang="zh-CN" dirty="0" smtClean="0"/>
          </a:p>
          <a:p>
            <a:endParaRPr lang="en-US" altLang="zh-CN" dirty="0"/>
          </a:p>
          <a:p>
            <a:endParaRPr lang="en-US" altLang="zh-CN" dirty="0" smtClean="0"/>
          </a:p>
          <a:p>
            <a:r>
              <a:rPr lang="zh-CN" altLang="en-US" dirty="0" smtClean="0"/>
              <a:t>第五节 资本主义再生产和资本积累</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33</a:t>
            </a:fld>
            <a:endParaRPr lang="zh-CN" altLang="en-US"/>
          </a:p>
        </p:txBody>
      </p:sp>
    </p:spTree>
    <p:extLst>
      <p:ext uri="{BB962C8B-B14F-4D97-AF65-F5344CB8AC3E}">
        <p14:creationId xmlns:p14="http://schemas.microsoft.com/office/powerpoint/2010/main" val="42537856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资本主义简单再生产和扩大再生产</a:t>
            </a:r>
            <a:endParaRPr lang="zh-CN" altLang="en-US" dirty="0"/>
          </a:p>
        </p:txBody>
      </p:sp>
      <p:sp>
        <p:nvSpPr>
          <p:cNvPr id="3" name="内容占位符 2"/>
          <p:cNvSpPr>
            <a:spLocks noGrp="1"/>
          </p:cNvSpPr>
          <p:nvPr>
            <p:ph idx="1"/>
          </p:nvPr>
        </p:nvSpPr>
        <p:spPr/>
        <p:txBody>
          <a:bodyPr/>
          <a:lstStyle/>
          <a:p>
            <a:r>
              <a:rPr lang="zh-CN" altLang="en-US" dirty="0" smtClean="0"/>
              <a:t>简单再生产</a:t>
            </a:r>
            <a:endParaRPr lang="en-US" altLang="zh-CN" dirty="0" smtClean="0"/>
          </a:p>
          <a:p>
            <a:pPr lvl="1"/>
            <a:r>
              <a:rPr lang="zh-CN" altLang="en-US" dirty="0" smtClean="0"/>
              <a:t>在原有规模上进行的生产</a:t>
            </a:r>
            <a:endParaRPr lang="en-US" altLang="zh-CN" dirty="0" smtClean="0"/>
          </a:p>
          <a:p>
            <a:pPr lvl="1"/>
            <a:r>
              <a:rPr lang="zh-CN" altLang="en-US" dirty="0" smtClean="0"/>
              <a:t>新生产的产品仅够补偿已经消耗掉的生产资料和生活资料</a:t>
            </a:r>
            <a:endParaRPr lang="en-US" altLang="zh-CN" dirty="0" smtClean="0"/>
          </a:p>
          <a:p>
            <a:r>
              <a:rPr lang="zh-CN" altLang="en-US" dirty="0" smtClean="0"/>
              <a:t>扩大再生产</a:t>
            </a:r>
            <a:endParaRPr lang="en-US" altLang="zh-CN" dirty="0" smtClean="0"/>
          </a:p>
          <a:p>
            <a:pPr lvl="1"/>
            <a:r>
              <a:rPr lang="zh-CN" altLang="en-US" dirty="0" smtClean="0"/>
              <a:t>大于原有生产规模的生产</a:t>
            </a:r>
            <a:endParaRPr lang="en-US" altLang="zh-CN" dirty="0" smtClean="0"/>
          </a:p>
          <a:p>
            <a:pPr lvl="1"/>
            <a:r>
              <a:rPr lang="zh-CN" altLang="en-US" dirty="0"/>
              <a:t>新</a:t>
            </a:r>
            <a:r>
              <a:rPr lang="zh-CN" altLang="en-US" dirty="0" smtClean="0"/>
              <a:t>生产产品除了用以补偿已经消耗掉的各种物质资料以外还有剩余</a:t>
            </a:r>
            <a:endParaRPr lang="en-US" altLang="zh-CN" dirty="0" smtClean="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34</a:t>
            </a:fld>
            <a:endParaRPr lang="zh-CN" altLang="en-US"/>
          </a:p>
        </p:txBody>
      </p:sp>
    </p:spTree>
    <p:extLst>
      <p:ext uri="{BB962C8B-B14F-4D97-AF65-F5344CB8AC3E}">
        <p14:creationId xmlns:p14="http://schemas.microsoft.com/office/powerpoint/2010/main" val="1421360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简单再生产</a:t>
            </a:r>
            <a:endParaRPr lang="zh-CN" altLang="en-US" dirty="0"/>
          </a:p>
        </p:txBody>
      </p:sp>
      <p:sp>
        <p:nvSpPr>
          <p:cNvPr id="3" name="内容占位符 2"/>
          <p:cNvSpPr>
            <a:spLocks noGrp="1"/>
          </p:cNvSpPr>
          <p:nvPr>
            <p:ph idx="1"/>
          </p:nvPr>
        </p:nvSpPr>
        <p:spPr/>
        <p:txBody>
          <a:bodyPr/>
          <a:lstStyle/>
          <a:p>
            <a:r>
              <a:rPr lang="zh-CN" altLang="en-US" dirty="0" smtClean="0"/>
              <a:t>工人创造的全部剩余价值被资本家用于个人消费</a:t>
            </a:r>
            <a:endParaRPr lang="en-US" altLang="zh-CN" dirty="0" smtClean="0"/>
          </a:p>
          <a:p>
            <a:pPr lvl="1"/>
            <a:r>
              <a:rPr lang="zh-CN" altLang="en-US" dirty="0" smtClean="0"/>
              <a:t>资本家购买劳动力的可变资本，是劳动者自己创造的，工人不仅为自己创造了劳动基金，也为资本家创造了剩余价值</a:t>
            </a:r>
            <a:endParaRPr lang="en-US" altLang="zh-CN" dirty="0" smtClean="0"/>
          </a:p>
          <a:p>
            <a:pPr lvl="1"/>
            <a:r>
              <a:rPr lang="zh-CN" altLang="en-US" dirty="0" smtClean="0"/>
              <a:t>工人不仅为自己创造了劳动基金，也创造了资本家的全部资本</a:t>
            </a:r>
            <a:endParaRPr lang="en-US" altLang="zh-CN" dirty="0" smtClean="0"/>
          </a:p>
          <a:p>
            <a:pPr lvl="1"/>
            <a:r>
              <a:rPr lang="zh-CN" altLang="en-US" dirty="0" smtClean="0"/>
              <a:t>雇佣工人的个人消费也是完全从属于资本家追逐剩余价值需要</a:t>
            </a:r>
            <a:endParaRPr lang="en-US" altLang="zh-CN" dirty="0" smtClean="0"/>
          </a:p>
          <a:p>
            <a:pPr lvl="2"/>
            <a:r>
              <a:rPr lang="zh-CN" altLang="en-US" dirty="0" smtClean="0"/>
              <a:t>生产消费：在生产中消耗生产资料和自己的劳动力</a:t>
            </a:r>
            <a:endParaRPr lang="en-US" altLang="zh-CN" dirty="0" smtClean="0"/>
          </a:p>
          <a:p>
            <a:pPr lvl="2"/>
            <a:r>
              <a:rPr lang="zh-CN" altLang="en-US" dirty="0" smtClean="0"/>
              <a:t>个人消费：购买生活资料满足自己生活需要，劳动力再生产过程</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35</a:t>
            </a:fld>
            <a:endParaRPr lang="zh-CN" altLang="en-US"/>
          </a:p>
        </p:txBody>
      </p:sp>
    </p:spTree>
    <p:extLst>
      <p:ext uri="{BB962C8B-B14F-4D97-AF65-F5344CB8AC3E}">
        <p14:creationId xmlns:p14="http://schemas.microsoft.com/office/powerpoint/2010/main" val="23050951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扩大再生产</a:t>
            </a:r>
            <a:endParaRPr lang="zh-CN" altLang="en-US" dirty="0"/>
          </a:p>
        </p:txBody>
      </p:sp>
      <p:sp>
        <p:nvSpPr>
          <p:cNvPr id="3" name="内容占位符 2"/>
          <p:cNvSpPr>
            <a:spLocks noGrp="1"/>
          </p:cNvSpPr>
          <p:nvPr>
            <p:ph idx="1"/>
          </p:nvPr>
        </p:nvSpPr>
        <p:spPr/>
        <p:txBody>
          <a:bodyPr/>
          <a:lstStyle/>
          <a:p>
            <a:r>
              <a:rPr lang="zh-CN" altLang="en-US" dirty="0" smtClean="0"/>
              <a:t>扩大再生产：资本家不把全部剩余价值用于个人消费，而将其中一部分用于购买生产资料和劳动力，是生产在扩大的规模上进行（物质形态看）</a:t>
            </a:r>
            <a:endParaRPr lang="en-US" altLang="zh-CN" dirty="0" smtClean="0"/>
          </a:p>
          <a:p>
            <a:r>
              <a:rPr lang="zh-CN" altLang="en-US" dirty="0" smtClean="0"/>
              <a:t>剩余价值的资本化，即资本积累（价值形态看）</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36</a:t>
            </a:fld>
            <a:endParaRPr lang="zh-CN" altLang="en-US"/>
          </a:p>
        </p:txBody>
      </p:sp>
    </p:spTree>
    <p:extLst>
      <p:ext uri="{BB962C8B-B14F-4D97-AF65-F5344CB8AC3E}">
        <p14:creationId xmlns:p14="http://schemas.microsoft.com/office/powerpoint/2010/main" val="37745063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资本积累的一般规律</a:t>
            </a:r>
            <a:endParaRPr lang="zh-CN" altLang="en-US" dirty="0"/>
          </a:p>
        </p:txBody>
      </p:sp>
      <p:sp>
        <p:nvSpPr>
          <p:cNvPr id="3" name="内容占位符 2"/>
          <p:cNvSpPr>
            <a:spLocks noGrp="1"/>
          </p:cNvSpPr>
          <p:nvPr>
            <p:ph idx="1"/>
          </p:nvPr>
        </p:nvSpPr>
        <p:spPr/>
        <p:txBody>
          <a:bodyPr>
            <a:normAutofit/>
          </a:bodyPr>
          <a:lstStyle/>
          <a:p>
            <a:r>
              <a:rPr lang="zh-CN" altLang="en-US" dirty="0" smtClean="0"/>
              <a:t>资本有机</a:t>
            </a:r>
            <a:r>
              <a:rPr lang="zh-CN" altLang="en-US" dirty="0" smtClean="0"/>
              <a:t>构成不断提高</a:t>
            </a:r>
            <a:endParaRPr lang="en-US" altLang="zh-CN" dirty="0" smtClean="0"/>
          </a:p>
          <a:p>
            <a:r>
              <a:rPr lang="zh-CN" altLang="en-US" dirty="0" smtClean="0"/>
              <a:t>相对过剩人口和失业</a:t>
            </a:r>
            <a:endParaRPr lang="en-US" altLang="zh-CN" dirty="0" smtClean="0"/>
          </a:p>
          <a:p>
            <a:r>
              <a:rPr lang="zh-CN" altLang="en-US" dirty="0" smtClean="0"/>
              <a:t>资本的集聚和集中</a:t>
            </a:r>
            <a:endParaRPr lang="en-US" altLang="zh-CN" dirty="0" smtClean="0"/>
          </a:p>
          <a:p>
            <a:endParaRPr lang="en-US" altLang="zh-CN" dirty="0" smtClean="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37</a:t>
            </a:fld>
            <a:endParaRPr lang="zh-CN" altLang="en-US"/>
          </a:p>
        </p:txBody>
      </p:sp>
    </p:spTree>
    <p:extLst>
      <p:ext uri="{BB962C8B-B14F-4D97-AF65-F5344CB8AC3E}">
        <p14:creationId xmlns:p14="http://schemas.microsoft.com/office/powerpoint/2010/main" val="34878712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资本有机构成不断提高</a:t>
            </a:r>
            <a:endParaRPr lang="zh-CN" altLang="en-US" dirty="0"/>
          </a:p>
        </p:txBody>
      </p:sp>
      <p:sp>
        <p:nvSpPr>
          <p:cNvPr id="3" name="内容占位符 2"/>
          <p:cNvSpPr>
            <a:spLocks noGrp="1"/>
          </p:cNvSpPr>
          <p:nvPr>
            <p:ph idx="1"/>
          </p:nvPr>
        </p:nvSpPr>
        <p:spPr/>
        <p:txBody>
          <a:bodyPr/>
          <a:lstStyle/>
          <a:p>
            <a:pPr lvl="1"/>
            <a:r>
              <a:rPr lang="zh-CN" altLang="en-US" dirty="0"/>
              <a:t>资本由生产资料和劳动力构成，两者之间存在一定比例，这种比例是由生产的技术水平决定，技术越高，每个劳动力运用的生产资料越多</a:t>
            </a:r>
            <a:endParaRPr lang="en-US" altLang="zh-CN" dirty="0"/>
          </a:p>
          <a:p>
            <a:pPr lvl="1"/>
            <a:r>
              <a:rPr lang="zh-CN" altLang="en-US" dirty="0"/>
              <a:t>资本技术构成：反映生产技术水平的生产资料和劳动力的比例</a:t>
            </a:r>
            <a:endParaRPr lang="en-US" altLang="zh-CN" dirty="0"/>
          </a:p>
          <a:p>
            <a:pPr lvl="1"/>
            <a:r>
              <a:rPr lang="zh-CN" altLang="en-US" dirty="0"/>
              <a:t>资本价值构成：不变资本和可变资本的比例</a:t>
            </a:r>
            <a:endParaRPr lang="en-US" altLang="zh-CN" dirty="0"/>
          </a:p>
          <a:p>
            <a:pPr lvl="1"/>
            <a:r>
              <a:rPr lang="zh-CN" altLang="en-US" dirty="0"/>
              <a:t>由资本技术构成决定并反映技术构成变化的资本价值构成，叫做资本的有机构成</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38</a:t>
            </a:fld>
            <a:endParaRPr lang="zh-CN" altLang="en-US"/>
          </a:p>
        </p:txBody>
      </p:sp>
    </p:spTree>
    <p:extLst>
      <p:ext uri="{BB962C8B-B14F-4D97-AF65-F5344CB8AC3E}">
        <p14:creationId xmlns:p14="http://schemas.microsoft.com/office/powerpoint/2010/main" val="34221627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相对过剩人口和失业</a:t>
            </a:r>
            <a:endParaRPr lang="zh-CN" altLang="en-US" dirty="0"/>
          </a:p>
        </p:txBody>
      </p:sp>
      <p:sp>
        <p:nvSpPr>
          <p:cNvPr id="3" name="内容占位符 2"/>
          <p:cNvSpPr>
            <a:spLocks noGrp="1"/>
          </p:cNvSpPr>
          <p:nvPr>
            <p:ph idx="1"/>
          </p:nvPr>
        </p:nvSpPr>
        <p:spPr/>
        <p:txBody>
          <a:bodyPr/>
          <a:lstStyle/>
          <a:p>
            <a:r>
              <a:rPr lang="zh-CN" altLang="en-US" dirty="0" smtClean="0"/>
              <a:t>在资本有机构成提高的条件下，对劳动力的需求，同资本量相比相对减少了</a:t>
            </a:r>
            <a:endParaRPr lang="en-US" altLang="zh-CN" dirty="0" smtClean="0"/>
          </a:p>
          <a:p>
            <a:r>
              <a:rPr lang="zh-CN" altLang="en-US" dirty="0" smtClean="0"/>
              <a:t>人口过剩是由资本增殖的需求决定的，是相对于资本增殖的人口相对过剩</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39</a:t>
            </a:fld>
            <a:endParaRPr lang="zh-CN" altLang="en-US"/>
          </a:p>
        </p:txBody>
      </p:sp>
    </p:spTree>
    <p:extLst>
      <p:ext uri="{BB962C8B-B14F-4D97-AF65-F5344CB8AC3E}">
        <p14:creationId xmlns:p14="http://schemas.microsoft.com/office/powerpoint/2010/main" val="41362271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资本集聚和资本集中</a:t>
            </a:r>
            <a:endParaRPr lang="zh-CN" altLang="en-US" dirty="0"/>
          </a:p>
        </p:txBody>
      </p:sp>
      <p:sp>
        <p:nvSpPr>
          <p:cNvPr id="3" name="内容占位符 2"/>
          <p:cNvSpPr>
            <a:spLocks noGrp="1"/>
          </p:cNvSpPr>
          <p:nvPr>
            <p:ph idx="1"/>
          </p:nvPr>
        </p:nvSpPr>
        <p:spPr/>
        <p:txBody>
          <a:bodyPr/>
          <a:lstStyle/>
          <a:p>
            <a:r>
              <a:rPr lang="zh-CN" altLang="en-US" dirty="0" smtClean="0"/>
              <a:t>个别资本的增大是通过资本集聚和资本集中两种形式</a:t>
            </a:r>
            <a:endParaRPr lang="en-US" altLang="zh-CN" dirty="0" smtClean="0"/>
          </a:p>
          <a:p>
            <a:pPr lvl="1"/>
            <a:r>
              <a:rPr lang="zh-CN" altLang="en-US" dirty="0" smtClean="0"/>
              <a:t>资本集聚：个别资本依靠自身剩余价值的资本化来增大资本总额</a:t>
            </a:r>
            <a:endParaRPr lang="en-US" altLang="zh-CN" dirty="0" smtClean="0"/>
          </a:p>
          <a:p>
            <a:pPr lvl="1"/>
            <a:r>
              <a:rPr lang="zh-CN" altLang="en-US" dirty="0" smtClean="0"/>
              <a:t>资本集中：几个资本结合成为一个较大资本，少数小资本通过相互合并或者联合形成少数大资本</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40</a:t>
            </a:fld>
            <a:endParaRPr lang="zh-CN" altLang="en-US"/>
          </a:p>
        </p:txBody>
      </p:sp>
    </p:spTree>
    <p:extLst>
      <p:ext uri="{BB962C8B-B14F-4D97-AF65-F5344CB8AC3E}">
        <p14:creationId xmlns:p14="http://schemas.microsoft.com/office/powerpoint/2010/main" val="6548243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资本集中的因素</a:t>
            </a:r>
            <a:endParaRPr lang="zh-CN" altLang="en-US" dirty="0"/>
          </a:p>
        </p:txBody>
      </p:sp>
      <p:sp>
        <p:nvSpPr>
          <p:cNvPr id="3" name="内容占位符 2"/>
          <p:cNvSpPr>
            <a:spLocks noGrp="1"/>
          </p:cNvSpPr>
          <p:nvPr>
            <p:ph idx="1"/>
          </p:nvPr>
        </p:nvSpPr>
        <p:spPr/>
        <p:txBody>
          <a:bodyPr/>
          <a:lstStyle/>
          <a:p>
            <a:r>
              <a:rPr lang="zh-CN" altLang="en-US" dirty="0" smtClean="0"/>
              <a:t>资本之间的相互竞争</a:t>
            </a:r>
            <a:endParaRPr lang="en-US" altLang="zh-CN" dirty="0" smtClean="0"/>
          </a:p>
          <a:p>
            <a:r>
              <a:rPr lang="zh-CN" altLang="en-US" dirty="0" smtClean="0"/>
              <a:t>信用</a:t>
            </a:r>
            <a:endParaRPr lang="en-US" altLang="zh-CN" dirty="0"/>
          </a:p>
          <a:p>
            <a:pPr lvl="1"/>
            <a:r>
              <a:rPr lang="zh-CN" altLang="en-US" dirty="0" smtClean="0"/>
              <a:t>通过贷款等金融工具加大资本的竞争力</a:t>
            </a:r>
            <a:endParaRPr lang="en-US" altLang="zh-CN" dirty="0" smtClean="0"/>
          </a:p>
          <a:p>
            <a:pPr lvl="1"/>
            <a:r>
              <a:rPr lang="zh-CN" altLang="en-US" dirty="0" smtClean="0"/>
              <a:t>通过信用使原来分散的小资本联合起来</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41</a:t>
            </a:fld>
            <a:endParaRPr lang="zh-CN" altLang="en-US"/>
          </a:p>
        </p:txBody>
      </p:sp>
    </p:spTree>
    <p:extLst>
      <p:ext uri="{BB962C8B-B14F-4D97-AF65-F5344CB8AC3E}">
        <p14:creationId xmlns:p14="http://schemas.microsoft.com/office/powerpoint/2010/main" val="29592569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资本集聚和资本集中的联系和区别</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t>区别</a:t>
            </a:r>
            <a:endParaRPr lang="en-US" altLang="zh-CN" dirty="0"/>
          </a:p>
          <a:p>
            <a:pPr lvl="1"/>
            <a:r>
              <a:rPr lang="zh-CN" altLang="en-US" dirty="0"/>
              <a:t>资本积聚以剩余价值积累为</a:t>
            </a:r>
            <a:r>
              <a:rPr lang="zh-CN" altLang="en-US" dirty="0" smtClean="0"/>
              <a:t>前提，资本</a:t>
            </a:r>
            <a:r>
              <a:rPr lang="zh-CN" altLang="en-US" dirty="0"/>
              <a:t>积聚在增大单个资本的同时也</a:t>
            </a:r>
            <a:r>
              <a:rPr lang="zh-CN" altLang="en-US" dirty="0" smtClean="0"/>
              <a:t>增大了</a:t>
            </a:r>
            <a:r>
              <a:rPr lang="zh-CN" altLang="en-US" dirty="0"/>
              <a:t>社会总资本</a:t>
            </a:r>
            <a:endParaRPr lang="en-US" altLang="zh-CN" dirty="0"/>
          </a:p>
          <a:p>
            <a:pPr lvl="1"/>
            <a:r>
              <a:rPr lang="zh-CN" altLang="en-US" dirty="0" smtClean="0"/>
              <a:t>资本集中通过资本在资本家之间重新分配和组合，不会改变社会资本总额</a:t>
            </a:r>
            <a:endParaRPr lang="zh-CN" altLang="en-US" dirty="0"/>
          </a:p>
          <a:p>
            <a:r>
              <a:rPr lang="zh-CN" altLang="en-US" dirty="0"/>
              <a:t>联系</a:t>
            </a:r>
            <a:endParaRPr lang="en-US" altLang="zh-CN" dirty="0"/>
          </a:p>
          <a:p>
            <a:pPr lvl="1"/>
            <a:r>
              <a:rPr lang="zh-CN" altLang="en-US" dirty="0"/>
              <a:t>资本集聚后，大资本能把更多的剩余价值用于资本积累，提高竞争力，促进资本集中更迅速发展</a:t>
            </a:r>
            <a:endParaRPr lang="en-US" altLang="zh-CN" dirty="0"/>
          </a:p>
          <a:p>
            <a:pPr lvl="1"/>
            <a:r>
              <a:rPr lang="zh-CN" altLang="en-US" dirty="0"/>
              <a:t>资本集中促进资本激烈，能获取更多的剩余价值，增大积累规模，促进资本集聚</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42</a:t>
            </a:fld>
            <a:endParaRPr lang="zh-CN" altLang="en-US"/>
          </a:p>
        </p:txBody>
      </p:sp>
    </p:spTree>
    <p:extLst>
      <p:ext uri="{BB962C8B-B14F-4D97-AF65-F5344CB8AC3E}">
        <p14:creationId xmlns:p14="http://schemas.microsoft.com/office/powerpoint/2010/main" val="10420939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资本积累的一般规律与两级分化</a:t>
            </a:r>
            <a:endParaRPr lang="zh-CN" altLang="en-US" dirty="0"/>
          </a:p>
        </p:txBody>
      </p:sp>
      <p:sp>
        <p:nvSpPr>
          <p:cNvPr id="3" name="内容占位符 2"/>
          <p:cNvSpPr>
            <a:spLocks noGrp="1"/>
          </p:cNvSpPr>
          <p:nvPr>
            <p:ph idx="1"/>
          </p:nvPr>
        </p:nvSpPr>
        <p:spPr/>
        <p:txBody>
          <a:bodyPr/>
          <a:lstStyle/>
          <a:p>
            <a:r>
              <a:rPr lang="zh-CN" altLang="en-US" dirty="0" smtClean="0"/>
              <a:t>资本积累的结果</a:t>
            </a:r>
            <a:endParaRPr lang="en-US" altLang="zh-CN" dirty="0" smtClean="0"/>
          </a:p>
          <a:p>
            <a:pPr lvl="1"/>
            <a:r>
              <a:rPr lang="zh-CN" altLang="en-US" dirty="0" smtClean="0"/>
              <a:t>财富的积累</a:t>
            </a:r>
            <a:endParaRPr lang="en-US" altLang="zh-CN" dirty="0" smtClean="0"/>
          </a:p>
          <a:p>
            <a:pPr lvl="1"/>
            <a:r>
              <a:rPr lang="zh-CN" altLang="en-US" dirty="0" smtClean="0"/>
              <a:t>贫困的积累</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43</a:t>
            </a:fld>
            <a:endParaRPr lang="zh-CN" altLang="en-US"/>
          </a:p>
        </p:txBody>
      </p:sp>
    </p:spTree>
    <p:extLst>
      <p:ext uri="{BB962C8B-B14F-4D97-AF65-F5344CB8AC3E}">
        <p14:creationId xmlns:p14="http://schemas.microsoft.com/office/powerpoint/2010/main" val="421625174"/>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1587</TotalTime>
  <Words>2049</Words>
  <Application>Microsoft Office PowerPoint</Application>
  <PresentationFormat>全屏显示(4:3)</PresentationFormat>
  <Paragraphs>312</Paragraphs>
  <Slides>43</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43</vt:i4>
      </vt:variant>
    </vt:vector>
  </HeadingPairs>
  <TitlesOfParts>
    <vt:vector size="51" baseType="lpstr">
      <vt:lpstr>宋体</vt:lpstr>
      <vt:lpstr>微软雅黑</vt:lpstr>
      <vt:lpstr>Arial</vt:lpstr>
      <vt:lpstr>Calibri</vt:lpstr>
      <vt:lpstr>Calibri Light</vt:lpstr>
      <vt:lpstr>Times New Roman</vt:lpstr>
      <vt:lpstr>Wingdings</vt:lpstr>
      <vt:lpstr>Office 主题</vt:lpstr>
      <vt:lpstr>第五章 资本主义生产</vt:lpstr>
      <vt:lpstr>主要内容</vt:lpstr>
      <vt:lpstr>PowerPoint 演示文稿</vt:lpstr>
      <vt:lpstr>商品流通/货币流通：为买而卖</vt:lpstr>
      <vt:lpstr>资本流通</vt:lpstr>
      <vt:lpstr>资本流通</vt:lpstr>
      <vt:lpstr>资本流通</vt:lpstr>
      <vt:lpstr>资本总公式的矛盾</vt:lpstr>
      <vt:lpstr>劳动力的买卖</vt:lpstr>
      <vt:lpstr>劳动力作为商品的两重性</vt:lpstr>
      <vt:lpstr>PowerPoint 演示文稿</vt:lpstr>
      <vt:lpstr>劳动过程和价值增殖过程</vt:lpstr>
      <vt:lpstr>不变资本和可变资本</vt:lpstr>
      <vt:lpstr>价值增殖</vt:lpstr>
      <vt:lpstr>价值增殖</vt:lpstr>
      <vt:lpstr>价值增殖</vt:lpstr>
      <vt:lpstr>价值增殖</vt:lpstr>
      <vt:lpstr>剩余价值率</vt:lpstr>
      <vt:lpstr>PowerPoint 演示文稿</vt:lpstr>
      <vt:lpstr>绝对剩余价值生产</vt:lpstr>
      <vt:lpstr>相对剩余价值生产</vt:lpstr>
      <vt:lpstr>绝对剩余价值生产与相对剩余价值生产的联系和区别</vt:lpstr>
      <vt:lpstr>资本主义的基本经济规律</vt:lpstr>
      <vt:lpstr>PowerPoint 演示文稿</vt:lpstr>
      <vt:lpstr>资本主义工资的本质</vt:lpstr>
      <vt:lpstr>资本主义工资的实质</vt:lpstr>
      <vt:lpstr>资本家和工人阶级的对立和冲突</vt:lpstr>
      <vt:lpstr>资本主义工资的基本形式</vt:lpstr>
      <vt:lpstr>名义工资和实际工资</vt:lpstr>
      <vt:lpstr>资本主义工资数量的变动特征</vt:lpstr>
      <vt:lpstr>剥削程度要看工资的相对数量</vt:lpstr>
      <vt:lpstr>工资的国民差异</vt:lpstr>
      <vt:lpstr>PowerPoint 演示文稿</vt:lpstr>
      <vt:lpstr>资本主义简单再生产和扩大再生产</vt:lpstr>
      <vt:lpstr>简单再生产</vt:lpstr>
      <vt:lpstr>扩大再生产</vt:lpstr>
      <vt:lpstr>资本积累的一般规律</vt:lpstr>
      <vt:lpstr>资本有机构成不断提高</vt:lpstr>
      <vt:lpstr>相对过剩人口和失业</vt:lpstr>
      <vt:lpstr>资本集聚和资本集中</vt:lpstr>
      <vt:lpstr>资本集中的因素</vt:lpstr>
      <vt:lpstr>资本集聚和资本集中的联系和区别</vt:lpstr>
      <vt:lpstr>资本积累的一般规律与两级分化</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王成城</dc:creator>
  <cp:lastModifiedBy>JING JIANG</cp:lastModifiedBy>
  <cp:revision>57</cp:revision>
  <dcterms:created xsi:type="dcterms:W3CDTF">2013-11-29T11:59:20Z</dcterms:created>
  <dcterms:modified xsi:type="dcterms:W3CDTF">2021-11-04T13:30:11Z</dcterms:modified>
</cp:coreProperties>
</file>
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64" r:id="rId3"/>
    <p:sldId id="265" r:id="rId4"/>
    <p:sldId id="263" r:id="rId5"/>
    <p:sldId id="327" r:id="rId6"/>
    <p:sldId id="257" r:id="rId7"/>
    <p:sldId id="302" r:id="rId8"/>
    <p:sldId id="320" r:id="rId9"/>
    <p:sldId id="321" r:id="rId10"/>
    <p:sldId id="322" r:id="rId11"/>
    <p:sldId id="323" r:id="rId12"/>
    <p:sldId id="324" r:id="rId13"/>
    <p:sldId id="291"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316" r:id="rId28"/>
    <p:sldId id="317" r:id="rId29"/>
    <p:sldId id="318" r:id="rId30"/>
    <p:sldId id="319" r:id="rId31"/>
    <p:sldId id="289" r:id="rId32"/>
    <p:sldId id="290" r:id="rId33"/>
    <p:sldId id="292" r:id="rId34"/>
    <p:sldId id="293" r:id="rId35"/>
    <p:sldId id="294" r:id="rId36"/>
    <p:sldId id="295" r:id="rId37"/>
    <p:sldId id="296" r:id="rId38"/>
    <p:sldId id="297" r:id="rId39"/>
    <p:sldId id="286" r:id="rId40"/>
    <p:sldId id="326" r:id="rId41"/>
    <p:sldId id="288" r:id="rId4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40" autoAdjust="0"/>
    <p:restoredTop sz="94660"/>
  </p:normalViewPr>
  <p:slideViewPr>
    <p:cSldViewPr snapToGrid="0">
      <p:cViewPr varScale="1">
        <p:scale>
          <a:sx n="167" d="100"/>
          <a:sy n="167" d="100"/>
        </p:scale>
        <p:origin x="669" y="7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江 静" userId="79ee60c3-f4b2-4c44-baff-db19a9e19070" providerId="ADAL" clId="{163DED59-2A93-43A2-A3AD-5AC47BAF1657}"/>
    <pc:docChg chg="custSel modSld">
      <pc:chgData name="江 静" userId="79ee60c3-f4b2-4c44-baff-db19a9e19070" providerId="ADAL" clId="{163DED59-2A93-43A2-A3AD-5AC47BAF1657}" dt="2024-09-23T01:16:34.643" v="32" actId="1076"/>
      <pc:docMkLst>
        <pc:docMk/>
      </pc:docMkLst>
      <pc:sldChg chg="modSp mod">
        <pc:chgData name="江 静" userId="79ee60c3-f4b2-4c44-baff-db19a9e19070" providerId="ADAL" clId="{163DED59-2A93-43A2-A3AD-5AC47BAF1657}" dt="2024-09-23T01:13:59.064" v="28" actId="20577"/>
        <pc:sldMkLst>
          <pc:docMk/>
          <pc:sldMk cId="1044704965" sldId="264"/>
        </pc:sldMkLst>
        <pc:spChg chg="mod">
          <ac:chgData name="江 静" userId="79ee60c3-f4b2-4c44-baff-db19a9e19070" providerId="ADAL" clId="{163DED59-2A93-43A2-A3AD-5AC47BAF1657}" dt="2024-09-23T01:13:59.064" v="28" actId="20577"/>
          <ac:spMkLst>
            <pc:docMk/>
            <pc:sldMk cId="1044704965" sldId="264"/>
            <ac:spMk id="4098" creationId="{00000000-0000-0000-0000-000000000000}"/>
          </ac:spMkLst>
        </pc:spChg>
      </pc:sldChg>
      <pc:sldChg chg="addSp modSp mod">
        <pc:chgData name="江 静" userId="79ee60c3-f4b2-4c44-baff-db19a9e19070" providerId="ADAL" clId="{163DED59-2A93-43A2-A3AD-5AC47BAF1657}" dt="2024-09-23T01:16:34.643" v="32" actId="1076"/>
        <pc:sldMkLst>
          <pc:docMk/>
          <pc:sldMk cId="1224282712" sldId="265"/>
        </pc:sldMkLst>
        <pc:spChg chg="mod">
          <ac:chgData name="江 静" userId="79ee60c3-f4b2-4c44-baff-db19a9e19070" providerId="ADAL" clId="{163DED59-2A93-43A2-A3AD-5AC47BAF1657}" dt="2024-09-23T01:14:18.022" v="30" actId="6549"/>
          <ac:spMkLst>
            <pc:docMk/>
            <pc:sldMk cId="1224282712" sldId="265"/>
            <ac:spMk id="2" creationId="{00000000-0000-0000-0000-000000000000}"/>
          </ac:spMkLst>
        </pc:spChg>
        <pc:spChg chg="mod">
          <ac:chgData name="江 静" userId="79ee60c3-f4b2-4c44-baff-db19a9e19070" providerId="ADAL" clId="{163DED59-2A93-43A2-A3AD-5AC47BAF1657}" dt="2024-09-23T01:14:13.468" v="29" actId="6549"/>
          <ac:spMkLst>
            <pc:docMk/>
            <pc:sldMk cId="1224282712" sldId="265"/>
            <ac:spMk id="3" creationId="{00000000-0000-0000-0000-000000000000}"/>
          </ac:spMkLst>
        </pc:spChg>
        <pc:picChg chg="add mod">
          <ac:chgData name="江 静" userId="79ee60c3-f4b2-4c44-baff-db19a9e19070" providerId="ADAL" clId="{163DED59-2A93-43A2-A3AD-5AC47BAF1657}" dt="2024-09-23T01:16:34.643" v="32" actId="1076"/>
          <ac:picMkLst>
            <pc:docMk/>
            <pc:sldMk cId="1224282712" sldId="265"/>
            <ac:picMk id="6" creationId="{577FE6E9-65DD-4DAC-A896-32EC87E4F87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9002E-6663-44C7-8136-2276ECC2B749}" type="datetimeFigureOut">
              <a:rPr lang="zh-CN" altLang="en-US" smtClean="0"/>
              <a:t>2024/9/23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D2699-BFC2-46FE-A849-DE58F412D66F}" type="slidenum">
              <a:rPr lang="zh-CN" altLang="en-US" smtClean="0"/>
              <a:t>‹#›</a:t>
            </a:fld>
            <a:endParaRPr lang="zh-CN" altLang="en-US"/>
          </a:p>
        </p:txBody>
      </p:sp>
    </p:spTree>
    <p:extLst>
      <p:ext uri="{BB962C8B-B14F-4D97-AF65-F5344CB8AC3E}">
        <p14:creationId xmlns:p14="http://schemas.microsoft.com/office/powerpoint/2010/main" val="15221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《政治经济学》导论</a:t>
            </a:r>
          </a:p>
        </p:txBody>
      </p:sp>
      <p:sp>
        <p:nvSpPr>
          <p:cNvPr id="921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DDA5BC3-C6EE-493E-853F-2DE0EAAA4BE1}" type="slidenum">
              <a:rPr lang="en-US" altLang="zh-CN" smtClean="0"/>
              <a:pPr>
                <a:spcBef>
                  <a:spcPct val="0"/>
                </a:spcBef>
              </a:pPr>
              <a:t>13</a:t>
            </a:fld>
            <a:endParaRPr lang="en-US" altLang="zh-CN"/>
          </a:p>
        </p:txBody>
      </p:sp>
      <p:sp>
        <p:nvSpPr>
          <p:cNvPr id="9220" name="Rectangle 2"/>
          <p:cNvSpPr>
            <a:spLocks noGrp="1" noRot="1" noChangeAspect="1" noChangeArrowheads="1" noTextEdit="1"/>
          </p:cNvSpPr>
          <p:nvPr>
            <p:ph type="sldImg"/>
          </p:nvPr>
        </p:nvSpPr>
        <p:spPr>
          <a:ln/>
        </p:spPr>
      </p:sp>
      <p:sp>
        <p:nvSpPr>
          <p:cNvPr id="92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1400860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4133" y="2404536"/>
            <a:ext cx="7772400" cy="715963"/>
          </a:xfrm>
        </p:spPr>
        <p:txBody>
          <a:bodyPr anchor="b">
            <a:normAutofit/>
          </a:bodyPr>
          <a:lstStyle>
            <a:lvl1pPr algn="l">
              <a:defRPr sz="36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533399" y="3407310"/>
            <a:ext cx="6858000" cy="495829"/>
          </a:xfrm>
        </p:spPr>
        <p:txBody>
          <a:bodyPr>
            <a:normAutofit/>
          </a:bodyPr>
          <a:lstStyle>
            <a:lvl1pPr marL="0" indent="0" algn="l">
              <a:buNone/>
              <a:defRPr sz="2000" baseline="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 </a:t>
            </a: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894F9220-18DA-4F81-9E2C-315F9C9F9BEF}" type="datetime1">
              <a:rPr lang="zh-CN" altLang="en-US" smtClean="0"/>
              <a:t>2024/9/23</a:t>
            </a:fld>
            <a:endParaRPr lang="zh-CN" altLang="en-US"/>
          </a:p>
        </p:txBody>
      </p:sp>
      <p:sp>
        <p:nvSpPr>
          <p:cNvPr id="5" name="Footer Placeholder 4"/>
          <p:cNvSpPr>
            <a:spLocks noGrp="1"/>
          </p:cNvSpPr>
          <p:nvPr>
            <p:ph type="ftr" sz="quarter" idx="11"/>
          </p:nvPr>
        </p:nvSpPr>
        <p:spPr>
          <a:xfrm>
            <a:off x="3028950" y="6533093"/>
            <a:ext cx="3086100" cy="365125"/>
          </a:xfrm>
        </p:spPr>
        <p:txBody>
          <a:bodyPr/>
          <a:lstStyle>
            <a:lvl1pPr>
              <a:defRPr>
                <a:solidFill>
                  <a:schemeClr val="bg2">
                    <a:lumMod val="25000"/>
                  </a:schemeClr>
                </a:solidFill>
              </a:defRPr>
            </a:lvl1pPr>
          </a:lstStyle>
          <a:p>
            <a:r>
              <a:rPr lang="zh-CN" altLang="en-US" dirty="0"/>
              <a:t>南京大学商学院</a:t>
            </a:r>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116277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04332"/>
            <a:ext cx="5755217" cy="778931"/>
          </a:xfrm>
        </p:spPr>
        <p:txBody>
          <a:bodyPr>
            <a:normAutofit/>
          </a:bodyPr>
          <a:lstStyle>
            <a:lvl1pPr>
              <a:defRPr sz="2800" baseline="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628650" y="1701799"/>
            <a:ext cx="7886700" cy="4555067"/>
          </a:xfrm>
        </p:spPr>
        <p:txBody>
          <a:bodyPr/>
          <a:lstStyle>
            <a:lvl1pPr>
              <a:lnSpc>
                <a:spcPct val="150000"/>
              </a:lnSpc>
              <a:spcBef>
                <a:spcPts val="0"/>
              </a:spcBef>
              <a:defRPr sz="2400" baseline="0">
                <a:latin typeface="微软雅黑" panose="020B0503020204020204" pitchFamily="34" charset="-122"/>
                <a:ea typeface="微软雅黑" panose="020B0503020204020204" pitchFamily="34" charset="-122"/>
              </a:defRPr>
            </a:lvl1pPr>
            <a:lvl2pPr>
              <a:lnSpc>
                <a:spcPct val="150000"/>
              </a:lnSpc>
              <a:spcBef>
                <a:spcPts val="0"/>
              </a:spcBef>
              <a:defRPr sz="2200" baseline="0">
                <a:latin typeface="微软雅黑" panose="020B0503020204020204" pitchFamily="34" charset="-122"/>
                <a:ea typeface="微软雅黑" panose="020B0503020204020204" pitchFamily="34" charset="-122"/>
              </a:defRPr>
            </a:lvl2pPr>
            <a:lvl3pPr>
              <a:lnSpc>
                <a:spcPct val="150000"/>
              </a:lnSpc>
              <a:spcBef>
                <a:spcPts val="0"/>
              </a:spcBef>
              <a:defRPr>
                <a:latin typeface="微软雅黑" panose="020B0503020204020204" pitchFamily="34" charset="-122"/>
                <a:ea typeface="微软雅黑" panose="020B0503020204020204" pitchFamily="34" charset="-122"/>
              </a:defRPr>
            </a:lvl3pPr>
            <a:lvl4pPr>
              <a:lnSpc>
                <a:spcPct val="150000"/>
              </a:lnSpc>
              <a:spcBef>
                <a:spcPts val="0"/>
              </a:spcBef>
              <a:defRPr>
                <a:latin typeface="微软雅黑" panose="020B0503020204020204" pitchFamily="34" charset="-122"/>
                <a:ea typeface="微软雅黑" panose="020B0503020204020204" pitchFamily="34" charset="-122"/>
              </a:defRPr>
            </a:lvl4pPr>
            <a:lvl5pPr>
              <a:lnSpc>
                <a:spcPct val="150000"/>
              </a:lnSpc>
              <a:spcBef>
                <a:spcPts val="0"/>
              </a:spcBef>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61644F5C-424B-41C5-8D59-AA4A19164A42}" type="datetime1">
              <a:rPr lang="zh-CN" altLang="en-US" smtClean="0"/>
              <a:t>2024/9/23</a:t>
            </a:fld>
            <a:endParaRPr lang="zh-CN" altLang="en-US"/>
          </a:p>
        </p:txBody>
      </p:sp>
      <p:sp>
        <p:nvSpPr>
          <p:cNvPr id="5" name="Footer Placeholder 4"/>
          <p:cNvSpPr>
            <a:spLocks noGrp="1"/>
          </p:cNvSpPr>
          <p:nvPr>
            <p:ph type="ftr" sz="quarter" idx="11"/>
          </p:nvPr>
        </p:nvSpPr>
        <p:spPr>
          <a:xfrm>
            <a:off x="3028950" y="6519864"/>
            <a:ext cx="3086100" cy="365125"/>
          </a:xfrm>
        </p:spPr>
        <p:txBody>
          <a:bodyPr/>
          <a:lstStyle>
            <a:lvl1pPr>
              <a:defRPr>
                <a:solidFill>
                  <a:schemeClr val="bg2">
                    <a:lumMod val="25000"/>
                  </a:schemeClr>
                </a:solidFill>
              </a:defRPr>
            </a:lvl1pPr>
          </a:lstStyle>
          <a:p>
            <a:r>
              <a:rPr lang="zh-CN" altLang="en-US" dirty="0"/>
              <a:t>南京大学商学院</a:t>
            </a:r>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8980666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5279D6-5216-4FE6-B27A-FD624BFC2A50}" type="datetime1">
              <a:rPr lang="zh-CN" altLang="en-US" smtClean="0"/>
              <a:t>2024/9/23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南京大学商学院</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3960140058"/>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                   导   论</a:t>
            </a:r>
          </a:p>
        </p:txBody>
      </p:sp>
      <p:sp>
        <p:nvSpPr>
          <p:cNvPr id="3" name="副标题 2"/>
          <p:cNvSpPr>
            <a:spLocks noGrp="1"/>
          </p:cNvSpPr>
          <p:nvPr>
            <p:ph type="subTitle" idx="1"/>
          </p:nvPr>
        </p:nvSpPr>
        <p:spPr>
          <a:xfrm>
            <a:off x="4080295" y="3372928"/>
            <a:ext cx="3293852" cy="1285336"/>
          </a:xfrm>
        </p:spPr>
        <p:txBody>
          <a:bodyPr>
            <a:normAutofit/>
          </a:bodyPr>
          <a:lstStyle/>
          <a:p>
            <a:pPr algn="ctr"/>
            <a:endParaRPr lang="en-US" altLang="zh-CN" dirty="0"/>
          </a:p>
        </p:txBody>
      </p:sp>
      <p:sp>
        <p:nvSpPr>
          <p:cNvPr id="5" name="灯片编号占位符 4"/>
          <p:cNvSpPr>
            <a:spLocks noGrp="1"/>
          </p:cNvSpPr>
          <p:nvPr>
            <p:ph type="sldNum" sz="quarter" idx="12"/>
          </p:nvPr>
        </p:nvSpPr>
        <p:spPr/>
        <p:txBody>
          <a:bodyPr/>
          <a:lstStyle/>
          <a:p>
            <a:fld id="{10F2143F-0457-4E80-A290-5DB1806D65E5}" type="slidenum">
              <a:rPr lang="zh-CN" altLang="en-US" smtClean="0"/>
              <a:t>1</a:t>
            </a:fld>
            <a:endParaRPr lang="zh-CN" altLang="en-US"/>
          </a:p>
        </p:txBody>
      </p:sp>
    </p:spTree>
    <p:extLst>
      <p:ext uri="{BB962C8B-B14F-4D97-AF65-F5344CB8AC3E}">
        <p14:creationId xmlns:p14="http://schemas.microsoft.com/office/powerpoint/2010/main" val="322415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body" idx="1"/>
          </p:nvPr>
        </p:nvSpPr>
        <p:spPr>
          <a:xfrm>
            <a:off x="611188" y="1700213"/>
            <a:ext cx="7747000" cy="3311525"/>
          </a:xfrm>
        </p:spPr>
        <p:txBody>
          <a:bodyPr>
            <a:normAutofit fontScale="92500" lnSpcReduction="20000"/>
          </a:bodyPr>
          <a:lstStyle/>
          <a:p>
            <a:pPr eaLnBrk="1" hangingPunct="1"/>
            <a:r>
              <a:rPr lang="zh-CN" altLang="en-US" sz="2600" dirty="0"/>
              <a:t>授课教师</a:t>
            </a:r>
            <a:endParaRPr lang="en-US" altLang="zh-CN" sz="2600" dirty="0"/>
          </a:p>
          <a:p>
            <a:pPr lvl="1" eaLnBrk="1" hangingPunct="1"/>
            <a:r>
              <a:rPr lang="zh-CN" altLang="en-US" dirty="0"/>
              <a:t>江静   南京大学长江产业发展研究院副院长，商学院经济学系教授，博士生导师</a:t>
            </a:r>
            <a:endParaRPr lang="en-US" altLang="zh-CN" dirty="0"/>
          </a:p>
          <a:p>
            <a:pPr eaLnBrk="1" hangingPunct="1"/>
            <a:r>
              <a:rPr lang="zh-CN" altLang="en-US" sz="2600" dirty="0"/>
              <a:t>联系方式</a:t>
            </a:r>
            <a:endParaRPr lang="en-US" altLang="zh-CN" sz="2600" dirty="0"/>
          </a:p>
          <a:p>
            <a:pPr lvl="1"/>
            <a:r>
              <a:rPr lang="zh-CN" altLang="en-US" sz="2600" dirty="0"/>
              <a:t>办公室：安中楼</a:t>
            </a:r>
            <a:r>
              <a:rPr lang="en-US" altLang="zh-CN" sz="2600" dirty="0"/>
              <a:t>1808</a:t>
            </a:r>
          </a:p>
          <a:p>
            <a:pPr lvl="1" eaLnBrk="1" hangingPunct="1"/>
            <a:r>
              <a:rPr lang="zh-CN" altLang="en-US" dirty="0"/>
              <a:t>电话：</a:t>
            </a:r>
            <a:r>
              <a:rPr lang="en-US" altLang="zh-CN" dirty="0"/>
              <a:t>025-83621019</a:t>
            </a:r>
          </a:p>
          <a:p>
            <a:pPr lvl="1" eaLnBrk="1" hangingPunct="1"/>
            <a:r>
              <a:rPr lang="zh-CN" altLang="en-US" dirty="0"/>
              <a:t>邮箱：</a:t>
            </a:r>
            <a:r>
              <a:rPr lang="en-US" altLang="zh-CN" dirty="0"/>
              <a:t>jiangjing@nju.edu.cn</a:t>
            </a:r>
          </a:p>
          <a:p>
            <a:pPr eaLnBrk="1" hangingPunct="1"/>
            <a:endParaRPr lang="en-US" altLang="zh-CN" dirty="0"/>
          </a:p>
          <a:p>
            <a:pPr eaLnBrk="1" hangingPunct="1">
              <a:buFont typeface="Wingdings" panose="05000000000000000000" pitchFamily="2" charset="2"/>
              <a:buNone/>
            </a:pPr>
            <a:endParaRPr lang="en-US" altLang="zh-CN" sz="2400" dirty="0"/>
          </a:p>
        </p:txBody>
      </p:sp>
      <p:sp>
        <p:nvSpPr>
          <p:cNvPr id="4099" name="Rectangle 4"/>
          <p:cNvSpPr>
            <a:spLocks noGrp="1" noChangeArrowheads="1"/>
          </p:cNvSpPr>
          <p:nvPr>
            <p:ph type="title"/>
          </p:nvPr>
        </p:nvSpPr>
        <p:spPr/>
        <p:txBody>
          <a:bodyPr/>
          <a:lstStyle/>
          <a:p>
            <a:pPr algn="l" eaLnBrk="1" hangingPunct="1"/>
            <a:endParaRPr lang="zh-CN" altLang="zh-CN" dirty="0"/>
          </a:p>
        </p:txBody>
      </p:sp>
      <p:sp>
        <p:nvSpPr>
          <p:cNvPr id="2" name="灯片编号占位符 1"/>
          <p:cNvSpPr>
            <a:spLocks noGrp="1"/>
          </p:cNvSpPr>
          <p:nvPr>
            <p:ph type="sldNum" sz="quarter" idx="12"/>
          </p:nvPr>
        </p:nvSpPr>
        <p:spPr/>
        <p:txBody>
          <a:bodyPr/>
          <a:lstStyle/>
          <a:p>
            <a:fld id="{10F2143F-0457-4E80-A290-5DB1806D65E5}" type="slidenum">
              <a:rPr lang="zh-CN" altLang="en-US" smtClean="0"/>
              <a:t>2</a:t>
            </a:fld>
            <a:endParaRPr lang="zh-CN" altLang="en-US"/>
          </a:p>
        </p:txBody>
      </p:sp>
    </p:spTree>
    <p:extLst>
      <p:ext uri="{BB962C8B-B14F-4D97-AF65-F5344CB8AC3E}">
        <p14:creationId xmlns:p14="http://schemas.microsoft.com/office/powerpoint/2010/main" val="1044704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教材</a:t>
            </a:r>
          </a:p>
        </p:txBody>
      </p:sp>
      <p:sp>
        <p:nvSpPr>
          <p:cNvPr id="3" name="内容占位符 2"/>
          <p:cNvSpPr>
            <a:spLocks noGrp="1"/>
          </p:cNvSpPr>
          <p:nvPr>
            <p:ph idx="1"/>
          </p:nvPr>
        </p:nvSpPr>
        <p:spPr/>
        <p:txBody>
          <a:bodyPr/>
          <a:lstStyle/>
          <a:p>
            <a:r>
              <a:rPr lang="zh-CN" altLang="en-US" dirty="0"/>
              <a:t>教材：</a:t>
            </a:r>
            <a:r>
              <a:rPr lang="en-US" altLang="zh-CN" dirty="0"/>
              <a:t>《</a:t>
            </a:r>
            <a:r>
              <a:rPr lang="zh-CN" altLang="en-US" dirty="0"/>
              <a:t>马克思主义政治经济学概论</a:t>
            </a:r>
            <a:r>
              <a:rPr lang="en-US" altLang="zh-CN" dirty="0"/>
              <a:t>》</a:t>
            </a:r>
            <a:r>
              <a:rPr lang="zh-CN" altLang="en-US" dirty="0"/>
              <a:t>（第二版），人民出版社、高等教育出版社，</a:t>
            </a:r>
            <a:r>
              <a:rPr lang="en-US" altLang="zh-CN" dirty="0"/>
              <a:t>2021</a:t>
            </a:r>
            <a:r>
              <a:rPr lang="zh-CN" altLang="en-US" dirty="0"/>
              <a:t>年</a:t>
            </a:r>
            <a:r>
              <a:rPr lang="en-US" altLang="zh-CN" dirty="0"/>
              <a:t>4</a:t>
            </a:r>
            <a:r>
              <a:rPr lang="zh-CN" altLang="en-US" dirty="0"/>
              <a:t>月第</a:t>
            </a:r>
            <a:r>
              <a:rPr lang="en-US" altLang="zh-CN" dirty="0"/>
              <a:t>2</a:t>
            </a:r>
            <a:r>
              <a:rPr lang="zh-CN" altLang="en-US" dirty="0"/>
              <a:t>版</a:t>
            </a:r>
            <a:endParaRPr lang="en-US" altLang="zh-CN" dirty="0"/>
          </a:p>
          <a:p>
            <a:pPr marL="228600" lvl="1"/>
            <a:endParaRPr lang="en-US" altLang="zh-CN" sz="2600"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a:t>
            </a:fld>
            <a:endParaRPr lang="zh-CN" altLang="en-US"/>
          </a:p>
        </p:txBody>
      </p:sp>
      <p:pic>
        <p:nvPicPr>
          <p:cNvPr id="6" name="图片 5">
            <a:extLst>
              <a:ext uri="{FF2B5EF4-FFF2-40B4-BE49-F238E27FC236}">
                <a16:creationId xmlns:a16="http://schemas.microsoft.com/office/drawing/2014/main" id="{577FE6E9-65DD-4DAC-A896-32EC87E4F8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5757" y="2925750"/>
            <a:ext cx="2645298" cy="3331116"/>
          </a:xfrm>
          <a:prstGeom prst="rect">
            <a:avLst/>
          </a:prstGeom>
        </p:spPr>
      </p:pic>
    </p:spTree>
    <p:extLst>
      <p:ext uri="{BB962C8B-B14F-4D97-AF65-F5344CB8AC3E}">
        <p14:creationId xmlns:p14="http://schemas.microsoft.com/office/powerpoint/2010/main" val="122428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考核</a:t>
            </a:r>
          </a:p>
        </p:txBody>
      </p:sp>
      <p:sp>
        <p:nvSpPr>
          <p:cNvPr id="3" name="内容占位符 2"/>
          <p:cNvSpPr>
            <a:spLocks noGrp="1"/>
          </p:cNvSpPr>
          <p:nvPr>
            <p:ph idx="1"/>
          </p:nvPr>
        </p:nvSpPr>
        <p:spPr/>
        <p:txBody>
          <a:bodyPr/>
          <a:lstStyle/>
          <a:p>
            <a:r>
              <a:rPr lang="zh-CN" altLang="en-US" dirty="0"/>
              <a:t>期末总评：平时成绩</a:t>
            </a:r>
            <a:r>
              <a:rPr lang="en-US" altLang="zh-CN" dirty="0"/>
              <a:t>+</a:t>
            </a:r>
            <a:r>
              <a:rPr lang="zh-CN" altLang="en-US" dirty="0"/>
              <a:t>期末成绩</a:t>
            </a:r>
            <a:endParaRPr lang="en-US" altLang="zh-CN" dirty="0"/>
          </a:p>
          <a:p>
            <a:pPr lvl="1"/>
            <a:r>
              <a:rPr lang="zh-CN" altLang="en-US" dirty="0"/>
              <a:t>平时成绩</a:t>
            </a:r>
            <a:r>
              <a:rPr lang="en-US" altLang="zh-CN" dirty="0"/>
              <a:t>30%</a:t>
            </a:r>
          </a:p>
          <a:p>
            <a:pPr lvl="2"/>
            <a:r>
              <a:rPr lang="zh-CN" altLang="en-US" dirty="0"/>
              <a:t>考勤</a:t>
            </a:r>
            <a:r>
              <a:rPr lang="en-US" altLang="zh-CN" dirty="0"/>
              <a:t>5%</a:t>
            </a:r>
          </a:p>
          <a:p>
            <a:pPr lvl="2"/>
            <a:r>
              <a:rPr lang="zh-CN" altLang="en-US" dirty="0"/>
              <a:t>小作业</a:t>
            </a:r>
            <a:r>
              <a:rPr lang="en-US" altLang="zh-CN" dirty="0"/>
              <a:t>25%</a:t>
            </a:r>
          </a:p>
          <a:p>
            <a:pPr lvl="1"/>
            <a:r>
              <a:rPr lang="zh-CN" altLang="en-US" dirty="0"/>
              <a:t>期末成绩</a:t>
            </a:r>
            <a:r>
              <a:rPr lang="en-US" altLang="zh-CN" dirty="0"/>
              <a:t>70%</a:t>
            </a:r>
          </a:p>
          <a:p>
            <a:pPr lvl="2"/>
            <a:r>
              <a:rPr lang="zh-CN" altLang="en-US" dirty="0"/>
              <a:t>闭卷考试</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4</a:t>
            </a:fld>
            <a:endParaRPr lang="zh-CN" altLang="en-US"/>
          </a:p>
        </p:txBody>
      </p:sp>
    </p:spTree>
    <p:extLst>
      <p:ext uri="{BB962C8B-B14F-4D97-AF65-F5344CB8AC3E}">
        <p14:creationId xmlns:p14="http://schemas.microsoft.com/office/powerpoint/2010/main" val="2423015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6048195" cy="778931"/>
          </a:xfrm>
        </p:spPr>
        <p:txBody>
          <a:bodyPr>
            <a:normAutofit/>
          </a:bodyPr>
          <a:lstStyle/>
          <a:p>
            <a:r>
              <a:rPr lang="zh-CN" altLang="en-US" dirty="0"/>
              <a:t>为什么要学习马克思主义政治经济学</a:t>
            </a:r>
          </a:p>
        </p:txBody>
      </p:sp>
      <p:sp>
        <p:nvSpPr>
          <p:cNvPr id="3" name="内容占位符 2"/>
          <p:cNvSpPr>
            <a:spLocks noGrp="1"/>
          </p:cNvSpPr>
          <p:nvPr>
            <p:ph idx="1"/>
          </p:nvPr>
        </p:nvSpPr>
        <p:spPr/>
        <p:txBody>
          <a:bodyPr/>
          <a:lstStyle/>
          <a:p>
            <a:r>
              <a:rPr lang="zh-CN" altLang="en-US" dirty="0"/>
              <a:t>有助于学习和掌握马克思主义基本原理</a:t>
            </a:r>
            <a:endParaRPr lang="en-US" altLang="zh-CN" dirty="0"/>
          </a:p>
          <a:p>
            <a:r>
              <a:rPr lang="zh-CN" altLang="en-US" dirty="0"/>
              <a:t>有助于科学认识当今世界复杂的经济现象</a:t>
            </a:r>
            <a:endParaRPr lang="en-US" altLang="zh-CN" dirty="0"/>
          </a:p>
          <a:p>
            <a:r>
              <a:rPr lang="zh-CN" altLang="en-US" dirty="0"/>
              <a:t>有助于更好指导中国特色社会主义经济建设</a:t>
            </a:r>
            <a:endParaRPr lang="en-US" altLang="zh-CN" dirty="0"/>
          </a:p>
          <a:p>
            <a:r>
              <a:rPr lang="zh-CN" altLang="en-US" dirty="0"/>
              <a:t>有助于牢固树立中国特色社会主义共同理想和共产主义信念</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5</a:t>
            </a:fld>
            <a:endParaRPr lang="zh-CN" altLang="en-US"/>
          </a:p>
        </p:txBody>
      </p:sp>
    </p:spTree>
    <p:extLst>
      <p:ext uri="{BB962C8B-B14F-4D97-AF65-F5344CB8AC3E}">
        <p14:creationId xmlns:p14="http://schemas.microsoft.com/office/powerpoint/2010/main" val="1675457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normAutofit/>
          </a:bodyPr>
          <a:lstStyle/>
          <a:p>
            <a:r>
              <a:rPr lang="zh-CN" altLang="en-US" dirty="0"/>
              <a:t>第一节 政治经济学的由来和演变</a:t>
            </a:r>
            <a:endParaRPr lang="en-US" altLang="zh-CN" dirty="0"/>
          </a:p>
          <a:p>
            <a:r>
              <a:rPr lang="zh-CN" altLang="en-US" dirty="0"/>
              <a:t>第二节 马克思主义</a:t>
            </a:r>
            <a:r>
              <a:rPr lang="zh-CN" altLang="en-US" sz="2400" dirty="0"/>
              <a:t>政治经济学的研究对象</a:t>
            </a:r>
            <a:endParaRPr lang="en-US" altLang="zh-CN" sz="2400" dirty="0"/>
          </a:p>
          <a:p>
            <a:r>
              <a:rPr lang="zh-CN" altLang="en-US" dirty="0"/>
              <a:t>第三节 </a:t>
            </a:r>
            <a:r>
              <a:rPr lang="zh-CN" altLang="en-US" sz="2400" dirty="0"/>
              <a:t>马克思主义政治经济学的性质、任务和方法</a:t>
            </a:r>
            <a:endParaRPr lang="en-US" altLang="zh-CN" sz="2400" dirty="0"/>
          </a:p>
          <a:p>
            <a:r>
              <a:rPr lang="zh-CN" altLang="en-US" dirty="0"/>
              <a:t>第四节 马克思主义政治经济学的创立和发展</a:t>
            </a:r>
            <a:endParaRPr lang="en-US" altLang="zh-CN" dirty="0"/>
          </a:p>
          <a:p>
            <a:r>
              <a:rPr lang="zh-CN" altLang="en-US" dirty="0"/>
              <a:t>第五节 当代中国马克思主义政治经济学最新成果：习近平新时代中国特色社会主义经济思想</a:t>
            </a:r>
          </a:p>
        </p:txBody>
      </p:sp>
      <p:sp>
        <p:nvSpPr>
          <p:cNvPr id="5" name="灯片编号占位符 4"/>
          <p:cNvSpPr>
            <a:spLocks noGrp="1"/>
          </p:cNvSpPr>
          <p:nvPr>
            <p:ph type="sldNum" sz="quarter" idx="12"/>
          </p:nvPr>
        </p:nvSpPr>
        <p:spPr/>
        <p:txBody>
          <a:bodyPr/>
          <a:lstStyle/>
          <a:p>
            <a:fld id="{10F2143F-0457-4E80-A290-5DB1806D65E5}" type="slidenum">
              <a:rPr lang="zh-CN" altLang="en-US" smtClean="0"/>
              <a:t>6</a:t>
            </a:fld>
            <a:endParaRPr lang="zh-CN" altLang="en-US"/>
          </a:p>
        </p:txBody>
      </p:sp>
    </p:spTree>
    <p:extLst>
      <p:ext uri="{BB962C8B-B14F-4D97-AF65-F5344CB8AC3E}">
        <p14:creationId xmlns:p14="http://schemas.microsoft.com/office/powerpoint/2010/main" val="1028602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r>
              <a:rPr lang="zh-CN" altLang="en-US" dirty="0"/>
              <a:t>第一节 政治经济学的由来和演变</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7</a:t>
            </a:fld>
            <a:endParaRPr lang="zh-CN" altLang="en-US"/>
          </a:p>
        </p:txBody>
      </p:sp>
    </p:spTree>
    <p:extLst>
      <p:ext uri="{BB962C8B-B14F-4D97-AF65-F5344CB8AC3E}">
        <p14:creationId xmlns:p14="http://schemas.microsoft.com/office/powerpoint/2010/main" val="3414478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政治经济学概念由来</a:t>
            </a:r>
          </a:p>
        </p:txBody>
      </p:sp>
      <p:sp>
        <p:nvSpPr>
          <p:cNvPr id="3" name="内容占位符 2"/>
          <p:cNvSpPr>
            <a:spLocks noGrp="1"/>
          </p:cNvSpPr>
          <p:nvPr>
            <p:ph idx="1"/>
          </p:nvPr>
        </p:nvSpPr>
        <p:spPr/>
        <p:txBody>
          <a:bodyPr/>
          <a:lstStyle/>
          <a:p>
            <a:r>
              <a:rPr lang="en-US" altLang="zh-CN" dirty="0"/>
              <a:t>Economy</a:t>
            </a:r>
            <a:r>
              <a:rPr lang="zh-CN" altLang="en-US" dirty="0"/>
              <a:t>（古希腊思想家色诺芬，家庭管理），日本学者翻译为“经济”，中国沿用</a:t>
            </a:r>
            <a:endParaRPr lang="en-US" altLang="zh-CN" dirty="0"/>
          </a:p>
          <a:p>
            <a:pPr marL="228600" lvl="1"/>
            <a:r>
              <a:rPr lang="en-US" altLang="zh-CN" dirty="0"/>
              <a:t>1615</a:t>
            </a:r>
            <a:r>
              <a:rPr lang="zh-CN" altLang="en-US" dirty="0"/>
              <a:t>年，法国蒙克莱田</a:t>
            </a:r>
            <a:r>
              <a:rPr lang="en-US" altLang="zh-CN" dirty="0"/>
              <a:t>《</a:t>
            </a:r>
            <a:r>
              <a:rPr lang="zh-CN" altLang="en-US" dirty="0"/>
              <a:t>献给国王和王太后的政治经济学</a:t>
            </a:r>
            <a:r>
              <a:rPr lang="en-US" altLang="zh-CN" dirty="0"/>
              <a:t>》</a:t>
            </a:r>
            <a:r>
              <a:rPr lang="zh-CN" altLang="en-US" dirty="0"/>
              <a:t>，首先使用政治经济学一词，研究范围超出家庭管理范围，涉及国家经济管理</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8</a:t>
            </a:fld>
            <a:endParaRPr lang="zh-CN" altLang="en-US"/>
          </a:p>
        </p:txBody>
      </p:sp>
    </p:spTree>
    <p:extLst>
      <p:ext uri="{BB962C8B-B14F-4D97-AF65-F5344CB8AC3E}">
        <p14:creationId xmlns:p14="http://schemas.microsoft.com/office/powerpoint/2010/main" val="4092086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政治经济学研究内容的变化</a:t>
            </a:r>
          </a:p>
        </p:txBody>
      </p:sp>
      <p:sp>
        <p:nvSpPr>
          <p:cNvPr id="3" name="内容占位符 2"/>
          <p:cNvSpPr>
            <a:spLocks noGrp="1"/>
          </p:cNvSpPr>
          <p:nvPr>
            <p:ph idx="1"/>
          </p:nvPr>
        </p:nvSpPr>
        <p:spPr/>
        <p:txBody>
          <a:bodyPr>
            <a:normAutofit fontScale="92500" lnSpcReduction="20000"/>
          </a:bodyPr>
          <a:lstStyle/>
          <a:p>
            <a:r>
              <a:rPr lang="zh-CN" altLang="en-US" dirty="0"/>
              <a:t>如何增进国家财富、税收和保障国民生活福利（亚当</a:t>
            </a:r>
            <a:r>
              <a:rPr lang="en-US" altLang="zh-CN" dirty="0"/>
              <a:t>·</a:t>
            </a:r>
            <a:r>
              <a:rPr lang="zh-CN" altLang="en-US" dirty="0"/>
              <a:t>斯密的</a:t>
            </a:r>
            <a:r>
              <a:rPr lang="en-US" altLang="zh-CN" dirty="0"/>
              <a:t>《</a:t>
            </a:r>
            <a:r>
              <a:rPr lang="zh-CN" altLang="en-US" dirty="0"/>
              <a:t>国民财富的性质和原因研究</a:t>
            </a:r>
            <a:r>
              <a:rPr lang="en-US" altLang="zh-CN" dirty="0"/>
              <a:t>》</a:t>
            </a:r>
            <a:r>
              <a:rPr lang="zh-CN" altLang="en-US" dirty="0"/>
              <a:t>，国富论）</a:t>
            </a:r>
            <a:endParaRPr lang="en-US" altLang="zh-CN" dirty="0"/>
          </a:p>
          <a:p>
            <a:r>
              <a:rPr lang="en-US" altLang="zh-CN" dirty="0"/>
              <a:t>19</a:t>
            </a:r>
            <a:r>
              <a:rPr lang="zh-CN" altLang="en-US" dirty="0"/>
              <a:t>世纪六七十年代，从国家财富积累、生产转向个人行为和市场价格（威廉姆</a:t>
            </a:r>
            <a:r>
              <a:rPr lang="en-US" altLang="zh-CN" dirty="0"/>
              <a:t>·</a:t>
            </a:r>
            <a:r>
              <a:rPr lang="zh-CN" altLang="en-US" dirty="0"/>
              <a:t>斯坦利的</a:t>
            </a:r>
            <a:r>
              <a:rPr lang="en-US" altLang="zh-CN" dirty="0"/>
              <a:t>《</a:t>
            </a:r>
            <a:r>
              <a:rPr lang="zh-CN" altLang="en-US" dirty="0"/>
              <a:t>政治经济学原理</a:t>
            </a:r>
            <a:r>
              <a:rPr lang="en-US" altLang="zh-CN" dirty="0"/>
              <a:t>》</a:t>
            </a:r>
            <a:r>
              <a:rPr lang="zh-CN" altLang="en-US" dirty="0"/>
              <a:t>，建议改名经济学</a:t>
            </a:r>
            <a:endParaRPr lang="en-US" altLang="zh-CN" dirty="0"/>
          </a:p>
          <a:p>
            <a:r>
              <a:rPr lang="zh-CN" altLang="en-US" dirty="0"/>
              <a:t>经济学研究内容是研究资源稀缺配置，以均衡价格为核心的新古典经济学（经济学名称广泛使用，阿尔弗雷德</a:t>
            </a:r>
            <a:r>
              <a:rPr lang="en-US" altLang="zh-CN" dirty="0"/>
              <a:t>·</a:t>
            </a:r>
            <a:r>
              <a:rPr lang="zh-CN" altLang="en-US" dirty="0"/>
              <a:t>马歇尔的</a:t>
            </a:r>
            <a:r>
              <a:rPr lang="en-US" altLang="zh-CN" dirty="0"/>
              <a:t>《</a:t>
            </a:r>
            <a:r>
              <a:rPr lang="zh-CN" altLang="en-US" dirty="0"/>
              <a:t>经济学原理</a:t>
            </a:r>
            <a:r>
              <a:rPr lang="en-US" altLang="zh-CN" dirty="0"/>
              <a:t>》</a:t>
            </a:r>
            <a:r>
              <a:rPr lang="zh-CN" altLang="en-US" dirty="0"/>
              <a:t>）</a:t>
            </a:r>
            <a:endParaRPr lang="en-US" altLang="zh-CN" dirty="0"/>
          </a:p>
          <a:p>
            <a:pPr lvl="1"/>
            <a:r>
              <a:rPr lang="zh-CN" altLang="en-US" dirty="0"/>
              <a:t>政治经济学和经济学是同一学科的不同称呼，只是因立场观点和方法不同，人们对两者的性质和内涵有所不同</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9</a:t>
            </a:fld>
            <a:endParaRPr lang="zh-CN" altLang="en-US"/>
          </a:p>
        </p:txBody>
      </p:sp>
    </p:spTree>
    <p:extLst>
      <p:ext uri="{BB962C8B-B14F-4D97-AF65-F5344CB8AC3E}">
        <p14:creationId xmlns:p14="http://schemas.microsoft.com/office/powerpoint/2010/main" val="3799164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政治经济学的演变</a:t>
            </a:r>
          </a:p>
        </p:txBody>
      </p:sp>
      <p:sp>
        <p:nvSpPr>
          <p:cNvPr id="3" name="内容占位符 2"/>
          <p:cNvSpPr>
            <a:spLocks noGrp="1"/>
          </p:cNvSpPr>
          <p:nvPr>
            <p:ph idx="1"/>
          </p:nvPr>
        </p:nvSpPr>
        <p:spPr/>
        <p:txBody>
          <a:bodyPr>
            <a:normAutofit lnSpcReduction="10000"/>
          </a:bodyPr>
          <a:lstStyle/>
          <a:p>
            <a:r>
              <a:rPr lang="zh-CN" altLang="en-US" dirty="0"/>
              <a:t>重商主义：</a:t>
            </a:r>
            <a:r>
              <a:rPr lang="en-US" altLang="zh-CN" dirty="0"/>
              <a:t>14-15</a:t>
            </a:r>
            <a:r>
              <a:rPr lang="zh-CN" altLang="en-US" dirty="0"/>
              <a:t>世纪，海外贸易发展，重点集中在流通领域，研究商业和对外贸易（政治经济学萌芽）</a:t>
            </a:r>
            <a:endParaRPr lang="en-US" altLang="zh-CN" dirty="0"/>
          </a:p>
          <a:p>
            <a:r>
              <a:rPr lang="zh-CN" altLang="en-US" dirty="0"/>
              <a:t>资产阶级古典政治经济学理论</a:t>
            </a:r>
            <a:endParaRPr lang="en-US" altLang="zh-CN" dirty="0"/>
          </a:p>
          <a:p>
            <a:pPr lvl="1"/>
            <a:r>
              <a:rPr lang="zh-CN" altLang="en-US" dirty="0"/>
              <a:t>英国：威廉</a:t>
            </a:r>
            <a:r>
              <a:rPr lang="en-US" altLang="zh-CN" dirty="0"/>
              <a:t>·</a:t>
            </a:r>
            <a:r>
              <a:rPr lang="zh-CN" altLang="en-US" dirty="0"/>
              <a:t>配第</a:t>
            </a:r>
            <a:r>
              <a:rPr lang="en-US" altLang="zh-CN" dirty="0"/>
              <a:t>《</a:t>
            </a:r>
            <a:r>
              <a:rPr lang="zh-CN" altLang="en-US" dirty="0"/>
              <a:t>政治算术</a:t>
            </a:r>
            <a:r>
              <a:rPr lang="en-US" altLang="zh-CN" dirty="0"/>
              <a:t>》</a:t>
            </a:r>
            <a:r>
              <a:rPr lang="zh-CN" altLang="en-US" dirty="0"/>
              <a:t>、亚当</a:t>
            </a:r>
            <a:r>
              <a:rPr lang="en-US" altLang="zh-CN" dirty="0"/>
              <a:t>·</a:t>
            </a:r>
            <a:r>
              <a:rPr lang="zh-CN" altLang="en-US" dirty="0"/>
              <a:t>斯密</a:t>
            </a:r>
            <a:r>
              <a:rPr lang="en-US" altLang="zh-CN" dirty="0"/>
              <a:t>《</a:t>
            </a:r>
            <a:r>
              <a:rPr lang="zh-CN" altLang="en-US" dirty="0"/>
              <a:t>国富论</a:t>
            </a:r>
            <a:r>
              <a:rPr lang="en-US" altLang="zh-CN" dirty="0"/>
              <a:t>》</a:t>
            </a:r>
            <a:r>
              <a:rPr lang="zh-CN" altLang="en-US" dirty="0"/>
              <a:t>、大卫</a:t>
            </a:r>
            <a:r>
              <a:rPr lang="en-US" altLang="zh-CN" dirty="0"/>
              <a:t>·</a:t>
            </a:r>
            <a:r>
              <a:rPr lang="zh-CN" altLang="en-US" dirty="0"/>
              <a:t>李嘉图</a:t>
            </a:r>
            <a:r>
              <a:rPr lang="en-US" altLang="zh-CN" dirty="0"/>
              <a:t>《</a:t>
            </a:r>
            <a:r>
              <a:rPr lang="zh-CN" altLang="en-US" dirty="0"/>
              <a:t>政治经济学及赋税原理</a:t>
            </a:r>
            <a:r>
              <a:rPr lang="en-US" altLang="zh-CN" dirty="0"/>
              <a:t>》</a:t>
            </a:r>
          </a:p>
          <a:p>
            <a:pPr lvl="2"/>
            <a:r>
              <a:rPr lang="en-US" altLang="zh-CN" dirty="0"/>
              <a:t>1776</a:t>
            </a:r>
            <a:r>
              <a:rPr lang="zh-CN" altLang="en-US" dirty="0"/>
              <a:t>年，亚当</a:t>
            </a:r>
            <a:r>
              <a:rPr lang="en-US" altLang="zh-CN" dirty="0"/>
              <a:t>·</a:t>
            </a:r>
            <a:r>
              <a:rPr lang="zh-CN" altLang="en-US" dirty="0"/>
              <a:t>斯密出版</a:t>
            </a:r>
            <a:r>
              <a:rPr lang="en-US" altLang="zh-CN" dirty="0"/>
              <a:t>《</a:t>
            </a:r>
            <a:r>
              <a:rPr lang="zh-CN" altLang="en-US" dirty="0"/>
              <a:t>国富论</a:t>
            </a:r>
            <a:r>
              <a:rPr lang="en-US" altLang="zh-CN" dirty="0"/>
              <a:t>》</a:t>
            </a:r>
            <a:r>
              <a:rPr lang="zh-CN" altLang="en-US" dirty="0"/>
              <a:t>，标志着古典资产经济政治经济学建立</a:t>
            </a:r>
            <a:endParaRPr lang="en-US" altLang="zh-CN" dirty="0"/>
          </a:p>
          <a:p>
            <a:pPr lvl="1"/>
            <a:r>
              <a:rPr lang="zh-CN" altLang="en-US" dirty="0"/>
              <a:t>法国：布阿吉尔贝尔（重农学派，将研究领域从流通转到生产）到西斯蒙第）</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10</a:t>
            </a:fld>
            <a:endParaRPr lang="zh-CN" altLang="en-US"/>
          </a:p>
        </p:txBody>
      </p:sp>
    </p:spTree>
    <p:extLst>
      <p:ext uri="{BB962C8B-B14F-4D97-AF65-F5344CB8AC3E}">
        <p14:creationId xmlns:p14="http://schemas.microsoft.com/office/powerpoint/2010/main" val="3481705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政治经济学的演变</a:t>
            </a:r>
          </a:p>
        </p:txBody>
      </p:sp>
      <p:sp>
        <p:nvSpPr>
          <p:cNvPr id="3" name="内容占位符 2"/>
          <p:cNvSpPr>
            <a:spLocks noGrp="1"/>
          </p:cNvSpPr>
          <p:nvPr>
            <p:ph idx="1"/>
          </p:nvPr>
        </p:nvSpPr>
        <p:spPr/>
        <p:txBody>
          <a:bodyPr/>
          <a:lstStyle/>
          <a:p>
            <a:r>
              <a:rPr lang="zh-CN" altLang="en-US" dirty="0"/>
              <a:t>资产阶级经济学的三次大综合</a:t>
            </a:r>
            <a:endParaRPr lang="en-US" altLang="zh-CN" dirty="0"/>
          </a:p>
          <a:p>
            <a:pPr lvl="1"/>
            <a:r>
              <a:rPr lang="en-US" altLang="zh-CN" dirty="0"/>
              <a:t>1848</a:t>
            </a:r>
            <a:r>
              <a:rPr lang="zh-CN" altLang="en-US" dirty="0"/>
              <a:t>年穆勒</a:t>
            </a:r>
            <a:r>
              <a:rPr lang="en-US" altLang="zh-CN" dirty="0"/>
              <a:t>《</a:t>
            </a:r>
            <a:r>
              <a:rPr lang="zh-CN" altLang="en-US" dirty="0"/>
              <a:t>政治经济学原理</a:t>
            </a:r>
            <a:r>
              <a:rPr lang="en-US" altLang="zh-CN" dirty="0"/>
              <a:t>》</a:t>
            </a:r>
            <a:r>
              <a:rPr lang="zh-CN" altLang="en-US" dirty="0"/>
              <a:t>，系统阐述斯密、马尔萨斯、李嘉图、萨伊等经济思想</a:t>
            </a:r>
            <a:endParaRPr lang="en-US" altLang="zh-CN" dirty="0"/>
          </a:p>
          <a:p>
            <a:pPr lvl="1"/>
            <a:r>
              <a:rPr lang="en-US" altLang="zh-CN" dirty="0"/>
              <a:t>1890</a:t>
            </a:r>
            <a:r>
              <a:rPr lang="zh-CN" altLang="en-US" dirty="0"/>
              <a:t>年马歇尔</a:t>
            </a:r>
            <a:r>
              <a:rPr lang="en-US" altLang="zh-CN" dirty="0"/>
              <a:t>《</a:t>
            </a:r>
            <a:r>
              <a:rPr lang="zh-CN" altLang="en-US" dirty="0"/>
              <a:t>经济学原理</a:t>
            </a:r>
            <a:r>
              <a:rPr lang="en-US" altLang="zh-CN" dirty="0"/>
              <a:t>》</a:t>
            </a:r>
            <a:r>
              <a:rPr lang="zh-CN" altLang="en-US" dirty="0"/>
              <a:t>，均衡价格为核心整合经济学研究成果（新古典经济学时代，以微观经济学为主）</a:t>
            </a:r>
            <a:endParaRPr lang="en-US" altLang="zh-CN" dirty="0"/>
          </a:p>
          <a:p>
            <a:pPr lvl="1"/>
            <a:r>
              <a:rPr lang="en-US" altLang="zh-CN" dirty="0"/>
              <a:t>20</a:t>
            </a:r>
            <a:r>
              <a:rPr lang="zh-CN" altLang="en-US" dirty="0"/>
              <a:t>世纪</a:t>
            </a:r>
            <a:r>
              <a:rPr lang="en-US" altLang="zh-CN" dirty="0"/>
              <a:t>40</a:t>
            </a:r>
            <a:r>
              <a:rPr lang="zh-CN" altLang="en-US" dirty="0"/>
              <a:t>年代，萨缪尔森</a:t>
            </a:r>
            <a:r>
              <a:rPr lang="en-US" altLang="zh-CN" dirty="0"/>
              <a:t>《</a:t>
            </a:r>
            <a:r>
              <a:rPr lang="zh-CN" altLang="en-US" dirty="0"/>
              <a:t>经济学</a:t>
            </a:r>
            <a:r>
              <a:rPr lang="en-US" altLang="zh-CN" dirty="0"/>
              <a:t>》</a:t>
            </a:r>
            <a:r>
              <a:rPr lang="zh-CN" altLang="en-US" dirty="0"/>
              <a:t>（目前已经出到</a:t>
            </a:r>
            <a:r>
              <a:rPr lang="en-US" altLang="zh-CN" dirty="0"/>
              <a:t>19</a:t>
            </a:r>
            <a:r>
              <a:rPr lang="zh-CN" altLang="en-US" dirty="0"/>
              <a:t>版）：新古典综合：将新古典经济学和凯恩斯的宏观经济学结合起来</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11</a:t>
            </a:fld>
            <a:endParaRPr lang="zh-CN" altLang="en-US"/>
          </a:p>
        </p:txBody>
      </p:sp>
    </p:spTree>
    <p:extLst>
      <p:ext uri="{BB962C8B-B14F-4D97-AF65-F5344CB8AC3E}">
        <p14:creationId xmlns:p14="http://schemas.microsoft.com/office/powerpoint/2010/main" val="2978028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政治经济学的变革</a:t>
            </a:r>
          </a:p>
        </p:txBody>
      </p:sp>
      <p:sp>
        <p:nvSpPr>
          <p:cNvPr id="3" name="内容占位符 2"/>
          <p:cNvSpPr>
            <a:spLocks noGrp="1"/>
          </p:cNvSpPr>
          <p:nvPr>
            <p:ph idx="1"/>
          </p:nvPr>
        </p:nvSpPr>
        <p:spPr/>
        <p:txBody>
          <a:bodyPr/>
          <a:lstStyle/>
          <a:p>
            <a:r>
              <a:rPr lang="zh-CN" altLang="en-US" dirty="0"/>
              <a:t>资产阶级政治经济学：仅描绘经济表面现象，为资本主义辩护</a:t>
            </a:r>
            <a:endParaRPr lang="en-US" altLang="zh-CN" dirty="0"/>
          </a:p>
          <a:p>
            <a:r>
              <a:rPr lang="zh-CN" altLang="en-US" dirty="0"/>
              <a:t>马克思主义政治经济学：批判继承古典政治经济学科学成分，从生产力和生产关系的矛盾运动中考察人类社会经济发展过程，特别是资本主义经济发展过程</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12</a:t>
            </a:fld>
            <a:endParaRPr lang="zh-CN" altLang="en-US"/>
          </a:p>
        </p:txBody>
      </p:sp>
    </p:spTree>
    <p:extLst>
      <p:ext uri="{BB962C8B-B14F-4D97-AF65-F5344CB8AC3E}">
        <p14:creationId xmlns:p14="http://schemas.microsoft.com/office/powerpoint/2010/main" val="1092408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97110" y="618332"/>
            <a:ext cx="6472237" cy="654050"/>
          </a:xfrm>
        </p:spPr>
        <p:txBody>
          <a:bodyPr/>
          <a:lstStyle/>
          <a:p>
            <a:r>
              <a:rPr lang="zh-CN" altLang="en-US" dirty="0"/>
              <a:t>经济学的起源</a:t>
            </a:r>
          </a:p>
        </p:txBody>
      </p:sp>
      <p:sp>
        <p:nvSpPr>
          <p:cNvPr id="8195" name="Rectangle 3"/>
          <p:cNvSpPr>
            <a:spLocks noGrp="1" noChangeArrowheads="1"/>
          </p:cNvSpPr>
          <p:nvPr>
            <p:ph type="body" idx="1"/>
          </p:nvPr>
        </p:nvSpPr>
        <p:spPr>
          <a:xfrm>
            <a:off x="457200" y="1600200"/>
            <a:ext cx="8218488" cy="5257800"/>
          </a:xfrm>
        </p:spPr>
        <p:txBody>
          <a:bodyPr/>
          <a:lstStyle/>
          <a:p>
            <a:pPr>
              <a:buFont typeface="Wingdings" panose="05000000000000000000" pitchFamily="2" charset="2"/>
              <a:buNone/>
            </a:pPr>
            <a:r>
              <a:rPr lang="en-US" altLang="zh-CN" dirty="0"/>
              <a:t>          </a:t>
            </a:r>
          </a:p>
        </p:txBody>
      </p:sp>
      <p:sp>
        <p:nvSpPr>
          <p:cNvPr id="8196" name="Rectangle 4"/>
          <p:cNvSpPr>
            <a:spLocks noChangeArrowheads="1"/>
          </p:cNvSpPr>
          <p:nvPr/>
        </p:nvSpPr>
        <p:spPr bwMode="auto">
          <a:xfrm>
            <a:off x="5003800" y="1557338"/>
            <a:ext cx="3024188" cy="35877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t>（法）弗</a:t>
            </a:r>
            <a:r>
              <a:rPr lang="en-US" altLang="zh-CN" sz="1600" dirty="0"/>
              <a:t>.</a:t>
            </a:r>
            <a:r>
              <a:rPr lang="zh-CN" altLang="en-US" sz="1600" dirty="0"/>
              <a:t>魁奈 </a:t>
            </a:r>
            <a:r>
              <a:rPr lang="en-US" altLang="zh-CN" sz="1600" dirty="0"/>
              <a:t>《</a:t>
            </a:r>
            <a:r>
              <a:rPr lang="zh-CN" altLang="en-US" sz="1600" dirty="0"/>
              <a:t>经济表</a:t>
            </a:r>
            <a:r>
              <a:rPr lang="en-US" altLang="zh-CN" sz="1600" dirty="0"/>
              <a:t>》</a:t>
            </a:r>
            <a:r>
              <a:rPr lang="zh-CN" altLang="en-US" sz="1600" dirty="0"/>
              <a:t>（</a:t>
            </a:r>
            <a:r>
              <a:rPr lang="en-US" altLang="zh-CN" sz="1600" dirty="0"/>
              <a:t>1758</a:t>
            </a:r>
            <a:r>
              <a:rPr lang="zh-CN" altLang="en-US" sz="1600" dirty="0"/>
              <a:t>）</a:t>
            </a:r>
          </a:p>
        </p:txBody>
      </p:sp>
      <p:sp>
        <p:nvSpPr>
          <p:cNvPr id="8197" name="Rectangle 5"/>
          <p:cNvSpPr>
            <a:spLocks noChangeArrowheads="1"/>
          </p:cNvSpPr>
          <p:nvPr/>
        </p:nvSpPr>
        <p:spPr bwMode="auto">
          <a:xfrm>
            <a:off x="755650" y="1557338"/>
            <a:ext cx="3384550" cy="35877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t>（英）威廉</a:t>
            </a:r>
            <a:r>
              <a:rPr lang="en-US" altLang="zh-CN" sz="1600" dirty="0"/>
              <a:t>.</a:t>
            </a:r>
            <a:r>
              <a:rPr lang="zh-CN" altLang="en-US" sz="1600" dirty="0"/>
              <a:t>配第 </a:t>
            </a:r>
            <a:r>
              <a:rPr lang="en-US" altLang="zh-CN" sz="1600" dirty="0"/>
              <a:t>《</a:t>
            </a:r>
            <a:r>
              <a:rPr lang="zh-CN" altLang="en-US" sz="1600" dirty="0"/>
              <a:t>政治算术</a:t>
            </a:r>
            <a:r>
              <a:rPr lang="en-US" altLang="zh-CN" sz="1600" dirty="0"/>
              <a:t>》</a:t>
            </a:r>
            <a:r>
              <a:rPr lang="zh-CN" altLang="en-US" sz="1600" dirty="0"/>
              <a:t>（</a:t>
            </a:r>
            <a:r>
              <a:rPr lang="en-US" altLang="zh-CN" sz="1600" dirty="0"/>
              <a:t>1676</a:t>
            </a:r>
            <a:r>
              <a:rPr lang="zh-CN" altLang="en-US" sz="1600" dirty="0"/>
              <a:t>）</a:t>
            </a:r>
          </a:p>
        </p:txBody>
      </p:sp>
      <p:sp>
        <p:nvSpPr>
          <p:cNvPr id="8198" name="Line 7"/>
          <p:cNvSpPr>
            <a:spLocks noChangeShapeType="1"/>
          </p:cNvSpPr>
          <p:nvPr/>
        </p:nvSpPr>
        <p:spPr bwMode="auto">
          <a:xfrm>
            <a:off x="2268538" y="1916113"/>
            <a:ext cx="0" cy="217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 name="Line 8"/>
          <p:cNvSpPr>
            <a:spLocks noChangeShapeType="1"/>
          </p:cNvSpPr>
          <p:nvPr/>
        </p:nvSpPr>
        <p:spPr bwMode="auto">
          <a:xfrm>
            <a:off x="2268538" y="2133600"/>
            <a:ext cx="41036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 name="Line 9"/>
          <p:cNvSpPr>
            <a:spLocks noChangeShapeType="1"/>
          </p:cNvSpPr>
          <p:nvPr/>
        </p:nvSpPr>
        <p:spPr bwMode="auto">
          <a:xfrm>
            <a:off x="2268538" y="2060575"/>
            <a:ext cx="0" cy="73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 name="Line 10"/>
          <p:cNvSpPr>
            <a:spLocks noChangeShapeType="1"/>
          </p:cNvSpPr>
          <p:nvPr/>
        </p:nvSpPr>
        <p:spPr bwMode="auto">
          <a:xfrm>
            <a:off x="6372225" y="1916113"/>
            <a:ext cx="0" cy="217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 name="Line 11"/>
          <p:cNvSpPr>
            <a:spLocks noChangeShapeType="1"/>
          </p:cNvSpPr>
          <p:nvPr/>
        </p:nvSpPr>
        <p:spPr bwMode="auto">
          <a:xfrm>
            <a:off x="4140200" y="2133600"/>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3" name="Rectangle 12"/>
          <p:cNvSpPr>
            <a:spLocks noChangeArrowheads="1"/>
          </p:cNvSpPr>
          <p:nvPr/>
        </p:nvSpPr>
        <p:spPr bwMode="auto">
          <a:xfrm>
            <a:off x="2555875" y="2349500"/>
            <a:ext cx="3384550" cy="28733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t>（英）亚当</a:t>
            </a:r>
            <a:r>
              <a:rPr lang="en-US" altLang="zh-CN" sz="1600" dirty="0"/>
              <a:t>.</a:t>
            </a:r>
            <a:r>
              <a:rPr lang="zh-CN" altLang="en-US" sz="1600" dirty="0"/>
              <a:t>斯密</a:t>
            </a:r>
            <a:r>
              <a:rPr lang="en-US" altLang="zh-CN" sz="1600" dirty="0"/>
              <a:t>《</a:t>
            </a:r>
            <a:r>
              <a:rPr lang="zh-CN" altLang="en-US" sz="1600" dirty="0"/>
              <a:t>国富论</a:t>
            </a:r>
            <a:r>
              <a:rPr lang="en-US" altLang="zh-CN" sz="1600" dirty="0"/>
              <a:t>》</a:t>
            </a:r>
            <a:r>
              <a:rPr lang="zh-CN" altLang="en-US" sz="1600" dirty="0"/>
              <a:t>（</a:t>
            </a:r>
            <a:r>
              <a:rPr lang="en-US" altLang="zh-CN" sz="1600" dirty="0"/>
              <a:t>1776</a:t>
            </a:r>
            <a:r>
              <a:rPr lang="zh-CN" altLang="en-US" sz="1600" dirty="0"/>
              <a:t>）</a:t>
            </a:r>
          </a:p>
        </p:txBody>
      </p:sp>
      <p:sp>
        <p:nvSpPr>
          <p:cNvPr id="8204" name="Line 13"/>
          <p:cNvSpPr>
            <a:spLocks noChangeShapeType="1"/>
          </p:cNvSpPr>
          <p:nvPr/>
        </p:nvSpPr>
        <p:spPr bwMode="auto">
          <a:xfrm>
            <a:off x="4140200" y="2636838"/>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5" name="Rectangle 14"/>
          <p:cNvSpPr>
            <a:spLocks noChangeArrowheads="1"/>
          </p:cNvSpPr>
          <p:nvPr/>
        </p:nvSpPr>
        <p:spPr bwMode="auto">
          <a:xfrm>
            <a:off x="1763713" y="2852738"/>
            <a:ext cx="4895850" cy="2889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t>（英）大卫</a:t>
            </a:r>
            <a:r>
              <a:rPr lang="en-US" altLang="zh-CN" sz="1600" dirty="0"/>
              <a:t>.</a:t>
            </a:r>
            <a:r>
              <a:rPr lang="zh-CN" altLang="en-US" sz="1600" dirty="0"/>
              <a:t>李嘉图 </a:t>
            </a:r>
            <a:r>
              <a:rPr lang="en-US" altLang="zh-CN" sz="1600" dirty="0"/>
              <a:t>《</a:t>
            </a:r>
            <a:r>
              <a:rPr lang="zh-CN" altLang="en-US" sz="1600" dirty="0"/>
              <a:t>政治经济学和赋税原理</a:t>
            </a:r>
            <a:r>
              <a:rPr lang="en-US" altLang="zh-CN" sz="1600" dirty="0"/>
              <a:t>》</a:t>
            </a:r>
            <a:r>
              <a:rPr lang="zh-CN" altLang="en-US" sz="1600" dirty="0"/>
              <a:t>（</a:t>
            </a:r>
            <a:r>
              <a:rPr lang="en-US" altLang="zh-CN" sz="1600" dirty="0"/>
              <a:t>1817</a:t>
            </a:r>
            <a:r>
              <a:rPr lang="zh-CN" altLang="en-US" sz="1600" dirty="0"/>
              <a:t>）</a:t>
            </a:r>
          </a:p>
        </p:txBody>
      </p:sp>
      <p:sp>
        <p:nvSpPr>
          <p:cNvPr id="8206" name="Line 15"/>
          <p:cNvSpPr>
            <a:spLocks noChangeShapeType="1"/>
          </p:cNvSpPr>
          <p:nvPr/>
        </p:nvSpPr>
        <p:spPr bwMode="auto">
          <a:xfrm>
            <a:off x="4140200" y="3141663"/>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7" name="Line 16"/>
          <p:cNvSpPr>
            <a:spLocks noChangeShapeType="1"/>
          </p:cNvSpPr>
          <p:nvPr/>
        </p:nvSpPr>
        <p:spPr bwMode="auto">
          <a:xfrm>
            <a:off x="1763713" y="3357563"/>
            <a:ext cx="50403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8" name="Line 17"/>
          <p:cNvSpPr>
            <a:spLocks noChangeShapeType="1"/>
          </p:cNvSpPr>
          <p:nvPr/>
        </p:nvSpPr>
        <p:spPr bwMode="auto">
          <a:xfrm>
            <a:off x="1763713" y="3357563"/>
            <a:ext cx="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9" name="Rectangle 18"/>
          <p:cNvSpPr>
            <a:spLocks noChangeArrowheads="1"/>
          </p:cNvSpPr>
          <p:nvPr/>
        </p:nvSpPr>
        <p:spPr bwMode="auto">
          <a:xfrm>
            <a:off x="684213" y="3933825"/>
            <a:ext cx="2808287" cy="35877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t>马克思：</a:t>
            </a:r>
            <a:r>
              <a:rPr lang="en-US" altLang="zh-CN" sz="1600" dirty="0"/>
              <a:t>《</a:t>
            </a:r>
            <a:r>
              <a:rPr lang="zh-CN" altLang="en-US" sz="1600" dirty="0"/>
              <a:t>资本论</a:t>
            </a:r>
            <a:r>
              <a:rPr lang="en-US" altLang="zh-CN" sz="1600" dirty="0"/>
              <a:t>》</a:t>
            </a:r>
            <a:r>
              <a:rPr lang="zh-CN" altLang="en-US" sz="1600" dirty="0"/>
              <a:t>（</a:t>
            </a:r>
            <a:r>
              <a:rPr lang="en-US" altLang="zh-CN" sz="1600" dirty="0"/>
              <a:t>1867</a:t>
            </a:r>
            <a:r>
              <a:rPr lang="zh-CN" altLang="en-US" sz="1600" dirty="0"/>
              <a:t>）</a:t>
            </a:r>
          </a:p>
        </p:txBody>
      </p:sp>
      <p:sp>
        <p:nvSpPr>
          <p:cNvPr id="8210" name="Line 19"/>
          <p:cNvSpPr>
            <a:spLocks noChangeShapeType="1"/>
          </p:cNvSpPr>
          <p:nvPr/>
        </p:nvSpPr>
        <p:spPr bwMode="auto">
          <a:xfrm>
            <a:off x="6804025" y="3357563"/>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1" name="Rectangle 20"/>
          <p:cNvSpPr>
            <a:spLocks noChangeArrowheads="1"/>
          </p:cNvSpPr>
          <p:nvPr/>
        </p:nvSpPr>
        <p:spPr bwMode="auto">
          <a:xfrm>
            <a:off x="4427538" y="3573463"/>
            <a:ext cx="4248150" cy="8636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lnSpc>
                <a:spcPct val="115000"/>
              </a:lnSpc>
              <a:spcBef>
                <a:spcPct val="0"/>
              </a:spcBef>
              <a:buClrTx/>
              <a:buSzTx/>
              <a:buFontTx/>
              <a:buNone/>
            </a:pPr>
            <a:r>
              <a:rPr lang="zh-CN" altLang="en-US" sz="1600" dirty="0"/>
              <a:t>（法）萨伊</a:t>
            </a:r>
            <a:r>
              <a:rPr lang="en-US" altLang="zh-CN" sz="1600" dirty="0"/>
              <a:t>《</a:t>
            </a:r>
            <a:r>
              <a:rPr lang="zh-CN" altLang="en-US" sz="1600" dirty="0"/>
              <a:t>政治经济学概论</a:t>
            </a:r>
            <a:r>
              <a:rPr lang="en-US" altLang="zh-CN" sz="1600" dirty="0"/>
              <a:t>》</a:t>
            </a:r>
            <a:r>
              <a:rPr lang="zh-CN" altLang="en-US" sz="1600" dirty="0"/>
              <a:t>（</a:t>
            </a:r>
            <a:r>
              <a:rPr lang="en-US" altLang="zh-CN" sz="1600" dirty="0"/>
              <a:t>1803</a:t>
            </a:r>
            <a:r>
              <a:rPr lang="zh-CN" altLang="en-US" sz="1600" dirty="0"/>
              <a:t>）</a:t>
            </a:r>
          </a:p>
          <a:p>
            <a:pPr algn="ctr" eaLnBrk="1" hangingPunct="1">
              <a:lnSpc>
                <a:spcPct val="115000"/>
              </a:lnSpc>
              <a:spcBef>
                <a:spcPct val="0"/>
              </a:spcBef>
              <a:buClrTx/>
              <a:buSzTx/>
              <a:buFontTx/>
              <a:buNone/>
            </a:pPr>
            <a:r>
              <a:rPr lang="zh-CN" altLang="en-US" sz="1600" dirty="0"/>
              <a:t>（英）西尼尔</a:t>
            </a:r>
            <a:r>
              <a:rPr lang="en-US" altLang="zh-CN" sz="1600" dirty="0"/>
              <a:t>《</a:t>
            </a:r>
            <a:r>
              <a:rPr lang="zh-CN" altLang="en-US" sz="1600" dirty="0"/>
              <a:t>政治经济学大纲</a:t>
            </a:r>
            <a:r>
              <a:rPr lang="en-US" altLang="zh-CN" sz="1600" dirty="0"/>
              <a:t>》</a:t>
            </a:r>
            <a:r>
              <a:rPr lang="zh-CN" altLang="en-US" sz="1600" dirty="0"/>
              <a:t>（</a:t>
            </a:r>
            <a:r>
              <a:rPr lang="en-US" altLang="zh-CN" sz="1600" dirty="0"/>
              <a:t>1836</a:t>
            </a:r>
            <a:r>
              <a:rPr lang="zh-CN" altLang="en-US" sz="1600" dirty="0"/>
              <a:t>）</a:t>
            </a:r>
          </a:p>
          <a:p>
            <a:pPr algn="ctr" eaLnBrk="1" hangingPunct="1">
              <a:lnSpc>
                <a:spcPct val="115000"/>
              </a:lnSpc>
              <a:spcBef>
                <a:spcPct val="0"/>
              </a:spcBef>
              <a:buClrTx/>
              <a:buSzTx/>
              <a:buFontTx/>
              <a:buNone/>
            </a:pPr>
            <a:r>
              <a:rPr lang="zh-CN" altLang="en-US" sz="1600" dirty="0"/>
              <a:t>（英）约翰</a:t>
            </a:r>
            <a:r>
              <a:rPr lang="en-US" altLang="zh-CN" sz="1600" dirty="0"/>
              <a:t>.</a:t>
            </a:r>
            <a:r>
              <a:rPr lang="zh-CN" altLang="en-US" sz="1600" dirty="0"/>
              <a:t>穆勒</a:t>
            </a:r>
            <a:r>
              <a:rPr lang="en-US" altLang="zh-CN" sz="1600" dirty="0"/>
              <a:t>《</a:t>
            </a:r>
            <a:r>
              <a:rPr lang="zh-CN" altLang="en-US" sz="1600" dirty="0"/>
              <a:t>政治经济学原理）（</a:t>
            </a:r>
            <a:r>
              <a:rPr lang="en-US" altLang="zh-CN" sz="1600" dirty="0"/>
              <a:t>1848</a:t>
            </a:r>
            <a:r>
              <a:rPr lang="zh-CN" altLang="en-US" sz="1600" dirty="0"/>
              <a:t>）</a:t>
            </a:r>
          </a:p>
        </p:txBody>
      </p:sp>
      <p:sp>
        <p:nvSpPr>
          <p:cNvPr id="8212" name="Line 21"/>
          <p:cNvSpPr>
            <a:spLocks noChangeShapeType="1"/>
          </p:cNvSpPr>
          <p:nvPr/>
        </p:nvSpPr>
        <p:spPr bwMode="auto">
          <a:xfrm>
            <a:off x="6732588" y="4437063"/>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3" name="Rectangle 22"/>
          <p:cNvSpPr>
            <a:spLocks noChangeArrowheads="1"/>
          </p:cNvSpPr>
          <p:nvPr/>
        </p:nvSpPr>
        <p:spPr bwMode="auto">
          <a:xfrm>
            <a:off x="4716463" y="4652963"/>
            <a:ext cx="3816350" cy="2889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600"/>
              <a:t>19</a:t>
            </a:r>
            <a:r>
              <a:rPr lang="zh-CN" altLang="en-US" sz="1600"/>
              <a:t>世纪</a:t>
            </a:r>
            <a:r>
              <a:rPr lang="en-US" altLang="zh-CN" sz="1600"/>
              <a:t>70</a:t>
            </a:r>
            <a:r>
              <a:rPr lang="zh-CN" altLang="en-US" sz="1600"/>
              <a:t>年代的“边际革命”</a:t>
            </a:r>
          </a:p>
        </p:txBody>
      </p:sp>
      <p:sp>
        <p:nvSpPr>
          <p:cNvPr id="8214" name="Line 23"/>
          <p:cNvSpPr>
            <a:spLocks noChangeShapeType="1"/>
          </p:cNvSpPr>
          <p:nvPr/>
        </p:nvSpPr>
        <p:spPr bwMode="auto">
          <a:xfrm>
            <a:off x="6732588" y="4941888"/>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5" name="Rectangle 24"/>
          <p:cNvSpPr>
            <a:spLocks noChangeArrowheads="1"/>
          </p:cNvSpPr>
          <p:nvPr/>
        </p:nvSpPr>
        <p:spPr bwMode="auto">
          <a:xfrm>
            <a:off x="4716463" y="5157788"/>
            <a:ext cx="3816350" cy="2889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t>（英）马歇尔</a:t>
            </a:r>
            <a:r>
              <a:rPr lang="en-US" altLang="zh-CN" sz="1600"/>
              <a:t>《</a:t>
            </a:r>
            <a:r>
              <a:rPr lang="zh-CN" altLang="en-US" sz="1600"/>
              <a:t>经济学原理</a:t>
            </a:r>
            <a:r>
              <a:rPr lang="en-US" altLang="zh-CN" sz="1600"/>
              <a:t>》</a:t>
            </a:r>
            <a:r>
              <a:rPr lang="zh-CN" altLang="en-US" sz="1600"/>
              <a:t>（</a:t>
            </a:r>
            <a:r>
              <a:rPr lang="en-US" altLang="zh-CN" sz="1600"/>
              <a:t>1890</a:t>
            </a:r>
            <a:r>
              <a:rPr lang="zh-CN" altLang="en-US" sz="1600"/>
              <a:t>）</a:t>
            </a:r>
          </a:p>
        </p:txBody>
      </p:sp>
      <p:sp>
        <p:nvSpPr>
          <p:cNvPr id="8216" name="Line 25"/>
          <p:cNvSpPr>
            <a:spLocks noChangeShapeType="1"/>
          </p:cNvSpPr>
          <p:nvPr/>
        </p:nvSpPr>
        <p:spPr bwMode="auto">
          <a:xfrm>
            <a:off x="6732588" y="5445125"/>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7" name="Rectangle 26"/>
          <p:cNvSpPr>
            <a:spLocks noChangeArrowheads="1"/>
          </p:cNvSpPr>
          <p:nvPr/>
        </p:nvSpPr>
        <p:spPr bwMode="auto">
          <a:xfrm>
            <a:off x="4716463" y="5661025"/>
            <a:ext cx="3816350" cy="28733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t>（英）凯恩斯</a:t>
            </a:r>
            <a:r>
              <a:rPr lang="en-US" altLang="zh-CN" sz="1600" dirty="0"/>
              <a:t>《</a:t>
            </a:r>
            <a:r>
              <a:rPr lang="zh-CN" altLang="en-US" sz="1600" dirty="0"/>
              <a:t>通论</a:t>
            </a:r>
            <a:r>
              <a:rPr lang="en-US" altLang="zh-CN" sz="1600" dirty="0"/>
              <a:t>》</a:t>
            </a:r>
            <a:r>
              <a:rPr lang="zh-CN" altLang="en-US" sz="1600" dirty="0"/>
              <a:t>（</a:t>
            </a:r>
            <a:r>
              <a:rPr lang="en-US" altLang="zh-CN" sz="1600" dirty="0"/>
              <a:t>1936</a:t>
            </a:r>
            <a:r>
              <a:rPr lang="zh-CN" altLang="en-US" sz="1600" dirty="0"/>
              <a:t>）</a:t>
            </a:r>
          </a:p>
        </p:txBody>
      </p:sp>
      <p:sp>
        <p:nvSpPr>
          <p:cNvPr id="8218" name="Line 27"/>
          <p:cNvSpPr>
            <a:spLocks noChangeShapeType="1"/>
          </p:cNvSpPr>
          <p:nvPr/>
        </p:nvSpPr>
        <p:spPr bwMode="auto">
          <a:xfrm>
            <a:off x="6732588" y="5949950"/>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9" name="Rectangle 28"/>
          <p:cNvSpPr>
            <a:spLocks noChangeArrowheads="1"/>
          </p:cNvSpPr>
          <p:nvPr/>
        </p:nvSpPr>
        <p:spPr bwMode="auto">
          <a:xfrm>
            <a:off x="4787900" y="6165850"/>
            <a:ext cx="3816350" cy="28733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solidFill>
                  <a:schemeClr val="tx2"/>
                </a:solidFill>
              </a:rPr>
              <a:t>（美）萨缪尔森</a:t>
            </a:r>
            <a:r>
              <a:rPr lang="en-US" altLang="zh-CN" sz="1600">
                <a:solidFill>
                  <a:schemeClr val="tx2"/>
                </a:solidFill>
              </a:rPr>
              <a:t>《</a:t>
            </a:r>
            <a:r>
              <a:rPr lang="zh-CN" altLang="en-US" sz="1600">
                <a:solidFill>
                  <a:schemeClr val="tx2"/>
                </a:solidFill>
              </a:rPr>
              <a:t>经济学</a:t>
            </a:r>
            <a:r>
              <a:rPr lang="en-US" altLang="zh-CN" sz="1600">
                <a:solidFill>
                  <a:schemeClr val="tx2"/>
                </a:solidFill>
              </a:rPr>
              <a:t>》(1948)</a:t>
            </a:r>
          </a:p>
        </p:txBody>
      </p:sp>
      <p:sp>
        <p:nvSpPr>
          <p:cNvPr id="8220" name="Line 30"/>
          <p:cNvSpPr>
            <a:spLocks noChangeShapeType="1"/>
          </p:cNvSpPr>
          <p:nvPr/>
        </p:nvSpPr>
        <p:spPr bwMode="auto">
          <a:xfrm>
            <a:off x="1835150" y="4292600"/>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21" name="Rectangle 31"/>
          <p:cNvSpPr>
            <a:spLocks noChangeArrowheads="1"/>
          </p:cNvSpPr>
          <p:nvPr/>
        </p:nvSpPr>
        <p:spPr bwMode="auto">
          <a:xfrm>
            <a:off x="323850" y="4508500"/>
            <a:ext cx="3743325" cy="86518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lnSpc>
                <a:spcPct val="110000"/>
              </a:lnSpc>
              <a:spcBef>
                <a:spcPct val="0"/>
              </a:spcBef>
              <a:buClrTx/>
              <a:buSzTx/>
              <a:buFontTx/>
              <a:buNone/>
            </a:pPr>
            <a:r>
              <a:rPr lang="en-US" altLang="zh-CN" sz="1600" dirty="0"/>
              <a:t>(</a:t>
            </a:r>
            <a:r>
              <a:rPr lang="zh-CN" altLang="en-US" sz="1600" dirty="0"/>
              <a:t>奥地利）希法亭</a:t>
            </a:r>
            <a:r>
              <a:rPr lang="en-US" altLang="zh-CN" sz="1600" dirty="0"/>
              <a:t>《</a:t>
            </a:r>
            <a:r>
              <a:rPr lang="zh-CN" altLang="en-US" sz="1600" dirty="0"/>
              <a:t>金融资本）（</a:t>
            </a:r>
            <a:r>
              <a:rPr lang="en-US" altLang="zh-CN" sz="1600" dirty="0"/>
              <a:t>1910</a:t>
            </a:r>
            <a:r>
              <a:rPr lang="zh-CN" altLang="en-US" sz="1600" dirty="0"/>
              <a:t>）</a:t>
            </a:r>
          </a:p>
          <a:p>
            <a:pPr algn="ctr" eaLnBrk="1" hangingPunct="1">
              <a:lnSpc>
                <a:spcPct val="110000"/>
              </a:lnSpc>
              <a:spcBef>
                <a:spcPct val="0"/>
              </a:spcBef>
              <a:buClrTx/>
              <a:buSzTx/>
              <a:buFontTx/>
              <a:buNone/>
            </a:pPr>
            <a:r>
              <a:rPr lang="zh-CN" altLang="en-US" sz="1600" dirty="0"/>
              <a:t>（德）卢森堡</a:t>
            </a:r>
            <a:r>
              <a:rPr lang="en-US" altLang="zh-CN" sz="1600" dirty="0"/>
              <a:t>《</a:t>
            </a:r>
            <a:r>
              <a:rPr lang="zh-CN" altLang="en-US" sz="1600" dirty="0"/>
              <a:t>资本积累论</a:t>
            </a:r>
            <a:r>
              <a:rPr lang="en-US" altLang="zh-CN" sz="1600" dirty="0"/>
              <a:t>》</a:t>
            </a:r>
            <a:r>
              <a:rPr lang="zh-CN" altLang="en-US" sz="1600" dirty="0"/>
              <a:t>（</a:t>
            </a:r>
            <a:r>
              <a:rPr lang="en-US" altLang="zh-CN" sz="1600" dirty="0"/>
              <a:t>1912</a:t>
            </a:r>
            <a:r>
              <a:rPr lang="zh-CN" altLang="en-US" sz="1600" dirty="0"/>
              <a:t>）</a:t>
            </a:r>
          </a:p>
          <a:p>
            <a:pPr algn="ctr" eaLnBrk="1" hangingPunct="1">
              <a:lnSpc>
                <a:spcPct val="110000"/>
              </a:lnSpc>
              <a:spcBef>
                <a:spcPct val="0"/>
              </a:spcBef>
              <a:buClrTx/>
              <a:buSzTx/>
              <a:buFontTx/>
              <a:buNone/>
            </a:pPr>
            <a:r>
              <a:rPr lang="zh-CN" altLang="en-US" sz="1600" dirty="0"/>
              <a:t>（俄）列宁</a:t>
            </a:r>
            <a:r>
              <a:rPr lang="en-US" altLang="zh-CN" sz="1600" dirty="0"/>
              <a:t>《</a:t>
            </a:r>
            <a:r>
              <a:rPr lang="zh-CN" altLang="en-US" sz="1600" dirty="0"/>
              <a:t>帝国主义论</a:t>
            </a:r>
            <a:r>
              <a:rPr lang="en-US" altLang="zh-CN" sz="1600" dirty="0"/>
              <a:t>》</a:t>
            </a:r>
            <a:r>
              <a:rPr lang="zh-CN" altLang="en-US" sz="1600" dirty="0"/>
              <a:t>（</a:t>
            </a:r>
            <a:r>
              <a:rPr lang="en-US" altLang="zh-CN" sz="1600" dirty="0"/>
              <a:t>1916</a:t>
            </a:r>
            <a:r>
              <a:rPr lang="zh-CN" altLang="en-US" sz="1600" dirty="0"/>
              <a:t>）</a:t>
            </a:r>
          </a:p>
        </p:txBody>
      </p:sp>
      <p:sp>
        <p:nvSpPr>
          <p:cNvPr id="8222" name="Line 32"/>
          <p:cNvSpPr>
            <a:spLocks noChangeShapeType="1"/>
          </p:cNvSpPr>
          <p:nvPr/>
        </p:nvSpPr>
        <p:spPr bwMode="auto">
          <a:xfrm>
            <a:off x="1835150" y="5373688"/>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23" name="Rectangle 33"/>
          <p:cNvSpPr>
            <a:spLocks noChangeArrowheads="1"/>
          </p:cNvSpPr>
          <p:nvPr/>
        </p:nvSpPr>
        <p:spPr bwMode="auto">
          <a:xfrm>
            <a:off x="323850" y="5589588"/>
            <a:ext cx="3743325" cy="36036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solidFill>
                  <a:schemeClr val="tx2"/>
                </a:solidFill>
              </a:rPr>
              <a:t>当代中西方关于马克思政治经济学的研究</a:t>
            </a:r>
          </a:p>
        </p:txBody>
      </p:sp>
    </p:spTree>
    <p:extLst>
      <p:ext uri="{BB962C8B-B14F-4D97-AF65-F5344CB8AC3E}">
        <p14:creationId xmlns:p14="http://schemas.microsoft.com/office/powerpoint/2010/main" val="23134011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en-US" altLang="zh-CN" dirty="0"/>
          </a:p>
          <a:p>
            <a:endParaRPr lang="en-US" altLang="zh-CN" dirty="0"/>
          </a:p>
          <a:p>
            <a:r>
              <a:rPr lang="zh-CN" altLang="en-US" dirty="0"/>
              <a:t>第二节 马克思主义政治经济学的研究对象</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14</a:t>
            </a:fld>
            <a:endParaRPr lang="zh-CN" altLang="en-US"/>
          </a:p>
        </p:txBody>
      </p:sp>
    </p:spTree>
    <p:extLst>
      <p:ext uri="{BB962C8B-B14F-4D97-AF65-F5344CB8AC3E}">
        <p14:creationId xmlns:p14="http://schemas.microsoft.com/office/powerpoint/2010/main" val="2430177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6332867" cy="778931"/>
          </a:xfrm>
        </p:spPr>
        <p:txBody>
          <a:bodyPr>
            <a:noAutofit/>
          </a:bodyPr>
          <a:lstStyle/>
          <a:p>
            <a:r>
              <a:rPr lang="zh-CN" altLang="en-US" sz="2600" dirty="0"/>
              <a:t>研究出发点：物质资料生产</a:t>
            </a:r>
          </a:p>
        </p:txBody>
      </p:sp>
      <p:sp>
        <p:nvSpPr>
          <p:cNvPr id="3" name="内容占位符 2"/>
          <p:cNvSpPr>
            <a:spLocks noGrp="1"/>
          </p:cNvSpPr>
          <p:nvPr>
            <p:ph idx="1"/>
          </p:nvPr>
        </p:nvSpPr>
        <p:spPr/>
        <p:txBody>
          <a:bodyPr>
            <a:normAutofit/>
          </a:bodyPr>
          <a:lstStyle/>
          <a:p>
            <a:r>
              <a:rPr lang="zh-CN" altLang="en-US" sz="2400" dirty="0"/>
              <a:t>物质资料生产是人类社会存在和发展的基础</a:t>
            </a:r>
            <a:endParaRPr lang="en-US" altLang="zh-CN" sz="2400" dirty="0"/>
          </a:p>
          <a:p>
            <a:pPr lvl="1"/>
            <a:r>
              <a:rPr lang="zh-CN" altLang="en-US" sz="2000" dirty="0"/>
              <a:t>从事物质资料生产过程的两个关系</a:t>
            </a:r>
            <a:endParaRPr lang="en-US" altLang="zh-CN" sz="2000" dirty="0"/>
          </a:p>
          <a:p>
            <a:pPr lvl="2"/>
            <a:r>
              <a:rPr lang="zh-CN" altLang="en-US" sz="1600" dirty="0"/>
              <a:t>生产力：人与自然的关系，生产的自然属性</a:t>
            </a:r>
            <a:endParaRPr lang="en-US" altLang="zh-CN" sz="1600" dirty="0"/>
          </a:p>
          <a:p>
            <a:pPr lvl="3"/>
            <a:r>
              <a:rPr lang="zh-CN" altLang="en-US" sz="1400" dirty="0"/>
              <a:t>生产力：人类利用自然和改造自然、进行物质生产的能力</a:t>
            </a:r>
            <a:endParaRPr lang="en-US" altLang="zh-CN" sz="1400" dirty="0"/>
          </a:p>
          <a:p>
            <a:pPr lvl="3"/>
            <a:r>
              <a:rPr lang="zh-CN" altLang="en-US" sz="1400" dirty="0"/>
              <a:t>三要素：劳动者、劳动资料（劳动工具）和劳动对象</a:t>
            </a:r>
            <a:endParaRPr lang="en-US" altLang="zh-CN" sz="1400" dirty="0"/>
          </a:p>
          <a:p>
            <a:pPr lvl="4"/>
            <a:r>
              <a:rPr lang="zh-CN" altLang="en-US" sz="1400" dirty="0"/>
              <a:t>劳动资料和劳动对象合称生产资料</a:t>
            </a:r>
            <a:endParaRPr lang="en-US" altLang="zh-CN" sz="1400" dirty="0"/>
          </a:p>
          <a:p>
            <a:pPr lvl="4"/>
            <a:r>
              <a:rPr lang="zh-CN" altLang="en-US" sz="1400" dirty="0"/>
              <a:t>劳动资料是划分经济时代的标志</a:t>
            </a:r>
            <a:endParaRPr lang="en-US" altLang="zh-CN" sz="1400" dirty="0"/>
          </a:p>
          <a:p>
            <a:pPr lvl="3"/>
            <a:r>
              <a:rPr lang="zh-CN" altLang="en-US" sz="1400" dirty="0"/>
              <a:t>信息、管理、科学技术等要素也在生产中发挥重要作用</a:t>
            </a:r>
            <a:endParaRPr lang="en-US" altLang="zh-CN" sz="1400" dirty="0"/>
          </a:p>
          <a:p>
            <a:pPr lvl="4"/>
            <a:r>
              <a:rPr lang="zh-CN" altLang="en-US" sz="1400" dirty="0"/>
              <a:t>邓小平：科学技术是第一生产力</a:t>
            </a:r>
            <a:endParaRPr lang="en-US" altLang="zh-CN" sz="1400" dirty="0"/>
          </a:p>
          <a:p>
            <a:pPr lvl="2"/>
            <a:r>
              <a:rPr lang="zh-CN" altLang="en-US" sz="1600" dirty="0"/>
              <a:t>生产关系：人与人之间的关系，生产的社会属性</a:t>
            </a:r>
            <a:endParaRPr lang="en-US" altLang="zh-CN" sz="1600" dirty="0"/>
          </a:p>
          <a:p>
            <a:pPr lvl="3"/>
            <a:r>
              <a:rPr lang="zh-CN" altLang="en-US" sz="1400" dirty="0"/>
              <a:t>为进行生产，人们相互之间形成一定的联系和关系</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15</a:t>
            </a:fld>
            <a:endParaRPr lang="zh-CN" altLang="en-US"/>
          </a:p>
        </p:txBody>
      </p:sp>
    </p:spTree>
    <p:extLst>
      <p:ext uri="{BB962C8B-B14F-4D97-AF65-F5344CB8AC3E}">
        <p14:creationId xmlns:p14="http://schemas.microsoft.com/office/powerpoint/2010/main" val="440403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关于生产要素</a:t>
            </a:r>
          </a:p>
        </p:txBody>
      </p:sp>
      <p:sp>
        <p:nvSpPr>
          <p:cNvPr id="3" name="内容占位符 2"/>
          <p:cNvSpPr>
            <a:spLocks noGrp="1"/>
          </p:cNvSpPr>
          <p:nvPr>
            <p:ph idx="1"/>
          </p:nvPr>
        </p:nvSpPr>
        <p:spPr/>
        <p:txBody>
          <a:bodyPr/>
          <a:lstStyle/>
          <a:p>
            <a:r>
              <a:rPr lang="zh-CN" altLang="en-US" dirty="0"/>
              <a:t>中共中央 国务院关于构建更加完善的要素市场化配置体制机制的意见（</a:t>
            </a:r>
            <a:r>
              <a:rPr lang="en-US" altLang="zh-CN" dirty="0"/>
              <a:t>2020.3.30</a:t>
            </a:r>
            <a:r>
              <a:rPr lang="zh-CN" altLang="en-US" dirty="0"/>
              <a:t>）</a:t>
            </a:r>
            <a:endParaRPr lang="en-US" altLang="zh-CN" dirty="0"/>
          </a:p>
          <a:p>
            <a:pPr lvl="1"/>
            <a:r>
              <a:rPr lang="zh-CN" altLang="en-US" dirty="0"/>
              <a:t>推进</a:t>
            </a:r>
            <a:r>
              <a:rPr lang="zh-CN" altLang="en-US" b="1" dirty="0"/>
              <a:t>土地</a:t>
            </a:r>
            <a:r>
              <a:rPr lang="zh-CN" altLang="en-US" dirty="0"/>
              <a:t>要素市场化配置</a:t>
            </a:r>
            <a:endParaRPr lang="en-US" altLang="zh-CN" dirty="0"/>
          </a:p>
          <a:p>
            <a:pPr lvl="1"/>
            <a:r>
              <a:rPr lang="zh-CN" altLang="en-US" dirty="0"/>
              <a:t>引导</a:t>
            </a:r>
            <a:r>
              <a:rPr lang="zh-CN" altLang="en-US" b="1" dirty="0"/>
              <a:t>劳动力</a:t>
            </a:r>
            <a:r>
              <a:rPr lang="zh-CN" altLang="en-US" dirty="0"/>
              <a:t>要素合理畅通有序流动</a:t>
            </a:r>
            <a:endParaRPr lang="en-US" altLang="zh-CN" dirty="0"/>
          </a:p>
          <a:p>
            <a:pPr lvl="1"/>
            <a:r>
              <a:rPr lang="zh-CN" altLang="en-US" dirty="0"/>
              <a:t>推进</a:t>
            </a:r>
            <a:r>
              <a:rPr lang="zh-CN" altLang="en-US" b="1" dirty="0"/>
              <a:t>资本</a:t>
            </a:r>
            <a:r>
              <a:rPr lang="zh-CN" altLang="en-US" dirty="0"/>
              <a:t>要素市场化配置</a:t>
            </a:r>
            <a:endParaRPr lang="en-US" altLang="zh-CN" dirty="0"/>
          </a:p>
          <a:p>
            <a:pPr lvl="1"/>
            <a:r>
              <a:rPr lang="zh-CN" altLang="en-US" dirty="0"/>
              <a:t>加快发展</a:t>
            </a:r>
            <a:r>
              <a:rPr lang="zh-CN" altLang="en-US" b="1" dirty="0"/>
              <a:t>技术</a:t>
            </a:r>
            <a:r>
              <a:rPr lang="zh-CN" altLang="en-US" dirty="0"/>
              <a:t>要素市场</a:t>
            </a:r>
            <a:endParaRPr lang="en-US" altLang="zh-CN" dirty="0"/>
          </a:p>
          <a:p>
            <a:pPr lvl="1"/>
            <a:r>
              <a:rPr lang="zh-CN" altLang="en-US" dirty="0"/>
              <a:t>加快培育</a:t>
            </a:r>
            <a:r>
              <a:rPr lang="zh-CN" altLang="en-US" b="1" dirty="0"/>
              <a:t>数据</a:t>
            </a:r>
            <a:r>
              <a:rPr lang="zh-CN" altLang="en-US" dirty="0"/>
              <a:t>要素市场</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16</a:t>
            </a:fld>
            <a:endParaRPr lang="zh-CN" altLang="en-US"/>
          </a:p>
        </p:txBody>
      </p:sp>
    </p:spTree>
    <p:extLst>
      <p:ext uri="{BB962C8B-B14F-4D97-AF65-F5344CB8AC3E}">
        <p14:creationId xmlns:p14="http://schemas.microsoft.com/office/powerpoint/2010/main" val="2913266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研究对象：生产关系</a:t>
            </a:r>
          </a:p>
        </p:txBody>
      </p:sp>
      <p:sp>
        <p:nvSpPr>
          <p:cNvPr id="3" name="内容占位符 2"/>
          <p:cNvSpPr>
            <a:spLocks noGrp="1"/>
          </p:cNvSpPr>
          <p:nvPr>
            <p:ph idx="1"/>
          </p:nvPr>
        </p:nvSpPr>
        <p:spPr/>
        <p:txBody>
          <a:bodyPr>
            <a:normAutofit/>
          </a:bodyPr>
          <a:lstStyle/>
          <a:p>
            <a:r>
              <a:rPr lang="zh-CN" altLang="en-US" dirty="0"/>
              <a:t>马克思主义政治经济学研究的是社会经济现象的内在规律，是人与人之间的关系</a:t>
            </a:r>
            <a:endParaRPr lang="en-US" altLang="zh-CN" dirty="0"/>
          </a:p>
          <a:p>
            <a:pPr lvl="1"/>
            <a:r>
              <a:rPr lang="zh-CN" altLang="en-US" dirty="0"/>
              <a:t>生产过程中人与人之间的经济关系构成社会的经济基础</a:t>
            </a:r>
            <a:endParaRPr lang="en-US" altLang="zh-CN" dirty="0"/>
          </a:p>
          <a:p>
            <a:pPr lvl="1"/>
            <a:r>
              <a:rPr lang="zh-CN" altLang="en-US" dirty="0"/>
              <a:t>经济基础决定上层建筑，决定社会性质和发展规律</a:t>
            </a:r>
            <a:endParaRPr lang="en-US" altLang="zh-CN" dirty="0"/>
          </a:p>
          <a:p>
            <a:r>
              <a:rPr lang="zh-CN" altLang="en-US" dirty="0"/>
              <a:t>广义和狭义的生产关系</a:t>
            </a:r>
            <a:endParaRPr lang="en-US" altLang="zh-CN" dirty="0"/>
          </a:p>
          <a:p>
            <a:pPr lvl="1"/>
            <a:r>
              <a:rPr lang="zh-CN" altLang="en-US" dirty="0"/>
              <a:t>狭义：直接生产过程中的经济关系，生产资料所有制关系</a:t>
            </a:r>
            <a:endParaRPr lang="en-US" altLang="zh-CN" dirty="0"/>
          </a:p>
          <a:p>
            <a:pPr lvl="1"/>
            <a:r>
              <a:rPr lang="zh-CN" altLang="en-US" dirty="0"/>
              <a:t>广义：再生产过程中的经济关系：生产、分配、交换和消费</a:t>
            </a:r>
            <a:endParaRPr lang="en-US" altLang="zh-CN" dirty="0"/>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17</a:t>
            </a:fld>
            <a:endParaRPr lang="zh-CN" altLang="en-US"/>
          </a:p>
        </p:txBody>
      </p:sp>
    </p:spTree>
    <p:extLst>
      <p:ext uri="{BB962C8B-B14F-4D97-AF65-F5344CB8AC3E}">
        <p14:creationId xmlns:p14="http://schemas.microsoft.com/office/powerpoint/2010/main" val="2033162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社会再生产的一般过程</a:t>
            </a:r>
          </a:p>
        </p:txBody>
      </p:sp>
      <p:sp>
        <p:nvSpPr>
          <p:cNvPr id="3" name="内容占位符 2"/>
          <p:cNvSpPr>
            <a:spLocks noGrp="1"/>
          </p:cNvSpPr>
          <p:nvPr>
            <p:ph idx="1"/>
          </p:nvPr>
        </p:nvSpPr>
        <p:spPr/>
        <p:txBody>
          <a:bodyPr/>
          <a:lstStyle/>
          <a:p>
            <a:r>
              <a:rPr lang="zh-CN" altLang="en-US" dirty="0"/>
              <a:t>一般过程</a:t>
            </a:r>
            <a:endParaRPr lang="en-US" altLang="zh-CN" dirty="0"/>
          </a:p>
          <a:p>
            <a:pPr lvl="1"/>
            <a:r>
              <a:rPr lang="zh-CN" altLang="en-US" dirty="0"/>
              <a:t>生产：通过一定社会形式的劳动生产出满足人类需要的物质产品</a:t>
            </a:r>
            <a:endParaRPr lang="en-US" altLang="zh-CN" dirty="0"/>
          </a:p>
          <a:p>
            <a:pPr lvl="1"/>
            <a:r>
              <a:rPr lang="zh-CN" altLang="en-US" dirty="0"/>
              <a:t>分配：决定个人分取这些产品的比例</a:t>
            </a:r>
            <a:endParaRPr lang="en-US" altLang="zh-CN" dirty="0"/>
          </a:p>
          <a:p>
            <a:pPr lvl="1"/>
            <a:r>
              <a:rPr lang="zh-CN" altLang="en-US" dirty="0"/>
              <a:t>交换：给个人带来他所需要的产品</a:t>
            </a:r>
            <a:endParaRPr lang="en-US" altLang="zh-CN" dirty="0"/>
          </a:p>
          <a:p>
            <a:pPr lvl="1"/>
            <a:r>
              <a:rPr lang="zh-CN" altLang="en-US" dirty="0"/>
              <a:t>消费：产品变成人们使用对象，生产目的得到实现</a:t>
            </a:r>
            <a:endParaRPr lang="en-US" altLang="zh-CN" dirty="0"/>
          </a:p>
          <a:p>
            <a:r>
              <a:rPr lang="zh-CN" altLang="en-US" dirty="0"/>
              <a:t>区分作为生产要素的产品和生产成果（最终消费品）的分配、交换和消费</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18</a:t>
            </a:fld>
            <a:endParaRPr lang="zh-CN" altLang="en-US"/>
          </a:p>
        </p:txBody>
      </p:sp>
    </p:spTree>
    <p:extLst>
      <p:ext uri="{BB962C8B-B14F-4D97-AF65-F5344CB8AC3E}">
        <p14:creationId xmlns:p14="http://schemas.microsoft.com/office/powerpoint/2010/main" val="361286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生产和消费</a:t>
            </a:r>
          </a:p>
        </p:txBody>
      </p:sp>
      <p:sp>
        <p:nvSpPr>
          <p:cNvPr id="3" name="内容占位符 2"/>
          <p:cNvSpPr>
            <a:spLocks noGrp="1"/>
          </p:cNvSpPr>
          <p:nvPr>
            <p:ph idx="1"/>
          </p:nvPr>
        </p:nvSpPr>
        <p:spPr/>
        <p:txBody>
          <a:bodyPr>
            <a:normAutofit fontScale="92500"/>
          </a:bodyPr>
          <a:lstStyle/>
          <a:p>
            <a:pPr marL="228600" lvl="2"/>
            <a:r>
              <a:rPr lang="zh-CN" altLang="en-US" sz="2600" dirty="0"/>
              <a:t>生产和消费的同一性</a:t>
            </a:r>
            <a:endParaRPr lang="en-US" altLang="zh-CN" sz="2600" dirty="0"/>
          </a:p>
          <a:p>
            <a:pPr marL="685800" lvl="3"/>
            <a:r>
              <a:rPr lang="zh-CN" altLang="en-US" sz="2200" dirty="0"/>
              <a:t>生产直接就是消费，生产是指生产要素的消费</a:t>
            </a:r>
            <a:endParaRPr lang="en-US" altLang="zh-CN" sz="2200" dirty="0"/>
          </a:p>
          <a:p>
            <a:pPr marL="685800" lvl="3"/>
            <a:r>
              <a:rPr lang="zh-CN" altLang="en-US" sz="2200" dirty="0"/>
              <a:t>消费直接就是生产，消费是产品的消费，通过产品消费再生产出劳动力</a:t>
            </a:r>
            <a:endParaRPr lang="en-US" altLang="zh-CN" sz="2200" dirty="0"/>
          </a:p>
          <a:p>
            <a:r>
              <a:rPr lang="zh-CN" altLang="en-US" dirty="0"/>
              <a:t>生产和消费相互作用</a:t>
            </a:r>
            <a:endParaRPr lang="en-US" altLang="zh-CN" dirty="0"/>
          </a:p>
          <a:p>
            <a:pPr lvl="1"/>
            <a:r>
              <a:rPr lang="zh-CN" altLang="en-US" sz="2200" dirty="0"/>
              <a:t>生产决定消费：为消费创造材料和对象；决定消费方式；产品在消费者身上引起需要；生产领域扩展带来消费扩展</a:t>
            </a:r>
            <a:endParaRPr lang="en-US" altLang="zh-CN" sz="2200" dirty="0"/>
          </a:p>
          <a:p>
            <a:pPr lvl="1"/>
            <a:r>
              <a:rPr lang="zh-CN" altLang="en-US" sz="2200" dirty="0"/>
              <a:t>消费对生产有反作用：消费使生产的产品成为现实产品，使生产行为和产品得以最终完成；消费是生产的内在动力和目的</a:t>
            </a:r>
            <a:endParaRPr lang="en-US" altLang="zh-CN" sz="2200"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19</a:t>
            </a:fld>
            <a:endParaRPr lang="zh-CN" altLang="en-US"/>
          </a:p>
        </p:txBody>
      </p:sp>
    </p:spTree>
    <p:extLst>
      <p:ext uri="{BB962C8B-B14F-4D97-AF65-F5344CB8AC3E}">
        <p14:creationId xmlns:p14="http://schemas.microsoft.com/office/powerpoint/2010/main" val="2250312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生产和分配</a:t>
            </a:r>
          </a:p>
        </p:txBody>
      </p:sp>
      <p:sp>
        <p:nvSpPr>
          <p:cNvPr id="3" name="内容占位符 2"/>
          <p:cNvSpPr>
            <a:spLocks noGrp="1"/>
          </p:cNvSpPr>
          <p:nvPr>
            <p:ph idx="1"/>
          </p:nvPr>
        </p:nvSpPr>
        <p:spPr/>
        <p:txBody>
          <a:bodyPr>
            <a:normAutofit fontScale="92500" lnSpcReduction="10000"/>
          </a:bodyPr>
          <a:lstStyle/>
          <a:p>
            <a:r>
              <a:rPr lang="zh-CN" altLang="en-US" dirty="0"/>
              <a:t>生产和分配的同一性（生产要素分配）</a:t>
            </a:r>
            <a:endParaRPr lang="en-US" altLang="zh-CN" dirty="0"/>
          </a:p>
          <a:p>
            <a:pPr lvl="1"/>
            <a:r>
              <a:rPr lang="zh-CN" altLang="en-US" sz="2200" dirty="0"/>
              <a:t>生产要素的分配在产品分配前已经包含在直接生产过程中：生产工具分配和社会成员在各类生产之间的分配</a:t>
            </a:r>
            <a:endParaRPr lang="en-US" altLang="zh-CN" sz="2200" dirty="0"/>
          </a:p>
          <a:p>
            <a:pPr lvl="1"/>
            <a:r>
              <a:rPr lang="zh-CN" altLang="en-US" sz="2200" dirty="0"/>
              <a:t>生产要素的分配先于生产，成为生产的前提，决定着生产的结构和产品的分配</a:t>
            </a:r>
            <a:endParaRPr lang="en-US" altLang="zh-CN" sz="2200" dirty="0"/>
          </a:p>
          <a:p>
            <a:r>
              <a:rPr lang="zh-CN" altLang="en-US" dirty="0"/>
              <a:t>生产和分配的相互作用（产品分配）</a:t>
            </a:r>
            <a:endParaRPr lang="en-US" altLang="zh-CN" dirty="0"/>
          </a:p>
          <a:p>
            <a:pPr lvl="1"/>
            <a:r>
              <a:rPr lang="zh-CN" altLang="en-US" sz="2200" dirty="0"/>
              <a:t>生产决定分配：能分配的只能是生产成果；参与生产的方式决定分配形式</a:t>
            </a:r>
            <a:endParaRPr lang="en-US" altLang="zh-CN" sz="2200" dirty="0"/>
          </a:p>
          <a:p>
            <a:pPr lvl="1"/>
            <a:r>
              <a:rPr lang="zh-CN" altLang="en-US" sz="2200" dirty="0"/>
              <a:t>分配对生产有反作用：分配变动对生产</a:t>
            </a:r>
            <a:r>
              <a:rPr lang="zh-CN" altLang="en-US" dirty="0"/>
              <a:t>产生</a:t>
            </a:r>
            <a:r>
              <a:rPr lang="zh-CN" altLang="en-US" sz="2200" dirty="0"/>
              <a:t>影响；产品分配对生产者有一定激励作用</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20</a:t>
            </a:fld>
            <a:endParaRPr lang="zh-CN" altLang="en-US"/>
          </a:p>
        </p:txBody>
      </p:sp>
    </p:spTree>
    <p:extLst>
      <p:ext uri="{BB962C8B-B14F-4D97-AF65-F5344CB8AC3E}">
        <p14:creationId xmlns:p14="http://schemas.microsoft.com/office/powerpoint/2010/main" val="3040869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生产和交换</a:t>
            </a:r>
          </a:p>
        </p:txBody>
      </p:sp>
      <p:sp>
        <p:nvSpPr>
          <p:cNvPr id="3" name="内容占位符 2"/>
          <p:cNvSpPr>
            <a:spLocks noGrp="1"/>
          </p:cNvSpPr>
          <p:nvPr>
            <p:ph idx="1"/>
          </p:nvPr>
        </p:nvSpPr>
        <p:spPr/>
        <p:txBody>
          <a:bodyPr>
            <a:normAutofit lnSpcReduction="10000"/>
          </a:bodyPr>
          <a:lstStyle/>
          <a:p>
            <a:r>
              <a:rPr lang="zh-CN" altLang="en-US" dirty="0"/>
              <a:t>生产和交换的同一性（生产要素交换）</a:t>
            </a:r>
            <a:endParaRPr lang="en-US" altLang="zh-CN" dirty="0"/>
          </a:p>
          <a:p>
            <a:pPr lvl="1"/>
            <a:r>
              <a:rPr lang="zh-CN" altLang="en-US" dirty="0"/>
              <a:t>交换直接包含在生产过程中：直接生产过程中人与人活动和能力的交换；直接生产过程中制造产品的各种生产资料的交换；不同生产单位和不同生产部门的交换</a:t>
            </a:r>
            <a:endParaRPr lang="en-US" altLang="zh-CN" dirty="0"/>
          </a:p>
          <a:p>
            <a:r>
              <a:rPr lang="zh-CN" altLang="en-US" dirty="0"/>
              <a:t>生产和交换的相互作用（产品交换）</a:t>
            </a:r>
            <a:endParaRPr lang="en-US" altLang="zh-CN" dirty="0"/>
          </a:p>
          <a:p>
            <a:pPr lvl="1"/>
            <a:r>
              <a:rPr lang="zh-CN" altLang="en-US" dirty="0"/>
              <a:t>生产决定交换：没有生产的分工，就无交换；交换的社会性质由生产性质决定；交换深度和广度由生产发展结构决定</a:t>
            </a:r>
            <a:endParaRPr lang="en-US" altLang="zh-CN" dirty="0"/>
          </a:p>
          <a:p>
            <a:pPr lvl="1"/>
            <a:r>
              <a:rPr lang="zh-CN" altLang="en-US" dirty="0"/>
              <a:t>交换对生产的反作用：交换范围大，生产规模越大</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21</a:t>
            </a:fld>
            <a:endParaRPr lang="zh-CN" altLang="en-US"/>
          </a:p>
        </p:txBody>
      </p:sp>
    </p:spTree>
    <p:extLst>
      <p:ext uri="{BB962C8B-B14F-4D97-AF65-F5344CB8AC3E}">
        <p14:creationId xmlns:p14="http://schemas.microsoft.com/office/powerpoint/2010/main" val="890135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生产力和生产关系</a:t>
            </a:r>
          </a:p>
        </p:txBody>
      </p:sp>
      <p:sp>
        <p:nvSpPr>
          <p:cNvPr id="3" name="内容占位符 2"/>
          <p:cNvSpPr>
            <a:spLocks noGrp="1"/>
          </p:cNvSpPr>
          <p:nvPr>
            <p:ph idx="1"/>
          </p:nvPr>
        </p:nvSpPr>
        <p:spPr/>
        <p:txBody>
          <a:bodyPr/>
          <a:lstStyle/>
          <a:p>
            <a:r>
              <a:rPr lang="zh-CN" altLang="en-US" dirty="0"/>
              <a:t>生产力决定生产关系</a:t>
            </a:r>
            <a:endParaRPr lang="en-US" altLang="zh-CN" dirty="0"/>
          </a:p>
          <a:p>
            <a:pPr lvl="1"/>
            <a:r>
              <a:rPr lang="zh-CN" altLang="en-US" dirty="0"/>
              <a:t>一定生产力的发展水平和发展阶段，决定着一定的生产关系</a:t>
            </a:r>
            <a:endParaRPr lang="en-US" altLang="zh-CN" dirty="0"/>
          </a:p>
          <a:p>
            <a:pPr lvl="1"/>
            <a:r>
              <a:rPr lang="zh-CN" altLang="en-US" dirty="0"/>
              <a:t>生产力的发展变化和发展要求，决定着生产关系的产生、发展和更替变化</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22</a:t>
            </a:fld>
            <a:endParaRPr lang="zh-CN" altLang="en-US"/>
          </a:p>
        </p:txBody>
      </p:sp>
    </p:spTree>
    <p:extLst>
      <p:ext uri="{BB962C8B-B14F-4D97-AF65-F5344CB8AC3E}">
        <p14:creationId xmlns:p14="http://schemas.microsoft.com/office/powerpoint/2010/main" val="3874000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生产力和生产关系</a:t>
            </a:r>
          </a:p>
        </p:txBody>
      </p:sp>
      <p:sp>
        <p:nvSpPr>
          <p:cNvPr id="3" name="内容占位符 2"/>
          <p:cNvSpPr>
            <a:spLocks noGrp="1"/>
          </p:cNvSpPr>
          <p:nvPr>
            <p:ph idx="1"/>
          </p:nvPr>
        </p:nvSpPr>
        <p:spPr/>
        <p:txBody>
          <a:bodyPr/>
          <a:lstStyle/>
          <a:p>
            <a:r>
              <a:rPr lang="zh-CN" altLang="en-US" dirty="0"/>
              <a:t>生产关系对生产力具有反作用</a:t>
            </a:r>
            <a:endParaRPr lang="en-US" altLang="zh-CN" dirty="0"/>
          </a:p>
          <a:p>
            <a:pPr lvl="1"/>
            <a:r>
              <a:rPr lang="zh-CN" altLang="en-US" dirty="0"/>
              <a:t>当生产关系适合生产力的发展水平和发展阶段时，积极推动生产力发展</a:t>
            </a:r>
            <a:endParaRPr lang="en-US" altLang="zh-CN" dirty="0"/>
          </a:p>
          <a:p>
            <a:pPr lvl="1"/>
            <a:r>
              <a:rPr lang="zh-CN" altLang="en-US" dirty="0"/>
              <a:t>当生产关系不适合生产力的发展变化和发展要求时，就阻碍和破坏生产力的发展</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23</a:t>
            </a:fld>
            <a:endParaRPr lang="zh-CN" altLang="en-US"/>
          </a:p>
        </p:txBody>
      </p:sp>
    </p:spTree>
    <p:extLst>
      <p:ext uri="{BB962C8B-B14F-4D97-AF65-F5344CB8AC3E}">
        <p14:creationId xmlns:p14="http://schemas.microsoft.com/office/powerpoint/2010/main" val="1471989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经济基础和上层建筑</a:t>
            </a:r>
          </a:p>
        </p:txBody>
      </p:sp>
      <p:sp>
        <p:nvSpPr>
          <p:cNvPr id="3" name="内容占位符 2"/>
          <p:cNvSpPr>
            <a:spLocks noGrp="1"/>
          </p:cNvSpPr>
          <p:nvPr>
            <p:ph idx="1"/>
          </p:nvPr>
        </p:nvSpPr>
        <p:spPr/>
        <p:txBody>
          <a:bodyPr>
            <a:normAutofit/>
          </a:bodyPr>
          <a:lstStyle/>
          <a:p>
            <a:r>
              <a:rPr lang="zh-CN" altLang="en-US" sz="2200" dirty="0"/>
              <a:t>经济基础：生产关系的总和</a:t>
            </a:r>
            <a:endParaRPr lang="en-US" altLang="zh-CN" sz="2200" dirty="0"/>
          </a:p>
          <a:p>
            <a:r>
              <a:rPr lang="zh-CN" altLang="en-US" sz="2200" dirty="0"/>
              <a:t>上层建筑：建立在一定经济基础上，并与其相适应的政治、法律制度和社会的总和以及政治法律思想、道德、艺术、宗教、这些等社会意识形式</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24</a:t>
            </a:fld>
            <a:endParaRPr lang="zh-CN" altLang="en-US"/>
          </a:p>
        </p:txBody>
      </p:sp>
    </p:spTree>
    <p:extLst>
      <p:ext uri="{BB962C8B-B14F-4D97-AF65-F5344CB8AC3E}">
        <p14:creationId xmlns:p14="http://schemas.microsoft.com/office/powerpoint/2010/main" val="1798840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经济基础和上层建筑</a:t>
            </a:r>
          </a:p>
        </p:txBody>
      </p:sp>
      <p:sp>
        <p:nvSpPr>
          <p:cNvPr id="3" name="内容占位符 2"/>
          <p:cNvSpPr>
            <a:spLocks noGrp="1"/>
          </p:cNvSpPr>
          <p:nvPr>
            <p:ph idx="1"/>
          </p:nvPr>
        </p:nvSpPr>
        <p:spPr/>
        <p:txBody>
          <a:bodyPr/>
          <a:lstStyle/>
          <a:p>
            <a:r>
              <a:rPr lang="zh-CN" altLang="en-US" dirty="0"/>
              <a:t>经济基础决定上层建筑：经济基础性质决定上层建筑性质，经济基础变革决定上层建筑变革（也包括部分环节的完善）</a:t>
            </a:r>
            <a:endParaRPr lang="en-US" altLang="zh-CN" dirty="0"/>
          </a:p>
          <a:p>
            <a:r>
              <a:rPr lang="zh-CN" altLang="en-US" dirty="0"/>
              <a:t>上层建筑对经济基础有反作用：对新经济基础的巩固和发展起积极促进作用</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25</a:t>
            </a:fld>
            <a:endParaRPr lang="zh-CN" altLang="en-US"/>
          </a:p>
        </p:txBody>
      </p:sp>
    </p:spTree>
    <p:extLst>
      <p:ext uri="{BB962C8B-B14F-4D97-AF65-F5344CB8AC3E}">
        <p14:creationId xmlns:p14="http://schemas.microsoft.com/office/powerpoint/2010/main" val="1557764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人类社会的基本矛盾</a:t>
            </a:r>
          </a:p>
        </p:txBody>
      </p:sp>
      <p:sp>
        <p:nvSpPr>
          <p:cNvPr id="3" name="内容占位符 2"/>
          <p:cNvSpPr>
            <a:spLocks noGrp="1"/>
          </p:cNvSpPr>
          <p:nvPr>
            <p:ph idx="1"/>
          </p:nvPr>
        </p:nvSpPr>
        <p:spPr/>
        <p:txBody>
          <a:bodyPr/>
          <a:lstStyle/>
          <a:p>
            <a:r>
              <a:rPr lang="zh-CN" altLang="en-US" dirty="0"/>
              <a:t>生产力和生产关系之间的矛盾，以及在这一矛盾基础上产生的经济基础和上层建筑之间的矛盾，是人类社会的基本矛盾</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26</a:t>
            </a:fld>
            <a:endParaRPr lang="zh-CN" altLang="en-US"/>
          </a:p>
        </p:txBody>
      </p:sp>
    </p:spTree>
    <p:extLst>
      <p:ext uri="{BB962C8B-B14F-4D97-AF65-F5344CB8AC3E}">
        <p14:creationId xmlns:p14="http://schemas.microsoft.com/office/powerpoint/2010/main" val="3315055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r>
              <a:rPr lang="zh-CN" altLang="en-US" dirty="0"/>
              <a:t>第三节 马克思主义政治经济学的性质、任务和方法</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27</a:t>
            </a:fld>
            <a:endParaRPr lang="zh-CN" altLang="en-US"/>
          </a:p>
        </p:txBody>
      </p:sp>
    </p:spTree>
    <p:extLst>
      <p:ext uri="{BB962C8B-B14F-4D97-AF65-F5344CB8AC3E}">
        <p14:creationId xmlns:p14="http://schemas.microsoft.com/office/powerpoint/2010/main" val="1730069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马克思主义政治经济学的性质</a:t>
            </a:r>
          </a:p>
        </p:txBody>
      </p:sp>
      <p:sp>
        <p:nvSpPr>
          <p:cNvPr id="3" name="内容占位符 2"/>
          <p:cNvSpPr>
            <a:spLocks noGrp="1"/>
          </p:cNvSpPr>
          <p:nvPr>
            <p:ph idx="1"/>
          </p:nvPr>
        </p:nvSpPr>
        <p:spPr/>
        <p:txBody>
          <a:bodyPr>
            <a:normAutofit lnSpcReduction="10000"/>
          </a:bodyPr>
          <a:lstStyle/>
          <a:p>
            <a:r>
              <a:rPr lang="zh-CN" altLang="en-US" dirty="0"/>
              <a:t>马克思主义政治经济学是一门科学</a:t>
            </a:r>
            <a:endParaRPr lang="en-US" altLang="zh-CN" dirty="0"/>
          </a:p>
          <a:p>
            <a:pPr lvl="1"/>
            <a:r>
              <a:rPr lang="zh-CN" altLang="en-US" dirty="0"/>
              <a:t>辩证唯物主义和历史唯物主义为马克思主义政治经济学提供了科学的世界观和方法论</a:t>
            </a:r>
            <a:endParaRPr lang="en-US" altLang="zh-CN" dirty="0"/>
          </a:p>
          <a:p>
            <a:pPr lvl="2"/>
            <a:r>
              <a:rPr lang="zh-CN" altLang="en-US" dirty="0"/>
              <a:t>唯物史观是马克思主义政治经济学的哲学基础</a:t>
            </a:r>
            <a:endParaRPr lang="en-US" altLang="zh-CN" dirty="0"/>
          </a:p>
          <a:p>
            <a:pPr lvl="2"/>
            <a:r>
              <a:rPr lang="zh-CN" altLang="en-US" dirty="0"/>
              <a:t>剩余价值论是马克思主义政治经济学的基本理论原理</a:t>
            </a:r>
            <a:endParaRPr lang="en-US" altLang="zh-CN" dirty="0"/>
          </a:p>
          <a:p>
            <a:r>
              <a:rPr lang="zh-CN" altLang="en-US" dirty="0"/>
              <a:t>马克思主义政治经济学具有鲜明的阶级性</a:t>
            </a:r>
            <a:endParaRPr lang="en-US" altLang="zh-CN" dirty="0"/>
          </a:p>
          <a:p>
            <a:pPr lvl="1"/>
            <a:r>
              <a:rPr lang="zh-CN" altLang="en-US" dirty="0"/>
              <a:t>是无产阶级的政治经济学</a:t>
            </a:r>
            <a:endParaRPr lang="en-US" altLang="zh-CN" dirty="0"/>
          </a:p>
          <a:p>
            <a:pPr lvl="1"/>
            <a:r>
              <a:rPr lang="zh-CN" altLang="en-US" dirty="0"/>
              <a:t>包含了鲜明的批判性和革命性</a:t>
            </a:r>
            <a:endParaRPr lang="en-US" altLang="zh-CN" dirty="0"/>
          </a:p>
          <a:p>
            <a:r>
              <a:rPr lang="zh-CN" altLang="en-US" dirty="0"/>
              <a:t>科学性和阶级性的统一</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28</a:t>
            </a:fld>
            <a:endParaRPr lang="zh-CN" altLang="en-US"/>
          </a:p>
        </p:txBody>
      </p:sp>
    </p:spTree>
    <p:extLst>
      <p:ext uri="{BB962C8B-B14F-4D97-AF65-F5344CB8AC3E}">
        <p14:creationId xmlns:p14="http://schemas.microsoft.com/office/powerpoint/2010/main" val="206372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马克思主义政治经济学的任务</a:t>
            </a:r>
          </a:p>
        </p:txBody>
      </p:sp>
      <p:sp>
        <p:nvSpPr>
          <p:cNvPr id="3" name="内容占位符 2"/>
          <p:cNvSpPr>
            <a:spLocks noGrp="1"/>
          </p:cNvSpPr>
          <p:nvPr>
            <p:ph idx="1"/>
          </p:nvPr>
        </p:nvSpPr>
        <p:spPr/>
        <p:txBody>
          <a:bodyPr/>
          <a:lstStyle/>
          <a:p>
            <a:r>
              <a:rPr lang="zh-CN" altLang="en-US" dirty="0"/>
              <a:t>阐明经济规律的客观性</a:t>
            </a:r>
            <a:endParaRPr lang="en-US" altLang="zh-CN" dirty="0"/>
          </a:p>
          <a:p>
            <a:r>
              <a:rPr lang="zh-CN" altLang="en-US" dirty="0"/>
              <a:t>研究资本主义生产关系及其发展和变化规律</a:t>
            </a:r>
            <a:endParaRPr lang="en-US" altLang="zh-CN" dirty="0"/>
          </a:p>
          <a:p>
            <a:r>
              <a:rPr lang="zh-CN" altLang="en-US" dirty="0"/>
              <a:t>研究社会主义生产关系及其发展和变化规律</a:t>
            </a:r>
            <a:endParaRPr lang="en-US" altLang="zh-CN" dirty="0"/>
          </a:p>
          <a:p>
            <a:r>
              <a:rPr lang="zh-CN" altLang="en-US" dirty="0"/>
              <a:t>揭示经济运动的普遍规律</a:t>
            </a:r>
            <a:endParaRPr lang="en-US" altLang="zh-CN" dirty="0"/>
          </a:p>
          <a:p>
            <a:pPr lvl="1"/>
            <a:r>
              <a:rPr lang="zh-CN" altLang="en-US" dirty="0"/>
              <a:t>每个社会经济形态都起作用的一般规律</a:t>
            </a:r>
            <a:endParaRPr lang="en-US" altLang="zh-CN" dirty="0"/>
          </a:p>
          <a:p>
            <a:pPr lvl="1"/>
            <a:r>
              <a:rPr lang="zh-CN" altLang="en-US" dirty="0"/>
              <a:t>某些社会经济形态或条件下共同发生作用的规律</a:t>
            </a:r>
            <a:endParaRPr lang="en-US" altLang="zh-CN" dirty="0"/>
          </a:p>
          <a:p>
            <a:pPr lvl="1"/>
            <a:r>
              <a:rPr lang="zh-CN" altLang="en-US" dirty="0"/>
              <a:t>一定社会经济形态所特有的经济规律</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29</a:t>
            </a:fld>
            <a:endParaRPr lang="zh-CN" altLang="en-US"/>
          </a:p>
        </p:txBody>
      </p:sp>
    </p:spTree>
    <p:extLst>
      <p:ext uri="{BB962C8B-B14F-4D97-AF65-F5344CB8AC3E}">
        <p14:creationId xmlns:p14="http://schemas.microsoft.com/office/powerpoint/2010/main" val="3153135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马克思主义政治经济学的研究方法</a:t>
            </a:r>
          </a:p>
        </p:txBody>
      </p:sp>
      <p:sp>
        <p:nvSpPr>
          <p:cNvPr id="3" name="内容占位符 2"/>
          <p:cNvSpPr>
            <a:spLocks noGrp="1"/>
          </p:cNvSpPr>
          <p:nvPr>
            <p:ph idx="1"/>
          </p:nvPr>
        </p:nvSpPr>
        <p:spPr/>
        <p:txBody>
          <a:bodyPr>
            <a:normAutofit fontScale="85000" lnSpcReduction="20000"/>
          </a:bodyPr>
          <a:lstStyle/>
          <a:p>
            <a:r>
              <a:rPr lang="zh-CN" altLang="en-US" dirty="0"/>
              <a:t>唯物辩证法是马克思研究政治经济学运用的根本方法</a:t>
            </a:r>
            <a:endParaRPr lang="en-US" altLang="zh-CN" dirty="0"/>
          </a:p>
          <a:p>
            <a:pPr lvl="1"/>
            <a:r>
              <a:rPr lang="zh-CN" altLang="en-US" dirty="0"/>
              <a:t>坚持从客观经济事实和经济现象出发，透过经济现象剖析出隐藏在经济现象背后的本质联系，揭示其运动规律</a:t>
            </a:r>
            <a:endParaRPr lang="en-US" altLang="zh-CN" dirty="0"/>
          </a:p>
          <a:p>
            <a:r>
              <a:rPr lang="zh-CN" altLang="en-US" dirty="0"/>
              <a:t>科学抽象法是马克思研究政治经济学运用的重要方法</a:t>
            </a:r>
            <a:endParaRPr lang="en-US" altLang="zh-CN" dirty="0"/>
          </a:p>
          <a:p>
            <a:pPr lvl="1"/>
            <a:r>
              <a:rPr lang="zh-CN" altLang="en-US" dirty="0"/>
              <a:t>从具体到抽象的研究过程</a:t>
            </a:r>
            <a:endParaRPr lang="en-US" altLang="zh-CN" dirty="0"/>
          </a:p>
          <a:p>
            <a:pPr lvl="1"/>
            <a:r>
              <a:rPr lang="zh-CN" altLang="en-US" dirty="0"/>
              <a:t>从抽象再回到具体的叙述过程</a:t>
            </a:r>
            <a:endParaRPr lang="en-US" altLang="zh-CN" dirty="0"/>
          </a:p>
          <a:p>
            <a:r>
              <a:rPr lang="zh-CN" altLang="en-US" dirty="0"/>
              <a:t>历史与逻辑相统一是马克思研究政治经济学的另一重要方法</a:t>
            </a:r>
            <a:endParaRPr lang="en-US" altLang="zh-CN" dirty="0"/>
          </a:p>
          <a:p>
            <a:pPr lvl="1"/>
            <a:r>
              <a:rPr lang="zh-CN" altLang="en-US" dirty="0"/>
              <a:t>按照历史发展真实进程来把握其发展和变化；从简单到复杂、从低级到高级</a:t>
            </a:r>
            <a:endParaRPr lang="en-US" altLang="zh-CN" dirty="0"/>
          </a:p>
          <a:p>
            <a:r>
              <a:rPr lang="zh-CN" altLang="en-US" dirty="0"/>
              <a:t>马克思对数学定量方法也非常重视</a:t>
            </a:r>
            <a:endParaRPr lang="en-US" altLang="zh-CN" dirty="0"/>
          </a:p>
          <a:p>
            <a:pPr lvl="1"/>
            <a:r>
              <a:rPr lang="zh-CN" altLang="en-US" dirty="0"/>
              <a:t>定性分和定量分析相结合</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30</a:t>
            </a:fld>
            <a:endParaRPr lang="zh-CN" altLang="en-US"/>
          </a:p>
        </p:txBody>
      </p:sp>
    </p:spTree>
    <p:extLst>
      <p:ext uri="{BB962C8B-B14F-4D97-AF65-F5344CB8AC3E}">
        <p14:creationId xmlns:p14="http://schemas.microsoft.com/office/powerpoint/2010/main" val="3355765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r>
              <a:rPr lang="zh-CN" altLang="en-US" dirty="0"/>
              <a:t>第四节 马克思主义政治经济学的创立和发展</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31</a:t>
            </a:fld>
            <a:endParaRPr lang="zh-CN" altLang="en-US"/>
          </a:p>
        </p:txBody>
      </p:sp>
    </p:spTree>
    <p:extLst>
      <p:ext uri="{BB962C8B-B14F-4D97-AF65-F5344CB8AC3E}">
        <p14:creationId xmlns:p14="http://schemas.microsoft.com/office/powerpoint/2010/main" val="6869360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马克思主义政治经济学的创立</a:t>
            </a:r>
          </a:p>
        </p:txBody>
      </p:sp>
      <p:sp>
        <p:nvSpPr>
          <p:cNvPr id="3" name="内容占位符 2"/>
          <p:cNvSpPr>
            <a:spLocks noGrp="1"/>
          </p:cNvSpPr>
          <p:nvPr>
            <p:ph idx="1"/>
          </p:nvPr>
        </p:nvSpPr>
        <p:spPr/>
        <p:txBody>
          <a:bodyPr/>
          <a:lstStyle/>
          <a:p>
            <a:r>
              <a:rPr lang="en-US" altLang="zh-CN" dirty="0"/>
              <a:t>1867</a:t>
            </a:r>
            <a:r>
              <a:rPr lang="zh-CN" altLang="en-US" dirty="0"/>
              <a:t>年马克思出版</a:t>
            </a:r>
            <a:r>
              <a:rPr lang="en-US" altLang="zh-CN" dirty="0"/>
              <a:t>《</a:t>
            </a:r>
            <a:r>
              <a:rPr lang="zh-CN" altLang="en-US" dirty="0"/>
              <a:t>资本论</a:t>
            </a:r>
            <a:r>
              <a:rPr lang="en-US" altLang="zh-CN" dirty="0"/>
              <a:t>》</a:t>
            </a:r>
            <a:r>
              <a:rPr lang="zh-CN" altLang="en-US" dirty="0"/>
              <a:t>第</a:t>
            </a:r>
            <a:r>
              <a:rPr lang="en-US" altLang="zh-CN" dirty="0"/>
              <a:t>1</a:t>
            </a:r>
            <a:r>
              <a:rPr lang="zh-CN" altLang="en-US" dirty="0"/>
              <a:t>卷，标志着马克思主义政治经济学理论体系的创立</a:t>
            </a:r>
            <a:endParaRPr lang="en-US" altLang="zh-CN" dirty="0"/>
          </a:p>
          <a:p>
            <a:pPr lvl="1"/>
            <a:r>
              <a:rPr lang="en-US" altLang="zh-CN" dirty="0"/>
              <a:t>18</a:t>
            </a:r>
            <a:r>
              <a:rPr lang="zh-CN" altLang="en-US" dirty="0"/>
              <a:t>世纪</a:t>
            </a:r>
            <a:r>
              <a:rPr lang="en-US" altLang="zh-CN" dirty="0"/>
              <a:t>60</a:t>
            </a:r>
            <a:r>
              <a:rPr lang="zh-CN" altLang="en-US" dirty="0"/>
              <a:t>年代工业革命兴起为资本主义经济发展创造物质条件，资本主义社会矛盾激化</a:t>
            </a:r>
            <a:endParaRPr lang="en-US" altLang="zh-CN" dirty="0"/>
          </a:p>
          <a:p>
            <a:pPr lvl="1"/>
            <a:r>
              <a:rPr lang="zh-CN" altLang="en-US" dirty="0"/>
              <a:t>各国工人革命运动，无产阶级作为独立政治力量登上历史舞台</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32</a:t>
            </a:fld>
            <a:endParaRPr lang="zh-CN" altLang="en-US"/>
          </a:p>
        </p:txBody>
      </p:sp>
    </p:spTree>
    <p:extLst>
      <p:ext uri="{BB962C8B-B14F-4D97-AF65-F5344CB8AC3E}">
        <p14:creationId xmlns:p14="http://schemas.microsoft.com/office/powerpoint/2010/main" val="2516195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马克思主义政治经济学与西方经济学</a:t>
            </a:r>
          </a:p>
        </p:txBody>
      </p:sp>
      <p:sp>
        <p:nvSpPr>
          <p:cNvPr id="3" name="内容占位符 2"/>
          <p:cNvSpPr>
            <a:spLocks noGrp="1"/>
          </p:cNvSpPr>
          <p:nvPr>
            <p:ph idx="1"/>
          </p:nvPr>
        </p:nvSpPr>
        <p:spPr/>
        <p:txBody>
          <a:bodyPr/>
          <a:lstStyle/>
          <a:p>
            <a:r>
              <a:rPr lang="zh-CN" altLang="en-US" dirty="0"/>
              <a:t>西方经济学偏重于对经济现象的表层描述和分析，生产、失业、价格等经济现象</a:t>
            </a:r>
            <a:endParaRPr lang="en-US" altLang="zh-CN" dirty="0"/>
          </a:p>
          <a:p>
            <a:r>
              <a:rPr lang="zh-CN" altLang="en-US" dirty="0"/>
              <a:t>马克思主义政治经济学偏重对经济关系本质的分析，研究物与物关系背后人与人之间的社会关系</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33</a:t>
            </a:fld>
            <a:endParaRPr lang="zh-CN" altLang="en-US"/>
          </a:p>
        </p:txBody>
      </p:sp>
    </p:spTree>
    <p:extLst>
      <p:ext uri="{BB962C8B-B14F-4D97-AF65-F5344CB8AC3E}">
        <p14:creationId xmlns:p14="http://schemas.microsoft.com/office/powerpoint/2010/main" val="4132600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6660671" cy="778931"/>
          </a:xfrm>
        </p:spPr>
        <p:txBody>
          <a:bodyPr>
            <a:normAutofit/>
          </a:bodyPr>
          <a:lstStyle/>
          <a:p>
            <a:r>
              <a:rPr lang="zh-CN" altLang="en-US" dirty="0"/>
              <a:t>马克思主义政治经济学的开创性理论贡献</a:t>
            </a:r>
          </a:p>
        </p:txBody>
      </p:sp>
      <p:sp>
        <p:nvSpPr>
          <p:cNvPr id="3" name="内容占位符 2"/>
          <p:cNvSpPr>
            <a:spLocks noGrp="1"/>
          </p:cNvSpPr>
          <p:nvPr>
            <p:ph idx="1"/>
          </p:nvPr>
        </p:nvSpPr>
        <p:spPr/>
        <p:txBody>
          <a:bodyPr>
            <a:normAutofit fontScale="92500" lnSpcReduction="20000"/>
          </a:bodyPr>
          <a:lstStyle/>
          <a:p>
            <a:r>
              <a:rPr lang="zh-CN" altLang="en-US" dirty="0"/>
              <a:t>开创了以辩证唯物主义和历史唯物主义研究经济现象的科学世界观和方法论</a:t>
            </a:r>
            <a:endParaRPr lang="en-US" altLang="zh-CN" dirty="0"/>
          </a:p>
          <a:p>
            <a:r>
              <a:rPr lang="zh-CN" altLang="en-US" dirty="0"/>
              <a:t>阐述了生产与分配、交换和消费的一般关系，生产居首位</a:t>
            </a:r>
            <a:endParaRPr lang="en-US" altLang="zh-CN" dirty="0"/>
          </a:p>
          <a:p>
            <a:r>
              <a:rPr lang="zh-CN" altLang="en-US" dirty="0"/>
              <a:t>创立了生产商品的劳动二重性学说</a:t>
            </a:r>
            <a:endParaRPr lang="en-US" altLang="zh-CN" dirty="0"/>
          </a:p>
          <a:p>
            <a:r>
              <a:rPr lang="zh-CN" altLang="en-US" dirty="0"/>
              <a:t>创立了科学的剩余价值理论，发现了资本积累的一般规律和历史趋势</a:t>
            </a:r>
            <a:endParaRPr lang="en-US" altLang="zh-CN" dirty="0"/>
          </a:p>
          <a:p>
            <a:r>
              <a:rPr lang="zh-CN" altLang="en-US" dirty="0"/>
              <a:t>全面阐述资本的生产过程、流通过程和资本主义生产总过程，阐明资本主义生产方式的内在逻辑</a:t>
            </a:r>
            <a:endParaRPr lang="en-US" altLang="zh-CN" dirty="0"/>
          </a:p>
          <a:p>
            <a:r>
              <a:rPr lang="zh-CN" altLang="en-US" dirty="0"/>
              <a:t>揭示社会主义替代资本主义的历史必然性，并预见了未来社会主义和共产主义社会的一些基本特征</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34</a:t>
            </a:fld>
            <a:endParaRPr lang="zh-CN" altLang="en-US"/>
          </a:p>
        </p:txBody>
      </p:sp>
    </p:spTree>
    <p:extLst>
      <p:ext uri="{BB962C8B-B14F-4D97-AF65-F5344CB8AC3E}">
        <p14:creationId xmlns:p14="http://schemas.microsoft.com/office/powerpoint/2010/main" val="1673859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列宁对马克思主义政治经济学的发展</a:t>
            </a:r>
          </a:p>
        </p:txBody>
      </p:sp>
      <p:sp>
        <p:nvSpPr>
          <p:cNvPr id="3" name="内容占位符 2"/>
          <p:cNvSpPr>
            <a:spLocks noGrp="1"/>
          </p:cNvSpPr>
          <p:nvPr>
            <p:ph idx="1"/>
          </p:nvPr>
        </p:nvSpPr>
        <p:spPr/>
        <p:txBody>
          <a:bodyPr>
            <a:normAutofit lnSpcReduction="10000"/>
          </a:bodyPr>
          <a:lstStyle/>
          <a:p>
            <a:r>
              <a:rPr lang="zh-CN" altLang="en-US" dirty="0"/>
              <a:t>科学揭示资本主义发展到帝国主义的基本特征，指出帝国主义就是垄断资本主义</a:t>
            </a:r>
            <a:endParaRPr lang="en-US" altLang="zh-CN" dirty="0"/>
          </a:p>
          <a:p>
            <a:r>
              <a:rPr lang="zh-CN" altLang="en-US" dirty="0"/>
              <a:t>揭示垄断资本主义的内在矛盾，认为社会主义可以首先在少数甚至在单独一个资本主义国家内获得胜利</a:t>
            </a:r>
            <a:endParaRPr lang="en-US" altLang="zh-CN" dirty="0"/>
          </a:p>
          <a:p>
            <a:r>
              <a:rPr lang="zh-CN" altLang="en-US" dirty="0"/>
              <a:t>形成了社会主义过渡和建设理论</a:t>
            </a:r>
            <a:endParaRPr lang="en-US" altLang="zh-CN" dirty="0"/>
          </a:p>
          <a:p>
            <a:pPr lvl="1"/>
            <a:r>
              <a:rPr lang="zh-CN" altLang="en-US" dirty="0"/>
              <a:t>社会主义经济基础必须通过大力发展生产力，提高劳动生产率来形成</a:t>
            </a:r>
            <a:endParaRPr lang="en-US" altLang="zh-CN" dirty="0"/>
          </a:p>
          <a:p>
            <a:pPr lvl="1"/>
            <a:r>
              <a:rPr lang="zh-CN" altLang="en-US" dirty="0"/>
              <a:t>向社会主义过渡，需要保留商品货币关系</a:t>
            </a:r>
            <a:endParaRPr lang="en-US" altLang="zh-CN" dirty="0"/>
          </a:p>
          <a:p>
            <a:pPr lvl="1"/>
            <a:r>
              <a:rPr lang="zh-CN" altLang="en-US" dirty="0"/>
              <a:t>新经济政策是对社会主义经济建设的最早理论探索和实践</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35</a:t>
            </a:fld>
            <a:endParaRPr lang="zh-CN" altLang="en-US"/>
          </a:p>
        </p:txBody>
      </p:sp>
    </p:spTree>
    <p:extLst>
      <p:ext uri="{BB962C8B-B14F-4D97-AF65-F5344CB8AC3E}">
        <p14:creationId xmlns:p14="http://schemas.microsoft.com/office/powerpoint/2010/main" val="1869646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7999961" cy="778931"/>
          </a:xfrm>
        </p:spPr>
        <p:txBody>
          <a:bodyPr>
            <a:normAutofit fontScale="90000"/>
          </a:bodyPr>
          <a:lstStyle/>
          <a:p>
            <a:r>
              <a:rPr lang="zh-CN" altLang="en-US" dirty="0"/>
              <a:t>苏联社会主义建设时期对马克思主义政治经济学的发展</a:t>
            </a:r>
          </a:p>
        </p:txBody>
      </p:sp>
      <p:sp>
        <p:nvSpPr>
          <p:cNvPr id="3" name="内容占位符 2"/>
          <p:cNvSpPr>
            <a:spLocks noGrp="1"/>
          </p:cNvSpPr>
          <p:nvPr>
            <p:ph idx="1"/>
          </p:nvPr>
        </p:nvSpPr>
        <p:spPr/>
        <p:txBody>
          <a:bodyPr/>
          <a:lstStyle/>
          <a:p>
            <a:r>
              <a:rPr lang="zh-CN" altLang="en-US" dirty="0"/>
              <a:t>关于社会主义基本经济规律的探索</a:t>
            </a:r>
            <a:endParaRPr lang="en-US" altLang="zh-CN" dirty="0"/>
          </a:p>
          <a:p>
            <a:r>
              <a:rPr lang="zh-CN" altLang="en-US" dirty="0"/>
              <a:t>关于社会主义国家工业化发展</a:t>
            </a:r>
            <a:endParaRPr lang="en-US" altLang="zh-CN" dirty="0"/>
          </a:p>
          <a:p>
            <a:r>
              <a:rPr lang="zh-CN" altLang="en-US" dirty="0"/>
              <a:t>关于农业集体化思想</a:t>
            </a:r>
            <a:endParaRPr lang="en-US" altLang="zh-CN" dirty="0"/>
          </a:p>
          <a:p>
            <a:r>
              <a:rPr lang="zh-CN" altLang="en-US" dirty="0"/>
              <a:t>关于马克思主义政治经济学教科书的编写</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36</a:t>
            </a:fld>
            <a:endParaRPr lang="zh-CN" altLang="en-US"/>
          </a:p>
        </p:txBody>
      </p:sp>
    </p:spTree>
    <p:extLst>
      <p:ext uri="{BB962C8B-B14F-4D97-AF65-F5344CB8AC3E}">
        <p14:creationId xmlns:p14="http://schemas.microsoft.com/office/powerpoint/2010/main" val="26512824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6315614" cy="778931"/>
          </a:xfrm>
        </p:spPr>
        <p:txBody>
          <a:bodyPr>
            <a:normAutofit fontScale="90000"/>
          </a:bodyPr>
          <a:lstStyle/>
          <a:p>
            <a:r>
              <a:rPr lang="zh-CN" altLang="en-US" dirty="0"/>
              <a:t>毛泽东思想对马克思主义政治经济学的贡献</a:t>
            </a:r>
          </a:p>
        </p:txBody>
      </p:sp>
      <p:sp>
        <p:nvSpPr>
          <p:cNvPr id="3" name="内容占位符 2"/>
          <p:cNvSpPr>
            <a:spLocks noGrp="1"/>
          </p:cNvSpPr>
          <p:nvPr>
            <p:ph idx="1"/>
          </p:nvPr>
        </p:nvSpPr>
        <p:spPr/>
        <p:txBody>
          <a:bodyPr/>
          <a:lstStyle/>
          <a:p>
            <a:r>
              <a:rPr lang="zh-CN" altLang="en-US" dirty="0"/>
              <a:t>新民主主义革命理论中的经济思想</a:t>
            </a:r>
            <a:endParaRPr lang="en-US" altLang="zh-CN" dirty="0"/>
          </a:p>
          <a:p>
            <a:r>
              <a:rPr lang="zh-CN" altLang="en-US" dirty="0"/>
              <a:t>关于新民主主义向社会主义过渡的理论</a:t>
            </a:r>
            <a:endParaRPr lang="en-US" altLang="zh-CN" dirty="0"/>
          </a:p>
          <a:p>
            <a:r>
              <a:rPr lang="zh-CN" altLang="en-US" dirty="0"/>
              <a:t>对社会主义建设道路的探索</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37</a:t>
            </a:fld>
            <a:endParaRPr lang="zh-CN" altLang="en-US"/>
          </a:p>
        </p:txBody>
      </p:sp>
    </p:spTree>
    <p:extLst>
      <p:ext uri="{BB962C8B-B14F-4D97-AF65-F5344CB8AC3E}">
        <p14:creationId xmlns:p14="http://schemas.microsoft.com/office/powerpoint/2010/main" val="1801338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中国特色社会主义理论体系</a:t>
            </a:r>
          </a:p>
        </p:txBody>
      </p:sp>
      <p:sp>
        <p:nvSpPr>
          <p:cNvPr id="3" name="内容占位符 2"/>
          <p:cNvSpPr>
            <a:spLocks noGrp="1"/>
          </p:cNvSpPr>
          <p:nvPr>
            <p:ph idx="1"/>
          </p:nvPr>
        </p:nvSpPr>
        <p:spPr/>
        <p:txBody>
          <a:bodyPr/>
          <a:lstStyle/>
          <a:p>
            <a:r>
              <a:rPr lang="zh-CN" altLang="en-US" dirty="0"/>
              <a:t>关于社会主义本质和根本任务</a:t>
            </a:r>
            <a:endParaRPr lang="en-US" altLang="zh-CN" dirty="0"/>
          </a:p>
          <a:p>
            <a:r>
              <a:rPr lang="zh-CN" altLang="en-US" dirty="0"/>
              <a:t>关于当前中国社会的发展阶段</a:t>
            </a:r>
            <a:endParaRPr lang="en-US" altLang="zh-CN" dirty="0"/>
          </a:p>
          <a:p>
            <a:r>
              <a:rPr lang="zh-CN" altLang="en-US" dirty="0"/>
              <a:t>关于社会主义经济体制改革</a:t>
            </a:r>
            <a:endParaRPr lang="en-US" altLang="zh-CN" dirty="0"/>
          </a:p>
          <a:p>
            <a:r>
              <a:rPr lang="zh-CN" altLang="en-US" dirty="0"/>
              <a:t>关于社会主义对外开放</a:t>
            </a:r>
            <a:endParaRPr lang="en-US" altLang="zh-CN" dirty="0"/>
          </a:p>
          <a:p>
            <a:r>
              <a:rPr lang="zh-CN" altLang="en-US" dirty="0"/>
              <a:t>关于社会主义初级阶段基本经济制度</a:t>
            </a:r>
            <a:endParaRPr lang="en-US" altLang="zh-CN" dirty="0"/>
          </a:p>
          <a:p>
            <a:r>
              <a:rPr lang="zh-CN" altLang="en-US" dirty="0"/>
              <a:t>关于社会主义初级阶段分配制度</a:t>
            </a:r>
            <a:endParaRPr lang="en-US" altLang="zh-CN" dirty="0"/>
          </a:p>
          <a:p>
            <a:r>
              <a:rPr lang="zh-CN" altLang="en-US" dirty="0"/>
              <a:t>关于社会主义经济管理和宏观调控</a:t>
            </a:r>
            <a:endParaRPr lang="en-US" altLang="zh-CN" dirty="0"/>
          </a:p>
          <a:p>
            <a:r>
              <a:rPr lang="zh-CN" altLang="en-US" dirty="0"/>
              <a:t>关于社会主义经济发展</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38</a:t>
            </a:fld>
            <a:endParaRPr lang="zh-CN" altLang="en-US"/>
          </a:p>
        </p:txBody>
      </p:sp>
    </p:spTree>
    <p:extLst>
      <p:ext uri="{BB962C8B-B14F-4D97-AF65-F5344CB8AC3E}">
        <p14:creationId xmlns:p14="http://schemas.microsoft.com/office/powerpoint/2010/main" val="1065049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r>
              <a:rPr lang="zh-CN" altLang="en-US" dirty="0"/>
              <a:t>第五节 当代中国马克思主义政治经济学最新成果：习近平新时代中国特色社会主义经济思想</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39</a:t>
            </a:fld>
            <a:endParaRPr lang="zh-CN" altLang="en-US"/>
          </a:p>
        </p:txBody>
      </p:sp>
    </p:spTree>
    <p:extLst>
      <p:ext uri="{BB962C8B-B14F-4D97-AF65-F5344CB8AC3E}">
        <p14:creationId xmlns:p14="http://schemas.microsoft.com/office/powerpoint/2010/main" val="941421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746143"/>
            <a:ext cx="7002434" cy="778931"/>
          </a:xfrm>
        </p:spPr>
        <p:txBody>
          <a:bodyPr>
            <a:normAutofit/>
          </a:bodyPr>
          <a:lstStyle/>
          <a:p>
            <a:r>
              <a:rPr lang="zh-CN" altLang="en-US" dirty="0"/>
              <a:t>习近平新时代中国特色社会主义经济思想</a:t>
            </a:r>
          </a:p>
        </p:txBody>
      </p:sp>
      <p:sp>
        <p:nvSpPr>
          <p:cNvPr id="3" name="内容占位符 2"/>
          <p:cNvSpPr>
            <a:spLocks noGrp="1"/>
          </p:cNvSpPr>
          <p:nvPr>
            <p:ph idx="1"/>
          </p:nvPr>
        </p:nvSpPr>
        <p:spPr/>
        <p:txBody>
          <a:bodyPr/>
          <a:lstStyle/>
          <a:p>
            <a:r>
              <a:rPr lang="zh-CN" altLang="en-US" dirty="0"/>
              <a:t>形成：十八大以来的新时代，国内外形势发生重大变化</a:t>
            </a:r>
            <a:endParaRPr lang="en-US" altLang="zh-CN" dirty="0"/>
          </a:p>
          <a:p>
            <a:r>
              <a:rPr lang="zh-CN" altLang="en-US" dirty="0"/>
              <a:t>推动我国经济发展实践的理论结晶</a:t>
            </a:r>
            <a:endParaRPr lang="en-US" altLang="zh-CN" dirty="0"/>
          </a:p>
          <a:p>
            <a:r>
              <a:rPr lang="zh-CN" altLang="en-US" dirty="0"/>
              <a:t>为马克思主义政治经济学创新发展贡献中国智慧</a:t>
            </a:r>
            <a:endParaRPr lang="en-US" altLang="zh-CN" dirty="0"/>
          </a:p>
          <a:p>
            <a:r>
              <a:rPr lang="zh-CN" altLang="en-US" dirty="0"/>
              <a:t>在实践中不断坚持发展习近平新时代中国特色社会主义经济思想</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40</a:t>
            </a:fld>
            <a:endParaRPr lang="zh-CN" altLang="en-US"/>
          </a:p>
        </p:txBody>
      </p:sp>
    </p:spTree>
    <p:extLst>
      <p:ext uri="{BB962C8B-B14F-4D97-AF65-F5344CB8AC3E}">
        <p14:creationId xmlns:p14="http://schemas.microsoft.com/office/powerpoint/2010/main" val="7130942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怎样学习马克思主义政治经济学</a:t>
            </a:r>
          </a:p>
        </p:txBody>
      </p:sp>
      <p:sp>
        <p:nvSpPr>
          <p:cNvPr id="3" name="内容占位符 2"/>
          <p:cNvSpPr>
            <a:spLocks noGrp="1"/>
          </p:cNvSpPr>
          <p:nvPr>
            <p:ph idx="1"/>
          </p:nvPr>
        </p:nvSpPr>
        <p:spPr/>
        <p:txBody>
          <a:bodyPr/>
          <a:lstStyle/>
          <a:p>
            <a:r>
              <a:rPr lang="zh-CN" altLang="en-US" dirty="0"/>
              <a:t>注重掌握科学体系、基本概念和范畴</a:t>
            </a:r>
            <a:endParaRPr lang="en-US" altLang="zh-CN" dirty="0"/>
          </a:p>
          <a:p>
            <a:r>
              <a:rPr lang="zh-CN" altLang="en-US" dirty="0"/>
              <a:t>注重掌握贯穿其中的立场观点方法</a:t>
            </a:r>
            <a:endParaRPr lang="en-US" altLang="zh-CN" dirty="0"/>
          </a:p>
          <a:p>
            <a:r>
              <a:rPr lang="zh-CN" altLang="en-US" dirty="0"/>
              <a:t>注重紧密联系改革开放和现代化建设的实际</a:t>
            </a:r>
            <a:endParaRPr lang="en-US" altLang="zh-CN" dirty="0"/>
          </a:p>
          <a:p>
            <a:r>
              <a:rPr lang="zh-CN" altLang="en-US" dirty="0"/>
              <a:t>注重学习比较和借鉴人类创造的经济学成果</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41</a:t>
            </a:fld>
            <a:endParaRPr lang="zh-CN" altLang="en-US"/>
          </a:p>
        </p:txBody>
      </p:sp>
    </p:spTree>
    <p:extLst>
      <p:ext uri="{BB962C8B-B14F-4D97-AF65-F5344CB8AC3E}">
        <p14:creationId xmlns:p14="http://schemas.microsoft.com/office/powerpoint/2010/main" val="2297316127"/>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1907</TotalTime>
  <Words>2432</Words>
  <Application>Microsoft Office PowerPoint</Application>
  <PresentationFormat>全屏显示(4:3)</PresentationFormat>
  <Paragraphs>272</Paragraphs>
  <Slides>41</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41</vt:i4>
      </vt:variant>
    </vt:vector>
  </HeadingPairs>
  <TitlesOfParts>
    <vt:vector size="47" baseType="lpstr">
      <vt:lpstr>微软雅黑</vt:lpstr>
      <vt:lpstr>Arial</vt:lpstr>
      <vt:lpstr>Calibri</vt:lpstr>
      <vt:lpstr>Calibri Light</vt:lpstr>
      <vt:lpstr>Wingdings</vt:lpstr>
      <vt:lpstr>Office 主题</vt:lpstr>
      <vt:lpstr>                   导   论</vt:lpstr>
      <vt:lpstr>PowerPoint 演示文稿</vt:lpstr>
      <vt:lpstr>教材</vt:lpstr>
      <vt:lpstr>考核</vt:lpstr>
      <vt:lpstr>为什么要学习马克思主义政治经济学</vt:lpstr>
      <vt:lpstr>主要内容</vt:lpstr>
      <vt:lpstr>PowerPoint 演示文稿</vt:lpstr>
      <vt:lpstr>政治经济学概念由来</vt:lpstr>
      <vt:lpstr>政治经济学研究内容的变化</vt:lpstr>
      <vt:lpstr>政治经济学的演变</vt:lpstr>
      <vt:lpstr>政治经济学的演变</vt:lpstr>
      <vt:lpstr>政治经济学的变革</vt:lpstr>
      <vt:lpstr>经济学的起源</vt:lpstr>
      <vt:lpstr>PowerPoint 演示文稿</vt:lpstr>
      <vt:lpstr>研究出发点：物质资料生产</vt:lpstr>
      <vt:lpstr>关于生产要素</vt:lpstr>
      <vt:lpstr>研究对象：生产关系</vt:lpstr>
      <vt:lpstr>社会再生产的一般过程</vt:lpstr>
      <vt:lpstr>生产和消费</vt:lpstr>
      <vt:lpstr>生产和分配</vt:lpstr>
      <vt:lpstr>生产和交换</vt:lpstr>
      <vt:lpstr>生产力和生产关系</vt:lpstr>
      <vt:lpstr>生产力和生产关系</vt:lpstr>
      <vt:lpstr>经济基础和上层建筑</vt:lpstr>
      <vt:lpstr>经济基础和上层建筑</vt:lpstr>
      <vt:lpstr>人类社会的基本矛盾</vt:lpstr>
      <vt:lpstr>PowerPoint 演示文稿</vt:lpstr>
      <vt:lpstr>马克思主义政治经济学的性质</vt:lpstr>
      <vt:lpstr>马克思主义政治经济学的任务</vt:lpstr>
      <vt:lpstr>马克思主义政治经济学的研究方法</vt:lpstr>
      <vt:lpstr>PowerPoint 演示文稿</vt:lpstr>
      <vt:lpstr>马克思主义政治经济学的创立</vt:lpstr>
      <vt:lpstr>马克思主义政治经济学与西方经济学</vt:lpstr>
      <vt:lpstr>马克思主义政治经济学的开创性理论贡献</vt:lpstr>
      <vt:lpstr>列宁对马克思主义政治经济学的发展</vt:lpstr>
      <vt:lpstr>苏联社会主义建设时期对马克思主义政治经济学的发展</vt:lpstr>
      <vt:lpstr>毛泽东思想对马克思主义政治经济学的贡献</vt:lpstr>
      <vt:lpstr>中国特色社会主义理论体系</vt:lpstr>
      <vt:lpstr>PowerPoint 演示文稿</vt:lpstr>
      <vt:lpstr>习近平新时代中国特色社会主义经济思想</vt:lpstr>
      <vt:lpstr>怎样学习马克思主义政治经济学</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王成城</dc:creator>
  <cp:lastModifiedBy>江 静</cp:lastModifiedBy>
  <cp:revision>80</cp:revision>
  <dcterms:created xsi:type="dcterms:W3CDTF">2013-11-29T11:59:20Z</dcterms:created>
  <dcterms:modified xsi:type="dcterms:W3CDTF">2024-09-23T02:27:54Z</dcterms:modified>
</cp:coreProperties>
</file>
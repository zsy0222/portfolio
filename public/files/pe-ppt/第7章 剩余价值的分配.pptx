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80" r:id="rId11"/>
    <p:sldId id="281" r:id="rId12"/>
    <p:sldId id="265" r:id="rId13"/>
    <p:sldId id="266" r:id="rId14"/>
    <p:sldId id="267" r:id="rId15"/>
    <p:sldId id="268" r:id="rId16"/>
    <p:sldId id="282" r:id="rId17"/>
    <p:sldId id="283" r:id="rId18"/>
    <p:sldId id="284" r:id="rId19"/>
    <p:sldId id="269" r:id="rId20"/>
    <p:sldId id="270" r:id="rId21"/>
    <p:sldId id="271" r:id="rId22"/>
    <p:sldId id="288" r:id="rId23"/>
    <p:sldId id="272" r:id="rId24"/>
    <p:sldId id="273" r:id="rId25"/>
    <p:sldId id="285" r:id="rId26"/>
    <p:sldId id="286" r:id="rId27"/>
    <p:sldId id="290" r:id="rId28"/>
    <p:sldId id="289" r:id="rId29"/>
    <p:sldId id="287" r:id="rId30"/>
    <p:sldId id="291" r:id="rId31"/>
    <p:sldId id="274" r:id="rId32"/>
    <p:sldId id="275" r:id="rId33"/>
    <p:sldId id="276" r:id="rId34"/>
    <p:sldId id="277" r:id="rId35"/>
    <p:sldId id="278" r:id="rId36"/>
    <p:sldId id="279" r:id="rId3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113" d="100"/>
          <a:sy n="113" d="100"/>
        </p:scale>
        <p:origin x="1422"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2023/12/20</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a:t>— </a:t>
            </a:r>
            <a:r>
              <a:rPr lang="zh-CN" altLang="en-US" dirty="0"/>
              <a:t>单击此处编辑母版副标题样式</a:t>
            </a:r>
            <a:endParaRPr lang="en-US" dirty="0"/>
          </a:p>
        </p:txBody>
      </p:sp>
      <p:sp>
        <p:nvSpPr>
          <p:cNvPr id="4" name="Date Placeholder 3"/>
          <p:cNvSpPr>
            <a:spLocks noGrp="1"/>
          </p:cNvSpPr>
          <p:nvPr>
            <p:ph type="dt" sz="half" idx="10"/>
          </p:nvPr>
        </p:nvSpPr>
        <p:spPr/>
        <p:txBody>
          <a:bodyPr/>
          <a:lstStyle/>
          <a:p>
            <a:fld id="{261D6E3F-3296-44D2-823C-DE11DCBDC05C}" type="datetime1">
              <a:rPr lang="zh-CN" altLang="en-US" smtClean="0"/>
              <a:t>2023/12/20</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fld id="{E0D2E42A-1E66-431D-BB59-EBF8D47B9C24}" type="datetime1">
              <a:rPr lang="zh-CN" altLang="en-US" smtClean="0"/>
              <a:t>2023/12/20</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a:t>南京大学商学院</a:t>
            </a:r>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FE1E-691E-4A3D-978C-4DE990FF2C2C}" type="datetime1">
              <a:rPr lang="zh-CN" altLang="en-US" smtClean="0"/>
              <a:t>2023/12/20</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南京大学商学院</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第七章 剩余价值的分配</a:t>
            </a:r>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主要内容</a:t>
            </a:r>
          </a:p>
        </p:txBody>
      </p:sp>
      <p:sp>
        <p:nvSpPr>
          <p:cNvPr id="3" name="内容占位符 2"/>
          <p:cNvSpPr>
            <a:spLocks noGrp="1"/>
          </p:cNvSpPr>
          <p:nvPr>
            <p:ph idx="1"/>
          </p:nvPr>
        </p:nvSpPr>
        <p:spPr/>
        <p:txBody>
          <a:bodyPr/>
          <a:lstStyle/>
          <a:p>
            <a:r>
              <a:rPr lang="zh-CN" altLang="en-US" dirty="0"/>
              <a:t>第一节 平均利润和生产价格</a:t>
            </a:r>
            <a:endParaRPr lang="en-US" altLang="zh-CN" dirty="0"/>
          </a:p>
          <a:p>
            <a:r>
              <a:rPr lang="zh-CN" altLang="en-US" dirty="0"/>
              <a:t>第二节 商业利润、利息和地租</a:t>
            </a:r>
            <a:endParaRPr lang="en-US" altLang="zh-CN" dirty="0"/>
          </a:p>
          <a:p>
            <a:r>
              <a:rPr lang="zh-CN" altLang="en-US" dirty="0"/>
              <a:t>第三节 当代资本主义分配关系的新变化</a:t>
            </a:r>
            <a:endParaRPr lang="en-US" altLang="zh-CN"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第一节 平均利润和生产价格</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4164259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生产成本</a:t>
            </a:r>
          </a:p>
        </p:txBody>
      </p:sp>
      <p:sp>
        <p:nvSpPr>
          <p:cNvPr id="3" name="内容占位符 2"/>
          <p:cNvSpPr>
            <a:spLocks noGrp="1"/>
          </p:cNvSpPr>
          <p:nvPr>
            <p:ph idx="1"/>
          </p:nvPr>
        </p:nvSpPr>
        <p:spPr/>
        <p:txBody>
          <a:bodyPr/>
          <a:lstStyle/>
          <a:p>
            <a:r>
              <a:rPr lang="zh-CN" altLang="en-US" dirty="0"/>
              <a:t>商品的资本主义生产成本</a:t>
            </a:r>
            <a:endParaRPr lang="en-US" altLang="zh-CN" dirty="0"/>
          </a:p>
          <a:p>
            <a:pPr lvl="1"/>
            <a:r>
              <a:rPr lang="zh-CN" altLang="en-US" dirty="0"/>
              <a:t>按照资本的耗费来计算的  </a:t>
            </a:r>
            <a:r>
              <a:rPr lang="en-US" altLang="zh-CN" dirty="0" err="1"/>
              <a:t>c+v</a:t>
            </a:r>
            <a:endParaRPr lang="en-US" altLang="zh-CN" dirty="0"/>
          </a:p>
          <a:p>
            <a:r>
              <a:rPr lang="zh-CN" altLang="en-US" dirty="0"/>
              <a:t>商品的实际生产成本</a:t>
            </a:r>
            <a:endParaRPr lang="en-US" altLang="zh-CN" dirty="0"/>
          </a:p>
          <a:p>
            <a:pPr lvl="1"/>
            <a:r>
              <a:rPr lang="zh-CN" altLang="en-US" dirty="0"/>
              <a:t>按照劳动的耗费来计算</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1738677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生产成本的意义</a:t>
            </a:r>
          </a:p>
        </p:txBody>
      </p:sp>
      <p:sp>
        <p:nvSpPr>
          <p:cNvPr id="3" name="内容占位符 2"/>
          <p:cNvSpPr>
            <a:spLocks noGrp="1"/>
          </p:cNvSpPr>
          <p:nvPr>
            <p:ph idx="1"/>
          </p:nvPr>
        </p:nvSpPr>
        <p:spPr/>
        <p:txBody>
          <a:bodyPr/>
          <a:lstStyle/>
          <a:p>
            <a:r>
              <a:rPr lang="zh-CN" altLang="en-US" dirty="0"/>
              <a:t>生产成本的补偿是资本主义再生产的条件</a:t>
            </a:r>
            <a:endParaRPr lang="en-US" altLang="zh-CN" dirty="0"/>
          </a:p>
          <a:p>
            <a:r>
              <a:rPr lang="zh-CN" altLang="en-US" dirty="0"/>
              <a:t>生产成本是资本家经营企业盈利或亏损的标志</a:t>
            </a:r>
            <a:endParaRPr lang="en-US" altLang="zh-CN" dirty="0"/>
          </a:p>
          <a:p>
            <a:r>
              <a:rPr lang="zh-CN" altLang="en-US" dirty="0"/>
              <a:t>生产成本的高低，也是决定资本家在竞争中胜败的关键</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96983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剩余价值转化为利润</a:t>
            </a:r>
          </a:p>
        </p:txBody>
      </p:sp>
      <p:sp>
        <p:nvSpPr>
          <p:cNvPr id="3" name="内容占位符 2"/>
          <p:cNvSpPr>
            <a:spLocks noGrp="1"/>
          </p:cNvSpPr>
          <p:nvPr>
            <p:ph idx="1"/>
          </p:nvPr>
        </p:nvSpPr>
        <p:spPr/>
        <p:txBody>
          <a:bodyPr/>
          <a:lstStyle/>
          <a:p>
            <a:r>
              <a:rPr lang="zh-CN" altLang="en-US" dirty="0"/>
              <a:t>剩余价值：可变资本创造的高于自身价值的那部分价值</a:t>
            </a:r>
            <a:endParaRPr lang="en-US" altLang="zh-CN" dirty="0"/>
          </a:p>
          <a:p>
            <a:r>
              <a:rPr lang="zh-CN" altLang="en-US" dirty="0"/>
              <a:t>利润：全部垫付资本的增殖</a:t>
            </a:r>
            <a:endParaRPr lang="en-US" altLang="zh-CN" dirty="0"/>
          </a:p>
          <a:p>
            <a:endParaRPr lang="en-US" altLang="zh-CN" dirty="0"/>
          </a:p>
          <a:p>
            <a:r>
              <a:rPr lang="zh-CN" altLang="en-US" dirty="0"/>
              <a:t>剩余价值与全部预付资本的比率叫利润率</a:t>
            </a:r>
            <a:endParaRPr lang="en-US" altLang="zh-CN" dirty="0"/>
          </a:p>
          <a:p>
            <a:r>
              <a:rPr lang="zh-CN" altLang="en-US" dirty="0"/>
              <a:t>剩余价值与可变资本的比率叫剩余价值率，或者剥削率</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4099153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影响利润率变动的因素</a:t>
            </a:r>
          </a:p>
        </p:txBody>
      </p:sp>
      <p:sp>
        <p:nvSpPr>
          <p:cNvPr id="3" name="内容占位符 2"/>
          <p:cNvSpPr>
            <a:spLocks noGrp="1"/>
          </p:cNvSpPr>
          <p:nvPr>
            <p:ph idx="1"/>
          </p:nvPr>
        </p:nvSpPr>
        <p:spPr/>
        <p:txBody>
          <a:bodyPr/>
          <a:lstStyle/>
          <a:p>
            <a:r>
              <a:rPr lang="zh-CN" altLang="en-US" dirty="0"/>
              <a:t>剩余价值率</a:t>
            </a:r>
            <a:endParaRPr lang="en-US" altLang="zh-CN" dirty="0"/>
          </a:p>
          <a:p>
            <a:r>
              <a:rPr lang="zh-CN" altLang="en-US" dirty="0"/>
              <a:t>资本的有机构成</a:t>
            </a:r>
            <a:endParaRPr lang="en-US" altLang="zh-CN" dirty="0"/>
          </a:p>
          <a:p>
            <a:pPr lvl="1"/>
            <a:r>
              <a:rPr lang="zh-CN" altLang="en-US" dirty="0"/>
              <a:t>不变资本和可变资本的比例</a:t>
            </a:r>
            <a:endParaRPr lang="en-US" altLang="zh-CN" dirty="0"/>
          </a:p>
          <a:p>
            <a:r>
              <a:rPr lang="zh-CN" altLang="en-US" dirty="0"/>
              <a:t>资本周转速度</a:t>
            </a:r>
            <a:endParaRPr lang="en-US" altLang="zh-CN" dirty="0"/>
          </a:p>
          <a:p>
            <a:r>
              <a:rPr lang="zh-CN" altLang="en-US" dirty="0"/>
              <a:t>不变资本的节约</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26997631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利润转化为</a:t>
            </a:r>
            <a:r>
              <a:rPr lang="zh-CN" altLang="en-US" dirty="0" smtClean="0"/>
              <a:t>平均利润</a:t>
            </a:r>
            <a:endParaRPr lang="zh-CN" altLang="en-US" dirty="0"/>
          </a:p>
        </p:txBody>
      </p:sp>
      <p:sp>
        <p:nvSpPr>
          <p:cNvPr id="3" name="内容占位符 2"/>
          <p:cNvSpPr>
            <a:spLocks noGrp="1"/>
          </p:cNvSpPr>
          <p:nvPr>
            <p:ph idx="1"/>
          </p:nvPr>
        </p:nvSpPr>
        <p:spPr/>
        <p:txBody>
          <a:bodyPr/>
          <a:lstStyle/>
          <a:p>
            <a:r>
              <a:rPr lang="zh-CN" altLang="en-US" dirty="0"/>
              <a:t>不同的部门剩余价值（利润）有差异</a:t>
            </a:r>
            <a:endParaRPr lang="en-US" altLang="zh-CN" dirty="0"/>
          </a:p>
          <a:p>
            <a:r>
              <a:rPr lang="zh-CN" altLang="en-US" dirty="0"/>
              <a:t>竞争：资本转移，从利润率低部门转移到利润率高的部门，直到两部门利润率大体相等为止</a:t>
            </a:r>
            <a:endParaRPr lang="en-US" altLang="zh-CN" dirty="0"/>
          </a:p>
          <a:p>
            <a:r>
              <a:rPr lang="zh-CN" altLang="en-US" dirty="0"/>
              <a:t>平均利润的形成过程， 是不同部门的资本家通过竞争而重新瓜分剩余价值的过程</a:t>
            </a:r>
            <a:endParaRPr lang="en-US" altLang="zh-CN" dirty="0"/>
          </a:p>
          <a:p>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3576419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价值转化为生产价格</a:t>
            </a:r>
          </a:p>
        </p:txBody>
      </p:sp>
      <p:sp>
        <p:nvSpPr>
          <p:cNvPr id="3" name="内容占位符 2"/>
          <p:cNvSpPr>
            <a:spLocks noGrp="1"/>
          </p:cNvSpPr>
          <p:nvPr>
            <p:ph idx="1"/>
          </p:nvPr>
        </p:nvSpPr>
        <p:spPr/>
        <p:txBody>
          <a:bodyPr/>
          <a:lstStyle/>
          <a:p>
            <a:r>
              <a:rPr lang="zh-CN" altLang="en-US" dirty="0"/>
              <a:t>生产价格是生产成本与平均利润之和</a:t>
            </a:r>
            <a:endParaRPr lang="en-US" altLang="zh-CN" dirty="0"/>
          </a:p>
          <a:p>
            <a:r>
              <a:rPr lang="zh-CN" altLang="en-US" dirty="0"/>
              <a:t>生产价格形成后，生产价格成为商品交换的基础，价格不再以价值为中心，而是以生产价格为中心上下波动</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3135491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平均利润率下降趋势</a:t>
            </a:r>
          </a:p>
        </p:txBody>
      </p:sp>
      <p:sp>
        <p:nvSpPr>
          <p:cNvPr id="3" name="内容占位符 2"/>
          <p:cNvSpPr>
            <a:spLocks noGrp="1"/>
          </p:cNvSpPr>
          <p:nvPr>
            <p:ph idx="1"/>
          </p:nvPr>
        </p:nvSpPr>
        <p:spPr/>
        <p:txBody>
          <a:bodyPr/>
          <a:lstStyle/>
          <a:p>
            <a:r>
              <a:rPr lang="zh-CN" altLang="en-US" dirty="0"/>
              <a:t>平均利润率的下降</a:t>
            </a:r>
            <a:endParaRPr lang="en-US" altLang="zh-CN" dirty="0"/>
          </a:p>
          <a:p>
            <a:pPr lvl="1"/>
            <a:r>
              <a:rPr lang="zh-CN" altLang="en-US" dirty="0"/>
              <a:t>资本有机构成提高导致</a:t>
            </a:r>
            <a:endParaRPr lang="en-US" altLang="zh-CN" dirty="0"/>
          </a:p>
          <a:p>
            <a:pPr lvl="1"/>
            <a:r>
              <a:rPr lang="zh-CN" altLang="en-US" dirty="0"/>
              <a:t>但平均利润率下降并不排斥利润总量绝对增加</a:t>
            </a:r>
            <a:endParaRPr lang="en-US" altLang="zh-CN" dirty="0"/>
          </a:p>
          <a:p>
            <a:r>
              <a:rPr lang="zh-CN" altLang="en-US" dirty="0"/>
              <a:t>阻碍平均利润率下降的因素</a:t>
            </a:r>
            <a:endParaRPr lang="en-US" altLang="zh-CN" dirty="0"/>
          </a:p>
          <a:p>
            <a:pPr lvl="1"/>
            <a:r>
              <a:rPr lang="zh-CN" altLang="en-US" dirty="0"/>
              <a:t>劳动剥削程度的提高</a:t>
            </a:r>
            <a:endParaRPr lang="en-US" altLang="zh-CN" dirty="0"/>
          </a:p>
          <a:p>
            <a:pPr lvl="1"/>
            <a:r>
              <a:rPr lang="zh-CN" altLang="en-US" dirty="0"/>
              <a:t>工资被压到</a:t>
            </a:r>
            <a:r>
              <a:rPr lang="zh-CN" altLang="en-US"/>
              <a:t>劳动力</a:t>
            </a:r>
            <a:r>
              <a:rPr lang="zh-CN" altLang="en-US" smtClean="0"/>
              <a:t>价值以下</a:t>
            </a:r>
            <a:endParaRPr lang="en-US" altLang="zh-CN" dirty="0"/>
          </a:p>
          <a:p>
            <a:pPr lvl="1"/>
            <a:r>
              <a:rPr lang="zh-CN" altLang="en-US" dirty="0"/>
              <a:t>不变资本各要素变得更为便宜</a:t>
            </a:r>
            <a:endParaRPr lang="en-US" altLang="zh-CN" dirty="0"/>
          </a:p>
          <a:p>
            <a:pPr lvl="1"/>
            <a:r>
              <a:rPr lang="zh-CN" altLang="en-US" dirty="0"/>
              <a:t>相对过剩人口存在</a:t>
            </a:r>
            <a:endParaRPr lang="en-US" altLang="zh-CN" dirty="0"/>
          </a:p>
          <a:p>
            <a:pPr lvl="1"/>
            <a:r>
              <a:rPr lang="zh-CN" altLang="en-US" dirty="0"/>
              <a:t>对外贸易的发展</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1853475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平均利润率下降趋势</a:t>
            </a:r>
          </a:p>
        </p:txBody>
      </p:sp>
      <p:sp>
        <p:nvSpPr>
          <p:cNvPr id="3" name="内容占位符 2"/>
          <p:cNvSpPr>
            <a:spLocks noGrp="1"/>
          </p:cNvSpPr>
          <p:nvPr>
            <p:ph idx="1"/>
          </p:nvPr>
        </p:nvSpPr>
        <p:spPr/>
        <p:txBody>
          <a:bodyPr/>
          <a:lstStyle/>
          <a:p>
            <a:r>
              <a:rPr lang="zh-CN" altLang="en-US" dirty="0"/>
              <a:t>平均利润率下降规律内在矛盾的展开</a:t>
            </a:r>
            <a:endParaRPr lang="en-US" altLang="zh-CN" dirty="0"/>
          </a:p>
          <a:p>
            <a:pPr lvl="1"/>
            <a:r>
              <a:rPr lang="zh-CN" altLang="en-US" dirty="0"/>
              <a:t>生产扩大和价值增殖之间的矛盾</a:t>
            </a:r>
            <a:endParaRPr lang="en-US" altLang="zh-CN" dirty="0"/>
          </a:p>
          <a:p>
            <a:pPr lvl="1"/>
            <a:r>
              <a:rPr lang="zh-CN" altLang="en-US" dirty="0"/>
              <a:t>相对人口过剩和资本过剩的矛盾</a:t>
            </a:r>
            <a:endParaRPr lang="en-US" altLang="zh-CN" dirty="0"/>
          </a:p>
          <a:p>
            <a:pPr lvl="1"/>
            <a:r>
              <a:rPr lang="zh-CN" altLang="en-US" dirty="0"/>
              <a:t>剩余价值生产和剩余价值实现的矛盾</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1626918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endParaRPr lang="en-US" altLang="zh-CN" dirty="0"/>
          </a:p>
          <a:p>
            <a:endParaRPr lang="en-US" altLang="zh-CN" dirty="0"/>
          </a:p>
          <a:p>
            <a:endParaRPr lang="en-US" altLang="zh-CN" dirty="0"/>
          </a:p>
          <a:p>
            <a:r>
              <a:rPr lang="zh-CN" altLang="en-US" dirty="0"/>
              <a:t>第二节 商业利润、利息和地租</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3477319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商业资本</a:t>
            </a:r>
          </a:p>
        </p:txBody>
      </p:sp>
      <p:sp>
        <p:nvSpPr>
          <p:cNvPr id="3" name="内容占位符 2"/>
          <p:cNvSpPr>
            <a:spLocks noGrp="1"/>
          </p:cNvSpPr>
          <p:nvPr>
            <p:ph idx="1"/>
          </p:nvPr>
        </p:nvSpPr>
        <p:spPr/>
        <p:txBody>
          <a:bodyPr/>
          <a:lstStyle/>
          <a:p>
            <a:r>
              <a:rPr lang="zh-CN" altLang="en-US" dirty="0"/>
              <a:t>商业资本：从产业资本职能中分离出来的，独立地在流通领域发生作用的资本。</a:t>
            </a:r>
            <a:endParaRPr lang="en-US" altLang="zh-CN" dirty="0"/>
          </a:p>
          <a:p>
            <a:r>
              <a:rPr lang="zh-CN" altLang="en-US" dirty="0"/>
              <a:t>两个条件</a:t>
            </a:r>
            <a:endParaRPr lang="en-US" altLang="zh-CN" dirty="0"/>
          </a:p>
          <a:p>
            <a:pPr lvl="1"/>
            <a:r>
              <a:rPr lang="zh-CN" altLang="en-US" dirty="0"/>
              <a:t>产业资本家和商业资本家分工，从事商品买卖的独立业务</a:t>
            </a:r>
            <a:endParaRPr lang="en-US" altLang="zh-CN" dirty="0"/>
          </a:p>
          <a:p>
            <a:pPr lvl="1"/>
            <a:r>
              <a:rPr lang="zh-CN" altLang="en-US" dirty="0"/>
              <a:t>专门从事商品买卖的商人有自己的独立投资</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1064724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商业利润</a:t>
            </a:r>
          </a:p>
        </p:txBody>
      </p:sp>
      <p:sp>
        <p:nvSpPr>
          <p:cNvPr id="3" name="内容占位符 2"/>
          <p:cNvSpPr>
            <a:spLocks noGrp="1"/>
          </p:cNvSpPr>
          <p:nvPr>
            <p:ph idx="1"/>
          </p:nvPr>
        </p:nvSpPr>
        <p:spPr/>
        <p:txBody>
          <a:bodyPr/>
          <a:lstStyle/>
          <a:p>
            <a:r>
              <a:rPr lang="zh-CN" altLang="en-US" dirty="0"/>
              <a:t>商业利润是商业资本家从事商业经营活动所获得的利润</a:t>
            </a:r>
            <a:endParaRPr lang="en-US" altLang="zh-CN" dirty="0"/>
          </a:p>
          <a:p>
            <a:r>
              <a:rPr lang="zh-CN" altLang="en-US" dirty="0"/>
              <a:t>商业利润来自于商品销售价格和购买价格之间的差额，是产业资本家让渡给商业资本家的一部分剩余价值</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292228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商业利润</a:t>
            </a:r>
          </a:p>
        </p:txBody>
      </p:sp>
      <p:sp>
        <p:nvSpPr>
          <p:cNvPr id="3" name="内容占位符 2"/>
          <p:cNvSpPr>
            <a:spLocks noGrp="1"/>
          </p:cNvSpPr>
          <p:nvPr>
            <p:ph idx="1"/>
          </p:nvPr>
        </p:nvSpPr>
        <p:spPr/>
        <p:txBody>
          <a:bodyPr>
            <a:normAutofit fontScale="92500"/>
          </a:bodyPr>
          <a:lstStyle/>
          <a:p>
            <a:r>
              <a:rPr lang="zh-CN" altLang="en-US" dirty="0"/>
              <a:t>商业资本和产业资本一样获得平均利润，受平均利润率支配</a:t>
            </a:r>
            <a:endParaRPr lang="en-US" altLang="zh-CN" dirty="0"/>
          </a:p>
          <a:p>
            <a:pPr lvl="1"/>
            <a:r>
              <a:rPr lang="zh-CN" altLang="en-US" dirty="0"/>
              <a:t>产业资本</a:t>
            </a:r>
            <a:r>
              <a:rPr lang="en-US" altLang="zh-CN" dirty="0"/>
              <a:t>720c+180v=900</a:t>
            </a:r>
          </a:p>
          <a:p>
            <a:pPr lvl="1"/>
            <a:r>
              <a:rPr lang="zh-CN" altLang="en-US" dirty="0"/>
              <a:t>剩余价值率</a:t>
            </a:r>
            <a:r>
              <a:rPr lang="en-US" altLang="zh-CN" dirty="0"/>
              <a:t>100%</a:t>
            </a:r>
            <a:r>
              <a:rPr lang="zh-CN" altLang="en-US" dirty="0"/>
              <a:t>，剩余价值为</a:t>
            </a:r>
            <a:r>
              <a:rPr lang="en-US" altLang="zh-CN" dirty="0"/>
              <a:t>180</a:t>
            </a:r>
          </a:p>
          <a:p>
            <a:pPr lvl="1"/>
            <a:r>
              <a:rPr lang="zh-CN" altLang="en-US" dirty="0"/>
              <a:t>总价值为</a:t>
            </a:r>
            <a:r>
              <a:rPr lang="en-US" altLang="zh-CN" dirty="0"/>
              <a:t>1080</a:t>
            </a:r>
          </a:p>
          <a:p>
            <a:pPr lvl="1"/>
            <a:r>
              <a:rPr lang="zh-CN" altLang="en-US" dirty="0"/>
              <a:t>平均利润率为</a:t>
            </a:r>
            <a:r>
              <a:rPr lang="en-US" altLang="zh-CN" dirty="0"/>
              <a:t>180/900=20%</a:t>
            </a:r>
          </a:p>
          <a:p>
            <a:pPr lvl="1"/>
            <a:r>
              <a:rPr lang="zh-CN" altLang="en-US" dirty="0"/>
              <a:t>假如商业资本为</a:t>
            </a:r>
            <a:r>
              <a:rPr lang="en-US" altLang="zh-CN" dirty="0"/>
              <a:t>100</a:t>
            </a:r>
            <a:r>
              <a:rPr lang="zh-CN" altLang="en-US" dirty="0"/>
              <a:t>元，和产业资本一起参与</a:t>
            </a:r>
            <a:r>
              <a:rPr lang="en-US" altLang="zh-CN" dirty="0"/>
              <a:t>180</a:t>
            </a:r>
            <a:r>
              <a:rPr lang="zh-CN" altLang="en-US" dirty="0"/>
              <a:t>元剩余价值的分配，则社会平均利润率为</a:t>
            </a:r>
            <a:r>
              <a:rPr lang="en-US" altLang="zh-CN" dirty="0"/>
              <a:t>180/</a:t>
            </a:r>
            <a:r>
              <a:rPr lang="zh-CN" altLang="en-US" dirty="0"/>
              <a:t>（</a:t>
            </a:r>
            <a:r>
              <a:rPr lang="en-US" altLang="zh-CN" dirty="0"/>
              <a:t>900+100</a:t>
            </a:r>
            <a:r>
              <a:rPr lang="zh-CN" altLang="en-US" dirty="0"/>
              <a:t>）</a:t>
            </a:r>
            <a:r>
              <a:rPr lang="en-US" altLang="zh-CN" dirty="0"/>
              <a:t>=18%</a:t>
            </a:r>
          </a:p>
          <a:p>
            <a:pPr lvl="1"/>
            <a:r>
              <a:rPr lang="zh-CN" altLang="en-US" dirty="0"/>
              <a:t>产业资本利润为</a:t>
            </a:r>
            <a:r>
              <a:rPr lang="en-US" altLang="zh-CN" dirty="0"/>
              <a:t>900</a:t>
            </a:r>
            <a:r>
              <a:rPr lang="zh-CN" altLang="en-US" dirty="0"/>
              <a:t>*</a:t>
            </a:r>
            <a:r>
              <a:rPr lang="en-US" altLang="zh-CN" dirty="0"/>
              <a:t>18%=162</a:t>
            </a:r>
            <a:r>
              <a:rPr lang="zh-CN" altLang="en-US" dirty="0"/>
              <a:t>，则卖给商业资本家为</a:t>
            </a:r>
            <a:r>
              <a:rPr lang="en-US" altLang="zh-CN" dirty="0"/>
              <a:t>900+162=1062</a:t>
            </a:r>
            <a:r>
              <a:rPr lang="zh-CN" altLang="en-US" dirty="0"/>
              <a:t>元</a:t>
            </a:r>
            <a:endParaRPr lang="en-US" altLang="zh-CN" dirty="0"/>
          </a:p>
          <a:p>
            <a:pPr lvl="1"/>
            <a:r>
              <a:rPr lang="zh-CN" altLang="en-US" dirty="0"/>
              <a:t>商业资本的售价为</a:t>
            </a:r>
            <a:r>
              <a:rPr lang="en-US" altLang="zh-CN" dirty="0"/>
              <a:t>1062+18=1080</a:t>
            </a:r>
            <a:r>
              <a:rPr lang="zh-CN" altLang="en-US" dirty="0"/>
              <a:t>元</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36558489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51E261-9223-49CB-A11B-EF3B3DD0299B}"/>
              </a:ext>
            </a:extLst>
          </p:cNvPr>
          <p:cNvSpPr>
            <a:spLocks noGrp="1"/>
          </p:cNvSpPr>
          <p:nvPr>
            <p:ph type="title"/>
          </p:nvPr>
        </p:nvSpPr>
        <p:spPr/>
        <p:txBody>
          <a:bodyPr/>
          <a:lstStyle/>
          <a:p>
            <a:r>
              <a:rPr lang="zh-CN" altLang="en-US" dirty="0"/>
              <a:t>剩余价值的分配（商业利润）</a:t>
            </a:r>
          </a:p>
        </p:txBody>
      </p:sp>
      <p:sp>
        <p:nvSpPr>
          <p:cNvPr id="3" name="内容占位符 2">
            <a:extLst>
              <a:ext uri="{FF2B5EF4-FFF2-40B4-BE49-F238E27FC236}">
                <a16:creationId xmlns:a16="http://schemas.microsoft.com/office/drawing/2014/main" id="{E36034F6-6A96-4FE2-B706-3D81B2CB6DE6}"/>
              </a:ext>
            </a:extLst>
          </p:cNvPr>
          <p:cNvSpPr>
            <a:spLocks noGrp="1"/>
          </p:cNvSpPr>
          <p:nvPr>
            <p:ph idx="1"/>
          </p:nvPr>
        </p:nvSpPr>
        <p:spPr/>
        <p:txBody>
          <a:bodyPr>
            <a:normAutofit fontScale="92500"/>
          </a:bodyPr>
          <a:lstStyle/>
          <a:p>
            <a:r>
              <a:rPr lang="zh-CN" altLang="en-US" dirty="0"/>
              <a:t>产业部门预付的不变资本</a:t>
            </a:r>
            <a:r>
              <a:rPr lang="en-US" altLang="zh-CN" dirty="0"/>
              <a:t>19200</a:t>
            </a:r>
            <a:r>
              <a:rPr lang="zh-CN" altLang="en-US" dirty="0"/>
              <a:t>万元，其中固定资本</a:t>
            </a:r>
            <a:r>
              <a:rPr lang="en-US" altLang="zh-CN" dirty="0"/>
              <a:t>15250</a:t>
            </a:r>
            <a:r>
              <a:rPr lang="zh-CN" altLang="en-US" dirty="0"/>
              <a:t>万元，使用年限为</a:t>
            </a:r>
            <a:r>
              <a:rPr lang="en-US" altLang="zh-CN" dirty="0"/>
              <a:t>5</a:t>
            </a:r>
            <a:r>
              <a:rPr lang="zh-CN" altLang="en-US" dirty="0"/>
              <a:t>年，可变资本</a:t>
            </a:r>
            <a:r>
              <a:rPr lang="en-US" altLang="zh-CN" dirty="0"/>
              <a:t>2000</a:t>
            </a:r>
            <a:r>
              <a:rPr lang="zh-CN" altLang="en-US" dirty="0"/>
              <a:t>万元，剩余价值率</a:t>
            </a:r>
            <a:r>
              <a:rPr lang="en-US" altLang="zh-CN" dirty="0"/>
              <a:t>200%</a:t>
            </a:r>
            <a:r>
              <a:rPr lang="zh-CN" altLang="en-US" dirty="0"/>
              <a:t>；商业部门所用资本与所费资本相等，生产工人剩余价值率为</a:t>
            </a:r>
            <a:r>
              <a:rPr lang="en-US" altLang="zh-CN" dirty="0"/>
              <a:t>200%</a:t>
            </a:r>
            <a:r>
              <a:rPr lang="zh-CN" altLang="en-US" dirty="0"/>
              <a:t>，预付资本为情况为：购进商品资本</a:t>
            </a:r>
            <a:r>
              <a:rPr lang="en-US" altLang="zh-CN" dirty="0"/>
              <a:t>1200</a:t>
            </a:r>
            <a:r>
              <a:rPr lang="zh-CN" altLang="en-US" dirty="0"/>
              <a:t>万元，保管费用</a:t>
            </a:r>
            <a:r>
              <a:rPr lang="en-US" altLang="zh-CN" dirty="0"/>
              <a:t>400</a:t>
            </a:r>
            <a:r>
              <a:rPr lang="zh-CN" altLang="en-US" dirty="0"/>
              <a:t>万元（</a:t>
            </a:r>
            <a:r>
              <a:rPr lang="en-US" altLang="zh-CN" dirty="0"/>
              <a:t>300c</a:t>
            </a:r>
            <a:r>
              <a:rPr lang="zh-CN" altLang="en-US" dirty="0"/>
              <a:t>、</a:t>
            </a:r>
            <a:r>
              <a:rPr lang="en-US" altLang="zh-CN" dirty="0"/>
              <a:t>100v</a:t>
            </a:r>
            <a:r>
              <a:rPr lang="zh-CN" altLang="en-US" dirty="0"/>
              <a:t>），运输费用</a:t>
            </a:r>
            <a:r>
              <a:rPr lang="en-US" altLang="zh-CN" dirty="0"/>
              <a:t>500</a:t>
            </a:r>
            <a:r>
              <a:rPr lang="zh-CN" altLang="en-US" dirty="0"/>
              <a:t>万元（</a:t>
            </a:r>
            <a:r>
              <a:rPr lang="en-US" altLang="zh-CN" dirty="0"/>
              <a:t>400c</a:t>
            </a:r>
            <a:r>
              <a:rPr lang="zh-CN" altLang="en-US" dirty="0"/>
              <a:t>、</a:t>
            </a:r>
            <a:r>
              <a:rPr lang="en-US" altLang="zh-CN" dirty="0"/>
              <a:t>100v</a:t>
            </a:r>
            <a:r>
              <a:rPr lang="zh-CN" altLang="en-US" dirty="0"/>
              <a:t>），纯粹流通费用</a:t>
            </a:r>
            <a:r>
              <a:rPr lang="en-US" altLang="zh-CN" dirty="0"/>
              <a:t>200</a:t>
            </a:r>
            <a:r>
              <a:rPr lang="zh-CN" altLang="en-US" dirty="0"/>
              <a:t>万元。计算</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）平均利润率？（</a:t>
            </a:r>
            <a:r>
              <a:rPr lang="en-US" altLang="zh-CN" dirty="0">
                <a:sym typeface="Wingdings" panose="05000000000000000000" pitchFamily="2" charset="2"/>
              </a:rPr>
              <a:t>2</a:t>
            </a:r>
            <a:r>
              <a:rPr lang="zh-CN" altLang="en-US" dirty="0">
                <a:sym typeface="Wingdings" panose="05000000000000000000" pitchFamily="2" charset="2"/>
              </a:rPr>
              <a:t>）产业资本家获得的平均利润多少？（</a:t>
            </a:r>
            <a:r>
              <a:rPr lang="en-US" altLang="zh-CN" dirty="0">
                <a:sym typeface="Wingdings" panose="05000000000000000000" pitchFamily="2" charset="2"/>
              </a:rPr>
              <a:t>3</a:t>
            </a:r>
            <a:r>
              <a:rPr lang="zh-CN" altLang="en-US" dirty="0">
                <a:sym typeface="Wingdings" panose="05000000000000000000" pitchFamily="2" charset="2"/>
              </a:rPr>
              <a:t>）商业资本家售卖商品的生产价格是多少？</a:t>
            </a:r>
            <a:endParaRPr lang="zh-CN" altLang="en-US" dirty="0"/>
          </a:p>
        </p:txBody>
      </p:sp>
      <p:sp>
        <p:nvSpPr>
          <p:cNvPr id="4" name="灯片编号占位符 3">
            <a:extLst>
              <a:ext uri="{FF2B5EF4-FFF2-40B4-BE49-F238E27FC236}">
                <a16:creationId xmlns:a16="http://schemas.microsoft.com/office/drawing/2014/main" id="{5EDB9482-4D69-4649-92D8-F60D22A1DA3D}"/>
              </a:ext>
            </a:extLst>
          </p:cNvPr>
          <p:cNvSpPr>
            <a:spLocks noGrp="1"/>
          </p:cNvSpPr>
          <p:nvPr>
            <p:ph type="sldNum" sz="quarter" idx="12"/>
          </p:nvPr>
        </p:nvSpPr>
        <p:spPr/>
        <p:txBody>
          <a:bodyPr/>
          <a:lstStyle/>
          <a:p>
            <a:fld id="{10F2143F-0457-4E80-A290-5DB1806D65E5}" type="slidenum">
              <a:rPr lang="zh-CN" altLang="en-US" smtClean="0"/>
              <a:t>16</a:t>
            </a:fld>
            <a:endParaRPr lang="zh-CN" altLang="en-US"/>
          </a:p>
        </p:txBody>
      </p:sp>
    </p:spTree>
    <p:extLst>
      <p:ext uri="{BB962C8B-B14F-4D97-AF65-F5344CB8AC3E}">
        <p14:creationId xmlns:p14="http://schemas.microsoft.com/office/powerpoint/2010/main" val="2098973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061033-1B21-47E6-A976-48FA718BD1F9}"/>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43803D47-36D1-4320-A438-1A603BB5FDF4}"/>
              </a:ext>
            </a:extLst>
          </p:cNvPr>
          <p:cNvSpPr>
            <a:spLocks noGrp="1"/>
          </p:cNvSpPr>
          <p:nvPr>
            <p:ph idx="1"/>
          </p:nvPr>
        </p:nvSpPr>
        <p:spPr/>
        <p:txBody>
          <a:bodyPr/>
          <a:lstStyle/>
          <a:p>
            <a:r>
              <a:rPr lang="zh-CN" altLang="en-US" dirty="0"/>
              <a:t>剩余价值：</a:t>
            </a:r>
            <a:r>
              <a:rPr lang="en-US" altLang="zh-CN" dirty="0"/>
              <a:t>2000</a:t>
            </a:r>
            <a:r>
              <a:rPr lang="zh-CN" altLang="en-US" dirty="0"/>
              <a:t>*</a:t>
            </a:r>
            <a:r>
              <a:rPr lang="en-US" altLang="zh-CN" dirty="0"/>
              <a:t>2+100</a:t>
            </a:r>
            <a:r>
              <a:rPr lang="zh-CN" altLang="en-US" dirty="0"/>
              <a:t>*</a:t>
            </a:r>
            <a:r>
              <a:rPr lang="en-US" altLang="zh-CN" dirty="0"/>
              <a:t>2+100</a:t>
            </a:r>
            <a:r>
              <a:rPr lang="zh-CN" altLang="en-US" dirty="0"/>
              <a:t>*</a:t>
            </a:r>
            <a:r>
              <a:rPr lang="en-US" altLang="zh-CN" dirty="0"/>
              <a:t>2=4400</a:t>
            </a:r>
          </a:p>
          <a:p>
            <a:r>
              <a:rPr lang="zh-CN" altLang="en-US" dirty="0"/>
              <a:t>产业资本投入：</a:t>
            </a:r>
            <a:r>
              <a:rPr lang="en-US" altLang="zh-CN" dirty="0"/>
              <a:t>19200+2000=21200</a:t>
            </a:r>
          </a:p>
          <a:p>
            <a:r>
              <a:rPr lang="zh-CN" altLang="en-US" dirty="0"/>
              <a:t>商业资本投入：</a:t>
            </a:r>
            <a:r>
              <a:rPr lang="en-US" altLang="zh-CN" dirty="0"/>
              <a:t>1200+400+500+200=2300</a:t>
            </a:r>
          </a:p>
          <a:p>
            <a:r>
              <a:rPr lang="zh-CN" altLang="en-US" dirty="0"/>
              <a:t>平均利润率</a:t>
            </a:r>
            <a:r>
              <a:rPr lang="en-US" altLang="zh-CN" dirty="0"/>
              <a:t>=</a:t>
            </a:r>
            <a:r>
              <a:rPr lang="zh-CN" altLang="en-US" dirty="0"/>
              <a:t>（</a:t>
            </a:r>
            <a:r>
              <a:rPr lang="en-US" altLang="zh-CN" dirty="0"/>
              <a:t>4400-200</a:t>
            </a:r>
            <a:r>
              <a:rPr lang="zh-CN" altLang="en-US" dirty="0"/>
              <a:t>）</a:t>
            </a:r>
            <a:r>
              <a:rPr lang="en-US" altLang="zh-CN" dirty="0"/>
              <a:t>/(21200+2300)=17.87%</a:t>
            </a:r>
          </a:p>
          <a:p>
            <a:r>
              <a:rPr lang="zh-CN" altLang="en-US" dirty="0"/>
              <a:t>产业资本获得的利润为：</a:t>
            </a:r>
            <a:r>
              <a:rPr lang="en-US" altLang="zh-CN" dirty="0"/>
              <a:t>21200</a:t>
            </a:r>
            <a:r>
              <a:rPr lang="zh-CN" altLang="en-US" dirty="0"/>
              <a:t>*</a:t>
            </a:r>
            <a:r>
              <a:rPr lang="en-US" altLang="zh-CN" dirty="0"/>
              <a:t>17.87%=3789</a:t>
            </a:r>
            <a:r>
              <a:rPr lang="zh-CN" altLang="en-US" dirty="0"/>
              <a:t>万元</a:t>
            </a:r>
            <a:endParaRPr lang="en-US" altLang="zh-CN" dirty="0"/>
          </a:p>
          <a:p>
            <a:endParaRPr lang="zh-CN" altLang="en-US" dirty="0"/>
          </a:p>
        </p:txBody>
      </p:sp>
      <p:sp>
        <p:nvSpPr>
          <p:cNvPr id="4" name="灯片编号占位符 3">
            <a:extLst>
              <a:ext uri="{FF2B5EF4-FFF2-40B4-BE49-F238E27FC236}">
                <a16:creationId xmlns:a16="http://schemas.microsoft.com/office/drawing/2014/main" id="{CBA828FA-87DA-4F0E-8698-5336DE54370A}"/>
              </a:ext>
            </a:extLst>
          </p:cNvPr>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4211441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E71241-1680-4C6E-914C-D55E4D60BE86}"/>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F7C2091A-972E-44DC-B329-0D8838AF6B9F}"/>
              </a:ext>
            </a:extLst>
          </p:cNvPr>
          <p:cNvSpPr>
            <a:spLocks noGrp="1"/>
          </p:cNvSpPr>
          <p:nvPr>
            <p:ph idx="1"/>
          </p:nvPr>
        </p:nvSpPr>
        <p:spPr/>
        <p:txBody>
          <a:bodyPr/>
          <a:lstStyle/>
          <a:p>
            <a:r>
              <a:rPr lang="zh-CN" altLang="en-US" dirty="0"/>
              <a:t>生产成本</a:t>
            </a:r>
            <a:endParaRPr lang="en-US" altLang="zh-CN" dirty="0"/>
          </a:p>
          <a:p>
            <a:pPr lvl="1"/>
            <a:r>
              <a:rPr lang="en-US" altLang="zh-CN" dirty="0"/>
              <a:t>15250/5+(19200-15250)+2000=9000</a:t>
            </a:r>
          </a:p>
          <a:p>
            <a:r>
              <a:rPr lang="zh-CN" altLang="en-US" dirty="0"/>
              <a:t>出厂价</a:t>
            </a:r>
            <a:r>
              <a:rPr lang="en-US" altLang="zh-CN" dirty="0"/>
              <a:t>=</a:t>
            </a:r>
            <a:r>
              <a:rPr lang="zh-CN" altLang="en-US" dirty="0"/>
              <a:t>生产成本</a:t>
            </a:r>
            <a:r>
              <a:rPr lang="en-US" altLang="zh-CN" dirty="0"/>
              <a:t>+</a:t>
            </a:r>
            <a:r>
              <a:rPr lang="zh-CN" altLang="en-US" dirty="0"/>
              <a:t>产业资本平均利润</a:t>
            </a:r>
            <a:endParaRPr lang="en-US" altLang="zh-CN" dirty="0"/>
          </a:p>
          <a:p>
            <a:pPr lvl="1"/>
            <a:r>
              <a:rPr lang="en-US" altLang="zh-CN" dirty="0"/>
              <a:t>9000+3789=12789</a:t>
            </a:r>
          </a:p>
          <a:p>
            <a:r>
              <a:rPr lang="zh-CN" altLang="en-US" dirty="0"/>
              <a:t>卖给消费者的价格</a:t>
            </a:r>
            <a:endParaRPr lang="en-US" altLang="zh-CN" dirty="0"/>
          </a:p>
          <a:p>
            <a:pPr lvl="1"/>
            <a:r>
              <a:rPr lang="zh-CN" altLang="en-US" dirty="0"/>
              <a:t>出厂价</a:t>
            </a:r>
            <a:r>
              <a:rPr lang="en-US" altLang="zh-CN" dirty="0"/>
              <a:t>+</a:t>
            </a:r>
            <a:r>
              <a:rPr lang="zh-CN" altLang="en-US" dirty="0"/>
              <a:t>商业资本平均利润</a:t>
            </a:r>
            <a:r>
              <a:rPr lang="en-US" altLang="zh-CN" dirty="0"/>
              <a:t>+</a:t>
            </a:r>
            <a:r>
              <a:rPr lang="zh-CN" altLang="en-US" dirty="0"/>
              <a:t>保管费</a:t>
            </a:r>
            <a:r>
              <a:rPr lang="en-US" altLang="zh-CN" dirty="0"/>
              <a:t>+</a:t>
            </a:r>
            <a:r>
              <a:rPr lang="zh-CN" altLang="en-US" dirty="0"/>
              <a:t>运输费</a:t>
            </a:r>
            <a:r>
              <a:rPr lang="en-US" altLang="zh-CN" dirty="0"/>
              <a:t>+</a:t>
            </a:r>
            <a:r>
              <a:rPr lang="zh-CN" altLang="en-US" dirty="0"/>
              <a:t>纯粹流通费用</a:t>
            </a:r>
            <a:endParaRPr lang="en-US" altLang="zh-CN" dirty="0"/>
          </a:p>
          <a:p>
            <a:pPr lvl="1"/>
            <a:r>
              <a:rPr lang="en-US" altLang="zh-CN" dirty="0"/>
              <a:t>=12789+2300</a:t>
            </a:r>
            <a:r>
              <a:rPr lang="zh-CN" altLang="en-US" dirty="0"/>
              <a:t>*</a:t>
            </a:r>
            <a:r>
              <a:rPr lang="en-US" altLang="zh-CN" dirty="0"/>
              <a:t>17.87%+400+500+200=14300</a:t>
            </a:r>
            <a:r>
              <a:rPr lang="zh-CN" altLang="en-US" dirty="0"/>
              <a:t>万元</a:t>
            </a:r>
            <a:endParaRPr lang="en-US" altLang="zh-CN" dirty="0"/>
          </a:p>
          <a:p>
            <a:endParaRPr lang="zh-CN" altLang="en-US" dirty="0"/>
          </a:p>
        </p:txBody>
      </p:sp>
      <p:sp>
        <p:nvSpPr>
          <p:cNvPr id="4" name="灯片编号占位符 3">
            <a:extLst>
              <a:ext uri="{FF2B5EF4-FFF2-40B4-BE49-F238E27FC236}">
                <a16:creationId xmlns:a16="http://schemas.microsoft.com/office/drawing/2014/main" id="{FCFB5D5A-8715-42CF-A093-CDF465F734BA}"/>
              </a:ext>
            </a:extLst>
          </p:cNvPr>
          <p:cNvSpPr>
            <a:spLocks noGrp="1"/>
          </p:cNvSpPr>
          <p:nvPr>
            <p:ph type="sldNum" sz="quarter" idx="12"/>
          </p:nvPr>
        </p:nvSpPr>
        <p:spPr/>
        <p:txBody>
          <a:bodyPr/>
          <a:lstStyle/>
          <a:p>
            <a:fld id="{10F2143F-0457-4E80-A290-5DB1806D65E5}" type="slidenum">
              <a:rPr lang="zh-CN" altLang="en-US" smtClean="0"/>
              <a:t>18</a:t>
            </a:fld>
            <a:endParaRPr lang="zh-CN" altLang="en-US"/>
          </a:p>
        </p:txBody>
      </p:sp>
    </p:spTree>
    <p:extLst>
      <p:ext uri="{BB962C8B-B14F-4D97-AF65-F5344CB8AC3E}">
        <p14:creationId xmlns:p14="http://schemas.microsoft.com/office/powerpoint/2010/main" val="5062049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借贷资本</a:t>
            </a:r>
          </a:p>
        </p:txBody>
      </p:sp>
      <p:sp>
        <p:nvSpPr>
          <p:cNvPr id="3" name="内容占位符 2"/>
          <p:cNvSpPr>
            <a:spLocks noGrp="1"/>
          </p:cNvSpPr>
          <p:nvPr>
            <p:ph idx="1"/>
          </p:nvPr>
        </p:nvSpPr>
        <p:spPr/>
        <p:txBody>
          <a:bodyPr/>
          <a:lstStyle/>
          <a:p>
            <a:r>
              <a:rPr lang="zh-CN" altLang="en-US" dirty="0"/>
              <a:t>从职能资本运动过程中暂时游离出来的货币资本，为获取利息而借贷出去时，就转化为借贷资本</a:t>
            </a:r>
            <a:endParaRPr lang="en-US" altLang="zh-CN" dirty="0"/>
          </a:p>
          <a:p>
            <a:r>
              <a:rPr lang="zh-CN" altLang="en-US" dirty="0"/>
              <a:t>借贷资本是借贷资本家为了获取利息而暂时贷给职能资本家的货币资本</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19</a:t>
            </a:fld>
            <a:endParaRPr lang="zh-CN" altLang="en-US"/>
          </a:p>
        </p:txBody>
      </p:sp>
    </p:spTree>
    <p:extLst>
      <p:ext uri="{BB962C8B-B14F-4D97-AF65-F5344CB8AC3E}">
        <p14:creationId xmlns:p14="http://schemas.microsoft.com/office/powerpoint/2010/main" val="3885462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利息</a:t>
            </a:r>
          </a:p>
        </p:txBody>
      </p:sp>
      <p:sp>
        <p:nvSpPr>
          <p:cNvPr id="3" name="内容占位符 2"/>
          <p:cNvSpPr>
            <a:spLocks noGrp="1"/>
          </p:cNvSpPr>
          <p:nvPr>
            <p:ph idx="1"/>
          </p:nvPr>
        </p:nvSpPr>
        <p:spPr/>
        <p:txBody>
          <a:bodyPr/>
          <a:lstStyle/>
          <a:p>
            <a:r>
              <a:rPr lang="zh-CN" altLang="en-US" dirty="0"/>
              <a:t>利息就是职能资本家使用借贷资本而让渡给借贷资本家的一部分剩余价值</a:t>
            </a:r>
            <a:endParaRPr lang="en-US" altLang="zh-CN" dirty="0"/>
          </a:p>
          <a:p>
            <a:r>
              <a:rPr lang="zh-CN" altLang="en-US" dirty="0"/>
              <a:t>平均利润分为：企业利润（产业利润、商业利润）</a:t>
            </a:r>
            <a:r>
              <a:rPr lang="en-US" altLang="zh-CN" dirty="0"/>
              <a:t>+</a:t>
            </a:r>
            <a:r>
              <a:rPr lang="zh-CN" altLang="en-US" dirty="0"/>
              <a:t>利息</a:t>
            </a:r>
            <a:endParaRPr lang="en-US" altLang="zh-CN" dirty="0"/>
          </a:p>
          <a:p>
            <a:r>
              <a:rPr lang="zh-CN" altLang="en-US" dirty="0"/>
              <a:t>利息率：一定时期内的利息量与借贷资本总额的比率</a:t>
            </a:r>
            <a:endParaRPr lang="en-US" altLang="zh-CN" dirty="0"/>
          </a:p>
          <a:p>
            <a:pPr lvl="1"/>
            <a:r>
              <a:rPr lang="zh-CN" altLang="en-US" dirty="0"/>
              <a:t>利息率在平均利润率和零之间波动</a:t>
            </a:r>
            <a:endParaRPr lang="en-US" altLang="zh-CN" dirty="0"/>
          </a:p>
          <a:p>
            <a:pPr lvl="1"/>
            <a:r>
              <a:rPr lang="zh-CN" altLang="en-US" dirty="0"/>
              <a:t>利息率受平均利润率的高低影响，也受借贷资本供求状况的影响</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22373693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银行利润</a:t>
            </a:r>
          </a:p>
        </p:txBody>
      </p:sp>
      <p:sp>
        <p:nvSpPr>
          <p:cNvPr id="3" name="内容占位符 2"/>
          <p:cNvSpPr>
            <a:spLocks noGrp="1"/>
          </p:cNvSpPr>
          <p:nvPr>
            <p:ph idx="1"/>
          </p:nvPr>
        </p:nvSpPr>
        <p:spPr/>
        <p:txBody>
          <a:bodyPr/>
          <a:lstStyle/>
          <a:p>
            <a:r>
              <a:rPr lang="zh-CN" altLang="en-US" dirty="0"/>
              <a:t>银行资本</a:t>
            </a:r>
            <a:endParaRPr lang="en-US" altLang="zh-CN" dirty="0"/>
          </a:p>
          <a:p>
            <a:pPr lvl="1"/>
            <a:r>
              <a:rPr lang="zh-CN" altLang="en-US" dirty="0"/>
              <a:t>自有资本：银行资本家自己投入的资本</a:t>
            </a:r>
            <a:endParaRPr lang="en-US" altLang="zh-CN" dirty="0"/>
          </a:p>
          <a:p>
            <a:pPr lvl="1"/>
            <a:r>
              <a:rPr lang="zh-CN" altLang="en-US" dirty="0"/>
              <a:t>借入资本：银行吸收的存款</a:t>
            </a:r>
            <a:endParaRPr lang="en-US" altLang="zh-CN" dirty="0"/>
          </a:p>
          <a:p>
            <a:r>
              <a:rPr lang="zh-CN" altLang="en-US" dirty="0"/>
              <a:t>银行利润</a:t>
            </a:r>
            <a:endParaRPr lang="en-US" altLang="zh-CN" dirty="0"/>
          </a:p>
          <a:p>
            <a:pPr lvl="1"/>
            <a:r>
              <a:rPr lang="zh-CN" altLang="en-US" dirty="0"/>
              <a:t>存款利息和贷款利息的差额再减去经营银行的业务费用</a:t>
            </a:r>
            <a:endParaRPr lang="en-US" altLang="zh-CN" dirty="0"/>
          </a:p>
          <a:p>
            <a:pPr lvl="1"/>
            <a:r>
              <a:rPr lang="zh-CN" altLang="en-US" dirty="0"/>
              <a:t>在数量上相当于银行资本家自有资本所获得的平均利润</a:t>
            </a:r>
            <a:endParaRPr lang="en-US" altLang="zh-CN" dirty="0"/>
          </a:p>
          <a:p>
            <a:pPr lvl="1"/>
            <a:r>
              <a:rPr lang="zh-CN" altLang="en-US" dirty="0"/>
              <a:t>其来源是生产部门的雇佣工人所创造的剩余价值</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1711479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资本主义地租</a:t>
            </a:r>
          </a:p>
        </p:txBody>
      </p:sp>
      <p:sp>
        <p:nvSpPr>
          <p:cNvPr id="3" name="内容占位符 2"/>
          <p:cNvSpPr>
            <a:spLocks noGrp="1"/>
          </p:cNvSpPr>
          <p:nvPr>
            <p:ph idx="1"/>
          </p:nvPr>
        </p:nvSpPr>
        <p:spPr/>
        <p:txBody>
          <a:bodyPr/>
          <a:lstStyle/>
          <a:p>
            <a:r>
              <a:rPr lang="zh-CN" altLang="en-US" dirty="0"/>
              <a:t>资本主义土地私有制建立的两种方式</a:t>
            </a:r>
            <a:endParaRPr lang="en-US" altLang="zh-CN" dirty="0"/>
          </a:p>
          <a:p>
            <a:pPr lvl="1"/>
            <a:r>
              <a:rPr lang="zh-CN" altLang="en-US" dirty="0"/>
              <a:t>普鲁士式的道路：封建地主经济通过改良方式，采用雇佣劳动，按照资本主义经营方式改造地主庄园</a:t>
            </a:r>
            <a:endParaRPr lang="en-US" altLang="zh-CN" dirty="0"/>
          </a:p>
          <a:p>
            <a:pPr lvl="1"/>
            <a:r>
              <a:rPr lang="zh-CN" altLang="en-US" dirty="0"/>
              <a:t>美国式道路：自由农民土地所有制基础上农业资本主义发展道路，小农经济两级分化形成资本主义大农场</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596286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资本主义土地私有制的三类参与者</a:t>
            </a:r>
          </a:p>
        </p:txBody>
      </p:sp>
      <p:sp>
        <p:nvSpPr>
          <p:cNvPr id="3" name="内容占位符 2"/>
          <p:cNvSpPr>
            <a:spLocks noGrp="1"/>
          </p:cNvSpPr>
          <p:nvPr>
            <p:ph idx="1"/>
          </p:nvPr>
        </p:nvSpPr>
        <p:spPr/>
        <p:txBody>
          <a:bodyPr/>
          <a:lstStyle/>
          <a:p>
            <a:r>
              <a:rPr lang="zh-CN" altLang="en-US" dirty="0"/>
              <a:t>土地所有者</a:t>
            </a:r>
            <a:endParaRPr lang="en-US" altLang="zh-CN" dirty="0"/>
          </a:p>
          <a:p>
            <a:pPr lvl="1"/>
            <a:r>
              <a:rPr lang="zh-CN" altLang="en-US" dirty="0"/>
              <a:t>集中掌握土地，把土地租给农业资本家</a:t>
            </a:r>
            <a:endParaRPr lang="en-US" altLang="zh-CN" dirty="0"/>
          </a:p>
          <a:p>
            <a:r>
              <a:rPr lang="zh-CN" altLang="en-US" dirty="0"/>
              <a:t>农业资本家</a:t>
            </a:r>
            <a:endParaRPr lang="en-US" altLang="zh-CN" dirty="0"/>
          </a:p>
          <a:p>
            <a:pPr lvl="1"/>
            <a:r>
              <a:rPr lang="zh-CN" altLang="en-US" dirty="0"/>
              <a:t>雇佣工人，采取剥削雇佣劳动的方式从事农场经营</a:t>
            </a:r>
            <a:endParaRPr lang="en-US" altLang="zh-CN" dirty="0"/>
          </a:p>
          <a:p>
            <a:pPr lvl="1"/>
            <a:r>
              <a:rPr lang="zh-CN" altLang="en-US" dirty="0"/>
              <a:t>将剩余价值的一部分（超额利润）以地租形式缴纳给土地所有者</a:t>
            </a:r>
            <a:endParaRPr lang="en-US" altLang="zh-CN" dirty="0"/>
          </a:p>
          <a:p>
            <a:r>
              <a:rPr lang="zh-CN" altLang="en-US" dirty="0"/>
              <a:t>农业工人</a:t>
            </a:r>
            <a:endParaRPr lang="en-US" altLang="zh-CN" dirty="0"/>
          </a:p>
          <a:p>
            <a:pPr lvl="1"/>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21163317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级差地租</a:t>
            </a:r>
          </a:p>
        </p:txBody>
      </p:sp>
      <p:sp>
        <p:nvSpPr>
          <p:cNvPr id="3" name="内容占位符 2"/>
          <p:cNvSpPr>
            <a:spLocks noGrp="1"/>
          </p:cNvSpPr>
          <p:nvPr>
            <p:ph idx="1"/>
          </p:nvPr>
        </p:nvSpPr>
        <p:spPr/>
        <p:txBody>
          <a:bodyPr>
            <a:normAutofit/>
          </a:bodyPr>
          <a:lstStyle/>
          <a:p>
            <a:r>
              <a:rPr lang="zh-CN" altLang="en-US" dirty="0" smtClean="0"/>
              <a:t>级差地租</a:t>
            </a:r>
            <a:r>
              <a:rPr lang="zh-CN" altLang="en-US" dirty="0"/>
              <a:t>：</a:t>
            </a:r>
            <a:r>
              <a:rPr lang="zh-CN" altLang="en-US" dirty="0" smtClean="0"/>
              <a:t>资本主义级差地租</a:t>
            </a:r>
            <a:r>
              <a:rPr lang="zh-CN" altLang="en-US" dirty="0"/>
              <a:t>是与土地的不同等级相联系的地租，由农产品的个别生产价格低于社会生产价格的超额利润所构成的（农产品的社会生产价格是由劣等地的生产条件来决定）</a:t>
            </a:r>
            <a:endParaRPr lang="en-US" altLang="zh-CN" dirty="0"/>
          </a:p>
          <a:p>
            <a:pPr lvl="1"/>
            <a:r>
              <a:rPr lang="zh-CN" altLang="en-US" dirty="0"/>
              <a:t>级</a:t>
            </a:r>
            <a:r>
              <a:rPr lang="zh-CN" altLang="en-US" dirty="0" smtClean="0"/>
              <a:t>差地租</a:t>
            </a:r>
            <a:r>
              <a:rPr lang="en-US" altLang="zh-CN" dirty="0"/>
              <a:t>I</a:t>
            </a:r>
            <a:r>
              <a:rPr lang="zh-CN" altLang="en-US" dirty="0"/>
              <a:t>：由于土地肥沃程度和地理位置的差异而形成的地租</a:t>
            </a:r>
            <a:endParaRPr lang="en-US" altLang="zh-CN" dirty="0"/>
          </a:p>
          <a:p>
            <a:pPr lvl="1"/>
            <a:r>
              <a:rPr lang="zh-CN" altLang="en-US" dirty="0"/>
              <a:t>级差地租</a:t>
            </a:r>
            <a:r>
              <a:rPr lang="en-US" altLang="zh-CN" dirty="0"/>
              <a:t>II</a:t>
            </a:r>
            <a:r>
              <a:rPr lang="zh-CN" altLang="en-US" dirty="0"/>
              <a:t>：由于在同一块土地上连续追加投资所形成的地租</a:t>
            </a:r>
            <a:endParaRPr lang="en-US" altLang="zh-CN"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24</a:t>
            </a:fld>
            <a:endParaRPr lang="zh-CN" altLang="en-US"/>
          </a:p>
        </p:txBody>
      </p:sp>
    </p:spTree>
    <p:extLst>
      <p:ext uri="{BB962C8B-B14F-4D97-AF65-F5344CB8AC3E}">
        <p14:creationId xmlns:p14="http://schemas.microsoft.com/office/powerpoint/2010/main" val="4212343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级</a:t>
            </a:r>
            <a:r>
              <a:rPr lang="zh-CN" altLang="en-US" dirty="0" smtClean="0"/>
              <a:t>差地租</a:t>
            </a:r>
            <a:r>
              <a:rPr lang="en-US" altLang="zh-CN" dirty="0"/>
              <a:t>I</a:t>
            </a:r>
            <a:r>
              <a:rPr lang="zh-CN" altLang="en-US" dirty="0"/>
              <a:t>的形成</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520919676"/>
              </p:ext>
            </p:extLst>
          </p:nvPr>
        </p:nvGraphicFramePr>
        <p:xfrm>
          <a:off x="590202" y="2128057"/>
          <a:ext cx="7925148" cy="3500858"/>
        </p:xfrm>
        <a:graphic>
          <a:graphicData uri="http://schemas.openxmlformats.org/drawingml/2006/table">
            <a:tbl>
              <a:tblPr firstRow="1" bandRow="1">
                <a:tableStyleId>{5C22544A-7EE6-4342-B048-85BDC9FD1C3A}</a:tableStyleId>
              </a:tblPr>
              <a:tblGrid>
                <a:gridCol w="880572">
                  <a:extLst>
                    <a:ext uri="{9D8B030D-6E8A-4147-A177-3AD203B41FA5}">
                      <a16:colId xmlns:a16="http://schemas.microsoft.com/office/drawing/2014/main" val="254299572"/>
                    </a:ext>
                  </a:extLst>
                </a:gridCol>
                <a:gridCol w="880572">
                  <a:extLst>
                    <a:ext uri="{9D8B030D-6E8A-4147-A177-3AD203B41FA5}">
                      <a16:colId xmlns:a16="http://schemas.microsoft.com/office/drawing/2014/main" val="1822170518"/>
                    </a:ext>
                  </a:extLst>
                </a:gridCol>
                <a:gridCol w="880572">
                  <a:extLst>
                    <a:ext uri="{9D8B030D-6E8A-4147-A177-3AD203B41FA5}">
                      <a16:colId xmlns:a16="http://schemas.microsoft.com/office/drawing/2014/main" val="4195031010"/>
                    </a:ext>
                  </a:extLst>
                </a:gridCol>
                <a:gridCol w="880572">
                  <a:extLst>
                    <a:ext uri="{9D8B030D-6E8A-4147-A177-3AD203B41FA5}">
                      <a16:colId xmlns:a16="http://schemas.microsoft.com/office/drawing/2014/main" val="711437424"/>
                    </a:ext>
                  </a:extLst>
                </a:gridCol>
                <a:gridCol w="880572">
                  <a:extLst>
                    <a:ext uri="{9D8B030D-6E8A-4147-A177-3AD203B41FA5}">
                      <a16:colId xmlns:a16="http://schemas.microsoft.com/office/drawing/2014/main" val="3712610136"/>
                    </a:ext>
                  </a:extLst>
                </a:gridCol>
                <a:gridCol w="880572">
                  <a:extLst>
                    <a:ext uri="{9D8B030D-6E8A-4147-A177-3AD203B41FA5}">
                      <a16:colId xmlns:a16="http://schemas.microsoft.com/office/drawing/2014/main" val="633254307"/>
                    </a:ext>
                  </a:extLst>
                </a:gridCol>
                <a:gridCol w="880572">
                  <a:extLst>
                    <a:ext uri="{9D8B030D-6E8A-4147-A177-3AD203B41FA5}">
                      <a16:colId xmlns:a16="http://schemas.microsoft.com/office/drawing/2014/main" val="416205358"/>
                    </a:ext>
                  </a:extLst>
                </a:gridCol>
                <a:gridCol w="880572">
                  <a:extLst>
                    <a:ext uri="{9D8B030D-6E8A-4147-A177-3AD203B41FA5}">
                      <a16:colId xmlns:a16="http://schemas.microsoft.com/office/drawing/2014/main" val="663904811"/>
                    </a:ext>
                  </a:extLst>
                </a:gridCol>
                <a:gridCol w="880572">
                  <a:extLst>
                    <a:ext uri="{9D8B030D-6E8A-4147-A177-3AD203B41FA5}">
                      <a16:colId xmlns:a16="http://schemas.microsoft.com/office/drawing/2014/main" val="629255490"/>
                    </a:ext>
                  </a:extLst>
                </a:gridCol>
              </a:tblGrid>
              <a:tr h="713380">
                <a:tc rowSpan="2">
                  <a:txBody>
                    <a:bodyPr/>
                    <a:lstStyle/>
                    <a:p>
                      <a:r>
                        <a:rPr lang="zh-CN" altLang="en-US" dirty="0"/>
                        <a:t>土地</a:t>
                      </a:r>
                      <a:endParaRPr lang="en-US" altLang="zh-CN" dirty="0"/>
                    </a:p>
                    <a:p>
                      <a:r>
                        <a:rPr lang="zh-CN" altLang="en-US" dirty="0"/>
                        <a:t>级别</a:t>
                      </a:r>
                    </a:p>
                  </a:txBody>
                  <a:tcPr anchor="ctr"/>
                </a:tc>
                <a:tc rowSpan="2">
                  <a:txBody>
                    <a:bodyPr/>
                    <a:lstStyle/>
                    <a:p>
                      <a:r>
                        <a:rPr lang="zh-CN" altLang="en-US" dirty="0"/>
                        <a:t>投入资本（元）</a:t>
                      </a:r>
                    </a:p>
                  </a:txBody>
                  <a:tcPr anchor="ctr"/>
                </a:tc>
                <a:tc rowSpan="2">
                  <a:txBody>
                    <a:bodyPr/>
                    <a:lstStyle/>
                    <a:p>
                      <a:r>
                        <a:rPr lang="zh-CN" altLang="en-US" dirty="0"/>
                        <a:t>平均利润（元）</a:t>
                      </a:r>
                    </a:p>
                  </a:txBody>
                  <a:tcPr anchor="ctr"/>
                </a:tc>
                <a:tc rowSpan="2">
                  <a:txBody>
                    <a:bodyPr/>
                    <a:lstStyle/>
                    <a:p>
                      <a:r>
                        <a:rPr lang="zh-CN" altLang="en-US" dirty="0"/>
                        <a:t>产量</a:t>
                      </a:r>
                      <a:endParaRPr lang="en-US" altLang="zh-CN" dirty="0"/>
                    </a:p>
                    <a:p>
                      <a:r>
                        <a:rPr lang="zh-CN" altLang="en-US" dirty="0"/>
                        <a:t>（公斤）</a:t>
                      </a:r>
                    </a:p>
                  </a:txBody>
                  <a:tcPr anchor="ctr"/>
                </a:tc>
                <a:tc gridSpan="2">
                  <a:txBody>
                    <a:bodyPr/>
                    <a:lstStyle/>
                    <a:p>
                      <a:r>
                        <a:rPr lang="zh-CN" altLang="en-US" dirty="0"/>
                        <a:t>个别生产价格（元）</a:t>
                      </a:r>
                    </a:p>
                  </a:txBody>
                  <a:tcPr/>
                </a:tc>
                <a:tc hMerge="1">
                  <a:txBody>
                    <a:bodyPr/>
                    <a:lstStyle/>
                    <a:p>
                      <a:endParaRPr lang="zh-CN" altLang="en-US" dirty="0"/>
                    </a:p>
                  </a:txBody>
                  <a:tcPr/>
                </a:tc>
                <a:tc gridSpan="2">
                  <a:txBody>
                    <a:bodyPr/>
                    <a:lstStyle/>
                    <a:p>
                      <a:r>
                        <a:rPr lang="zh-CN" altLang="en-US" dirty="0"/>
                        <a:t>社会生产价格（元）</a:t>
                      </a:r>
                    </a:p>
                  </a:txBody>
                  <a:tcPr/>
                </a:tc>
                <a:tc hMerge="1">
                  <a:txBody>
                    <a:bodyPr/>
                    <a:lstStyle/>
                    <a:p>
                      <a:endParaRPr lang="zh-CN" altLang="en-US"/>
                    </a:p>
                  </a:txBody>
                  <a:tcPr/>
                </a:tc>
                <a:tc rowSpan="2">
                  <a:txBody>
                    <a:bodyPr/>
                    <a:lstStyle/>
                    <a:p>
                      <a:r>
                        <a:rPr lang="zh-CN" altLang="en-US" dirty="0"/>
                        <a:t>级差地租（元）</a:t>
                      </a:r>
                    </a:p>
                  </a:txBody>
                  <a:tcPr anchor="ctr"/>
                </a:tc>
                <a:extLst>
                  <a:ext uri="{0D108BD9-81ED-4DB2-BD59-A6C34878D82A}">
                    <a16:rowId xmlns:a16="http://schemas.microsoft.com/office/drawing/2014/main" val="3142645898"/>
                  </a:ext>
                </a:extLst>
              </a:tr>
              <a:tr h="64733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r>
                        <a:rPr lang="zh-CN" altLang="en-US" dirty="0"/>
                        <a:t>元</a:t>
                      </a:r>
                      <a:r>
                        <a:rPr lang="en-US" altLang="zh-CN" dirty="0"/>
                        <a:t>/</a:t>
                      </a:r>
                      <a:r>
                        <a:rPr lang="zh-CN" altLang="en-US" dirty="0"/>
                        <a:t>每公斤</a:t>
                      </a:r>
                    </a:p>
                  </a:txBody>
                  <a:tcPr/>
                </a:tc>
                <a:tc>
                  <a:txBody>
                    <a:bodyPr/>
                    <a:lstStyle/>
                    <a:p>
                      <a:r>
                        <a:rPr lang="zh-CN" altLang="en-US" dirty="0"/>
                        <a:t>全部产出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元</a:t>
                      </a:r>
                      <a:r>
                        <a:rPr lang="en-US" altLang="zh-CN" dirty="0"/>
                        <a:t>/</a:t>
                      </a:r>
                      <a:r>
                        <a:rPr lang="zh-CN" altLang="en-US" dirty="0"/>
                        <a:t>每公斤</a:t>
                      </a:r>
                    </a:p>
                  </a:txBody>
                  <a:tcPr/>
                </a:tc>
                <a:tc>
                  <a:txBody>
                    <a:bodyPr/>
                    <a:lstStyle/>
                    <a:p>
                      <a:r>
                        <a:rPr lang="zh-CN" altLang="en-US" dirty="0"/>
                        <a:t>全部产出</a:t>
                      </a:r>
                    </a:p>
                  </a:txBody>
                  <a:tcPr/>
                </a:tc>
                <a:tc vMerge="1">
                  <a:txBody>
                    <a:bodyPr/>
                    <a:lstStyle/>
                    <a:p>
                      <a:endParaRPr lang="zh-CN" altLang="en-US" dirty="0"/>
                    </a:p>
                  </a:txBody>
                  <a:tcPr/>
                </a:tc>
                <a:extLst>
                  <a:ext uri="{0D108BD9-81ED-4DB2-BD59-A6C34878D82A}">
                    <a16:rowId xmlns:a16="http://schemas.microsoft.com/office/drawing/2014/main" val="2076338143"/>
                  </a:ext>
                </a:extLst>
              </a:tr>
              <a:tr h="713380">
                <a:tc>
                  <a:txBody>
                    <a:bodyPr/>
                    <a:lstStyle/>
                    <a:p>
                      <a:r>
                        <a:rPr lang="zh-CN" altLang="en-US" dirty="0"/>
                        <a:t>优等地</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60</a:t>
                      </a:r>
                      <a:endParaRPr lang="zh-CN" altLang="en-US" dirty="0"/>
                    </a:p>
                  </a:txBody>
                  <a:tcPr/>
                </a:tc>
                <a:tc>
                  <a:txBody>
                    <a:bodyPr/>
                    <a:lstStyle/>
                    <a:p>
                      <a:r>
                        <a:rPr lang="en-US" altLang="zh-CN" dirty="0"/>
                        <a:t>2</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180</a:t>
                      </a:r>
                      <a:endParaRPr lang="zh-CN" altLang="en-US" dirty="0"/>
                    </a:p>
                  </a:txBody>
                  <a:tcPr/>
                </a:tc>
                <a:tc>
                  <a:txBody>
                    <a:bodyPr/>
                    <a:lstStyle/>
                    <a:p>
                      <a:r>
                        <a:rPr lang="en-US" altLang="zh-CN" dirty="0"/>
                        <a:t>60</a:t>
                      </a:r>
                      <a:endParaRPr lang="zh-CN" altLang="en-US" dirty="0"/>
                    </a:p>
                  </a:txBody>
                  <a:tcPr/>
                </a:tc>
                <a:extLst>
                  <a:ext uri="{0D108BD9-81ED-4DB2-BD59-A6C34878D82A}">
                    <a16:rowId xmlns:a16="http://schemas.microsoft.com/office/drawing/2014/main" val="2945812028"/>
                  </a:ext>
                </a:extLst>
              </a:tr>
              <a:tr h="713380">
                <a:tc>
                  <a:txBody>
                    <a:bodyPr/>
                    <a:lstStyle/>
                    <a:p>
                      <a:r>
                        <a:rPr lang="zh-CN" altLang="en-US" dirty="0"/>
                        <a:t>中等地</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50</a:t>
                      </a:r>
                      <a:endParaRPr lang="zh-CN" altLang="en-US" dirty="0"/>
                    </a:p>
                  </a:txBody>
                  <a:tcPr/>
                </a:tc>
                <a:tc>
                  <a:txBody>
                    <a:bodyPr/>
                    <a:lstStyle/>
                    <a:p>
                      <a:r>
                        <a:rPr lang="en-US" altLang="zh-CN" dirty="0"/>
                        <a:t>2.4</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150</a:t>
                      </a:r>
                      <a:endParaRPr lang="zh-CN" altLang="en-US" dirty="0"/>
                    </a:p>
                  </a:txBody>
                  <a:tcPr/>
                </a:tc>
                <a:tc>
                  <a:txBody>
                    <a:bodyPr/>
                    <a:lstStyle/>
                    <a:p>
                      <a:r>
                        <a:rPr lang="en-US" altLang="zh-CN" dirty="0"/>
                        <a:t>30</a:t>
                      </a:r>
                      <a:endParaRPr lang="zh-CN" altLang="en-US" dirty="0"/>
                    </a:p>
                  </a:txBody>
                  <a:tcPr/>
                </a:tc>
                <a:extLst>
                  <a:ext uri="{0D108BD9-81ED-4DB2-BD59-A6C34878D82A}">
                    <a16:rowId xmlns:a16="http://schemas.microsoft.com/office/drawing/2014/main" val="2767342446"/>
                  </a:ext>
                </a:extLst>
              </a:tr>
              <a:tr h="713380">
                <a:tc>
                  <a:txBody>
                    <a:bodyPr/>
                    <a:lstStyle/>
                    <a:p>
                      <a:r>
                        <a:rPr lang="zh-CN" altLang="en-US" dirty="0"/>
                        <a:t>劣等地</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40</a:t>
                      </a:r>
                      <a:endParaRPr lang="zh-CN" altLang="en-US" dirty="0"/>
                    </a:p>
                  </a:txBody>
                  <a:tcPr/>
                </a:tc>
                <a:tc>
                  <a:txBody>
                    <a:bodyPr/>
                    <a:lstStyle/>
                    <a:p>
                      <a:r>
                        <a:rPr lang="en-US" altLang="zh-CN" dirty="0"/>
                        <a:t>3</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120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1276956691"/>
                  </a:ext>
                </a:extLst>
              </a:tr>
            </a:tbl>
          </a:graphicData>
        </a:graphic>
      </p:graphicFrame>
      <p:sp>
        <p:nvSpPr>
          <p:cNvPr id="4" name="灯片编号占位符 3"/>
          <p:cNvSpPr>
            <a:spLocks noGrp="1"/>
          </p:cNvSpPr>
          <p:nvPr>
            <p:ph type="sldNum" sz="quarter" idx="12"/>
          </p:nvPr>
        </p:nvSpPr>
        <p:spPr/>
        <p:txBody>
          <a:bodyPr/>
          <a:lstStyle/>
          <a:p>
            <a:fld id="{10F2143F-0457-4E80-A290-5DB1806D65E5}" type="slidenum">
              <a:rPr lang="zh-CN" altLang="en-US" smtClean="0"/>
              <a:t>25</a:t>
            </a:fld>
            <a:endParaRPr lang="zh-CN" altLang="en-US"/>
          </a:p>
        </p:txBody>
      </p:sp>
    </p:spTree>
    <p:extLst>
      <p:ext uri="{BB962C8B-B14F-4D97-AF65-F5344CB8AC3E}">
        <p14:creationId xmlns:p14="http://schemas.microsoft.com/office/powerpoint/2010/main" val="10442460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级</a:t>
            </a:r>
            <a:r>
              <a:rPr lang="zh-CN" altLang="en-US" dirty="0" smtClean="0"/>
              <a:t>差地租</a:t>
            </a:r>
            <a:r>
              <a:rPr lang="en-US" altLang="zh-CN" dirty="0"/>
              <a:t>II</a:t>
            </a:r>
            <a:r>
              <a:rPr lang="zh-CN" altLang="en-US" dirty="0"/>
              <a:t>的形成</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4113930356"/>
              </p:ext>
            </p:extLst>
          </p:nvPr>
        </p:nvGraphicFramePr>
        <p:xfrm>
          <a:off x="628650" y="1701797"/>
          <a:ext cx="7886700" cy="3885093"/>
        </p:xfrm>
        <a:graphic>
          <a:graphicData uri="http://schemas.openxmlformats.org/drawingml/2006/table">
            <a:tbl>
              <a:tblPr firstRow="1" bandRow="1">
                <a:tableStyleId>{5C22544A-7EE6-4342-B048-85BDC9FD1C3A}</a:tableStyleId>
              </a:tblPr>
              <a:tblGrid>
                <a:gridCol w="876300">
                  <a:extLst>
                    <a:ext uri="{9D8B030D-6E8A-4147-A177-3AD203B41FA5}">
                      <a16:colId xmlns:a16="http://schemas.microsoft.com/office/drawing/2014/main" val="11522037"/>
                    </a:ext>
                  </a:extLst>
                </a:gridCol>
                <a:gridCol w="876300">
                  <a:extLst>
                    <a:ext uri="{9D8B030D-6E8A-4147-A177-3AD203B41FA5}">
                      <a16:colId xmlns:a16="http://schemas.microsoft.com/office/drawing/2014/main" val="2014931380"/>
                    </a:ext>
                  </a:extLst>
                </a:gridCol>
                <a:gridCol w="876300">
                  <a:extLst>
                    <a:ext uri="{9D8B030D-6E8A-4147-A177-3AD203B41FA5}">
                      <a16:colId xmlns:a16="http://schemas.microsoft.com/office/drawing/2014/main" val="1378512444"/>
                    </a:ext>
                  </a:extLst>
                </a:gridCol>
                <a:gridCol w="876300">
                  <a:extLst>
                    <a:ext uri="{9D8B030D-6E8A-4147-A177-3AD203B41FA5}">
                      <a16:colId xmlns:a16="http://schemas.microsoft.com/office/drawing/2014/main" val="813436609"/>
                    </a:ext>
                  </a:extLst>
                </a:gridCol>
                <a:gridCol w="876300">
                  <a:extLst>
                    <a:ext uri="{9D8B030D-6E8A-4147-A177-3AD203B41FA5}">
                      <a16:colId xmlns:a16="http://schemas.microsoft.com/office/drawing/2014/main" val="1555805332"/>
                    </a:ext>
                  </a:extLst>
                </a:gridCol>
                <a:gridCol w="876300">
                  <a:extLst>
                    <a:ext uri="{9D8B030D-6E8A-4147-A177-3AD203B41FA5}">
                      <a16:colId xmlns:a16="http://schemas.microsoft.com/office/drawing/2014/main" val="75309507"/>
                    </a:ext>
                  </a:extLst>
                </a:gridCol>
                <a:gridCol w="876300">
                  <a:extLst>
                    <a:ext uri="{9D8B030D-6E8A-4147-A177-3AD203B41FA5}">
                      <a16:colId xmlns:a16="http://schemas.microsoft.com/office/drawing/2014/main" val="2402350102"/>
                    </a:ext>
                  </a:extLst>
                </a:gridCol>
                <a:gridCol w="876300">
                  <a:extLst>
                    <a:ext uri="{9D8B030D-6E8A-4147-A177-3AD203B41FA5}">
                      <a16:colId xmlns:a16="http://schemas.microsoft.com/office/drawing/2014/main" val="3516392575"/>
                    </a:ext>
                  </a:extLst>
                </a:gridCol>
                <a:gridCol w="876300">
                  <a:extLst>
                    <a:ext uri="{9D8B030D-6E8A-4147-A177-3AD203B41FA5}">
                      <a16:colId xmlns:a16="http://schemas.microsoft.com/office/drawing/2014/main" val="1442513870"/>
                    </a:ext>
                  </a:extLst>
                </a:gridCol>
              </a:tblGrid>
              <a:tr h="685431">
                <a:tc rowSpan="2">
                  <a:txBody>
                    <a:bodyPr/>
                    <a:lstStyle/>
                    <a:p>
                      <a:r>
                        <a:rPr lang="zh-CN" altLang="en-US" dirty="0"/>
                        <a:t>土地级别</a:t>
                      </a:r>
                    </a:p>
                  </a:txBody>
                  <a:tcPr/>
                </a:tc>
                <a:tc rowSpan="2">
                  <a:txBody>
                    <a:bodyPr/>
                    <a:lstStyle/>
                    <a:p>
                      <a:r>
                        <a:rPr lang="zh-CN" altLang="en-US" dirty="0"/>
                        <a:t>投入资本（元）</a:t>
                      </a:r>
                    </a:p>
                  </a:txBody>
                  <a:tcPr/>
                </a:tc>
                <a:tc rowSpan="2">
                  <a:txBody>
                    <a:bodyPr/>
                    <a:lstStyle/>
                    <a:p>
                      <a:r>
                        <a:rPr lang="zh-CN" altLang="en-US" dirty="0"/>
                        <a:t>平均利润（元）</a:t>
                      </a:r>
                    </a:p>
                  </a:txBody>
                  <a:tcPr/>
                </a:tc>
                <a:tc rowSpan="2">
                  <a:txBody>
                    <a:bodyPr/>
                    <a:lstStyle/>
                    <a:p>
                      <a:r>
                        <a:rPr lang="zh-CN" altLang="en-US" dirty="0"/>
                        <a:t>产量（公斤）</a:t>
                      </a:r>
                    </a:p>
                  </a:txBody>
                  <a:tcPr/>
                </a:tc>
                <a:tc gridSpan="2">
                  <a:txBody>
                    <a:bodyPr/>
                    <a:lstStyle/>
                    <a:p>
                      <a:r>
                        <a:rPr lang="zh-CN" altLang="en-US" dirty="0"/>
                        <a:t>个别生产价格（元）</a:t>
                      </a:r>
                    </a:p>
                  </a:txBody>
                  <a:tcPr/>
                </a:tc>
                <a:tc hMerge="1">
                  <a:txBody>
                    <a:bodyPr/>
                    <a:lstStyle/>
                    <a:p>
                      <a:endParaRPr lang="zh-CN" altLang="en-US"/>
                    </a:p>
                  </a:txBody>
                  <a:tcPr/>
                </a:tc>
                <a:tc gridSpan="2">
                  <a:txBody>
                    <a:bodyPr/>
                    <a:lstStyle/>
                    <a:p>
                      <a:r>
                        <a:rPr lang="zh-CN" altLang="en-US" dirty="0"/>
                        <a:t>社会生产价格（元）</a:t>
                      </a:r>
                    </a:p>
                  </a:txBody>
                  <a:tcPr/>
                </a:tc>
                <a:tc hMerge="1">
                  <a:txBody>
                    <a:bodyPr/>
                    <a:lstStyle/>
                    <a:p>
                      <a:endParaRPr lang="zh-CN" altLang="en-US" dirty="0"/>
                    </a:p>
                  </a:txBody>
                  <a:tcPr/>
                </a:tc>
                <a:tc rowSpan="2">
                  <a:txBody>
                    <a:bodyPr/>
                    <a:lstStyle/>
                    <a:p>
                      <a:r>
                        <a:rPr lang="zh-CN" altLang="en-US" dirty="0"/>
                        <a:t>极差地租（元）</a:t>
                      </a:r>
                    </a:p>
                  </a:txBody>
                  <a:tcPr/>
                </a:tc>
                <a:extLst>
                  <a:ext uri="{0D108BD9-81ED-4DB2-BD59-A6C34878D82A}">
                    <a16:rowId xmlns:a16="http://schemas.microsoft.com/office/drawing/2014/main" val="898874842"/>
                  </a:ext>
                </a:extLst>
              </a:tr>
              <a:tr h="685431">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r>
                        <a:rPr lang="zh-CN" altLang="en-US" dirty="0"/>
                        <a:t>元</a:t>
                      </a:r>
                      <a:r>
                        <a:rPr lang="en-US" altLang="zh-CN" dirty="0"/>
                        <a:t>/</a:t>
                      </a:r>
                      <a:r>
                        <a:rPr lang="zh-CN" altLang="en-US" dirty="0"/>
                        <a:t>每公斤</a:t>
                      </a:r>
                    </a:p>
                  </a:txBody>
                  <a:tcPr/>
                </a:tc>
                <a:tc>
                  <a:txBody>
                    <a:bodyPr/>
                    <a:lstStyle/>
                    <a:p>
                      <a:r>
                        <a:rPr lang="zh-CN" altLang="en-US" dirty="0"/>
                        <a:t>全部产出</a:t>
                      </a:r>
                    </a:p>
                  </a:txBody>
                  <a:tcPr/>
                </a:tc>
                <a:tc>
                  <a:txBody>
                    <a:bodyPr/>
                    <a:lstStyle/>
                    <a:p>
                      <a:r>
                        <a:rPr lang="zh-CN" altLang="en-US" dirty="0"/>
                        <a:t>元</a:t>
                      </a:r>
                      <a:r>
                        <a:rPr lang="en-US" altLang="zh-CN" dirty="0"/>
                        <a:t>/</a:t>
                      </a:r>
                      <a:r>
                        <a:rPr lang="zh-CN" altLang="en-US" dirty="0"/>
                        <a:t>每公斤</a:t>
                      </a:r>
                    </a:p>
                  </a:txBody>
                  <a:tcPr/>
                </a:tc>
                <a:tc>
                  <a:txBody>
                    <a:bodyPr/>
                    <a:lstStyle/>
                    <a:p>
                      <a:r>
                        <a:rPr lang="zh-CN" altLang="en-US" dirty="0"/>
                        <a:t>全部产出</a:t>
                      </a:r>
                    </a:p>
                  </a:txBody>
                  <a:tcPr/>
                </a:tc>
                <a:tc vMerge="1">
                  <a:txBody>
                    <a:bodyPr/>
                    <a:lstStyle/>
                    <a:p>
                      <a:endParaRPr lang="zh-CN" altLang="en-US"/>
                    </a:p>
                  </a:txBody>
                  <a:tcPr/>
                </a:tc>
                <a:extLst>
                  <a:ext uri="{0D108BD9-81ED-4DB2-BD59-A6C34878D82A}">
                    <a16:rowId xmlns:a16="http://schemas.microsoft.com/office/drawing/2014/main" val="3715677979"/>
                  </a:ext>
                </a:extLst>
              </a:tr>
              <a:tr h="685431">
                <a:tc>
                  <a:txBody>
                    <a:bodyPr/>
                    <a:lstStyle/>
                    <a:p>
                      <a:r>
                        <a:rPr lang="zh-CN" altLang="en-US" dirty="0"/>
                        <a:t>优等地初次投入</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60</a:t>
                      </a:r>
                      <a:endParaRPr lang="zh-CN" altLang="en-US" dirty="0"/>
                    </a:p>
                  </a:txBody>
                  <a:tcPr/>
                </a:tc>
                <a:tc>
                  <a:txBody>
                    <a:bodyPr/>
                    <a:lstStyle/>
                    <a:p>
                      <a:r>
                        <a:rPr lang="en-US" altLang="zh-CN" dirty="0"/>
                        <a:t>2</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180</a:t>
                      </a:r>
                      <a:endParaRPr lang="zh-CN" altLang="en-US" dirty="0"/>
                    </a:p>
                  </a:txBody>
                  <a:tcPr/>
                </a:tc>
                <a:tc>
                  <a:txBody>
                    <a:bodyPr/>
                    <a:lstStyle/>
                    <a:p>
                      <a:r>
                        <a:rPr lang="en-US" altLang="zh-CN" dirty="0"/>
                        <a:t>60</a:t>
                      </a:r>
                      <a:endParaRPr lang="zh-CN" altLang="en-US" dirty="0"/>
                    </a:p>
                  </a:txBody>
                  <a:tcPr/>
                </a:tc>
                <a:extLst>
                  <a:ext uri="{0D108BD9-81ED-4DB2-BD59-A6C34878D82A}">
                    <a16:rowId xmlns:a16="http://schemas.microsoft.com/office/drawing/2014/main" val="2675859561"/>
                  </a:ext>
                </a:extLst>
              </a:tr>
              <a:tr h="685431">
                <a:tc>
                  <a:txBody>
                    <a:bodyPr/>
                    <a:lstStyle/>
                    <a:p>
                      <a:r>
                        <a:rPr lang="zh-CN" altLang="en-US" dirty="0"/>
                        <a:t>优等地追加投入</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80</a:t>
                      </a:r>
                      <a:endParaRPr lang="zh-CN" altLang="en-US" dirty="0"/>
                    </a:p>
                  </a:txBody>
                  <a:tcPr/>
                </a:tc>
                <a:tc>
                  <a:txBody>
                    <a:bodyPr/>
                    <a:lstStyle/>
                    <a:p>
                      <a:r>
                        <a:rPr lang="en-US" altLang="zh-CN" dirty="0"/>
                        <a:t>1.5</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240</a:t>
                      </a:r>
                      <a:endParaRPr lang="zh-CN" altLang="en-US" dirty="0"/>
                    </a:p>
                  </a:txBody>
                  <a:tcPr/>
                </a:tc>
                <a:tc>
                  <a:txBody>
                    <a:bodyPr/>
                    <a:lstStyle/>
                    <a:p>
                      <a:r>
                        <a:rPr lang="en-US" altLang="zh-CN" dirty="0"/>
                        <a:t>120</a:t>
                      </a:r>
                      <a:endParaRPr lang="zh-CN" altLang="en-US" dirty="0"/>
                    </a:p>
                  </a:txBody>
                  <a:tcPr/>
                </a:tc>
                <a:extLst>
                  <a:ext uri="{0D108BD9-81ED-4DB2-BD59-A6C34878D82A}">
                    <a16:rowId xmlns:a16="http://schemas.microsoft.com/office/drawing/2014/main" val="552138687"/>
                  </a:ext>
                </a:extLst>
              </a:tr>
              <a:tr h="685431">
                <a:tc>
                  <a:txBody>
                    <a:bodyPr/>
                    <a:lstStyle/>
                    <a:p>
                      <a:r>
                        <a:rPr lang="zh-CN" altLang="en-US" dirty="0"/>
                        <a:t>劣等地</a:t>
                      </a:r>
                    </a:p>
                  </a:txBody>
                  <a:tcPr/>
                </a:tc>
                <a:tc>
                  <a:txBody>
                    <a:bodyPr/>
                    <a:lstStyle/>
                    <a:p>
                      <a:r>
                        <a:rPr lang="en-US" altLang="zh-CN" dirty="0"/>
                        <a:t>100</a:t>
                      </a:r>
                      <a:endParaRPr lang="zh-CN" altLang="en-US" dirty="0"/>
                    </a:p>
                  </a:txBody>
                  <a:tcPr/>
                </a:tc>
                <a:tc>
                  <a:txBody>
                    <a:bodyPr/>
                    <a:lstStyle/>
                    <a:p>
                      <a:r>
                        <a:rPr lang="en-US" altLang="zh-CN" dirty="0"/>
                        <a:t>20</a:t>
                      </a:r>
                      <a:endParaRPr lang="zh-CN" altLang="en-US" dirty="0"/>
                    </a:p>
                  </a:txBody>
                  <a:tcPr/>
                </a:tc>
                <a:tc>
                  <a:txBody>
                    <a:bodyPr/>
                    <a:lstStyle/>
                    <a:p>
                      <a:r>
                        <a:rPr lang="en-US" altLang="zh-CN" dirty="0"/>
                        <a:t>40</a:t>
                      </a:r>
                      <a:endParaRPr lang="zh-CN" altLang="en-US" dirty="0"/>
                    </a:p>
                  </a:txBody>
                  <a:tcPr/>
                </a:tc>
                <a:tc>
                  <a:txBody>
                    <a:bodyPr/>
                    <a:lstStyle/>
                    <a:p>
                      <a:r>
                        <a:rPr lang="en-US" altLang="zh-CN" dirty="0"/>
                        <a:t>3</a:t>
                      </a:r>
                      <a:endParaRPr lang="zh-CN" altLang="en-US" dirty="0"/>
                    </a:p>
                  </a:txBody>
                  <a:tcPr/>
                </a:tc>
                <a:tc>
                  <a:txBody>
                    <a:bodyPr/>
                    <a:lstStyle/>
                    <a:p>
                      <a:r>
                        <a:rPr lang="en-US" altLang="zh-CN" dirty="0"/>
                        <a:t>120</a:t>
                      </a:r>
                      <a:endParaRPr lang="zh-CN" altLang="en-US" dirty="0"/>
                    </a:p>
                  </a:txBody>
                  <a:tcPr/>
                </a:tc>
                <a:tc>
                  <a:txBody>
                    <a:bodyPr/>
                    <a:lstStyle/>
                    <a:p>
                      <a:r>
                        <a:rPr lang="en-US" altLang="zh-CN" dirty="0"/>
                        <a:t>3</a:t>
                      </a:r>
                      <a:endParaRPr lang="zh-CN" altLang="en-US" dirty="0"/>
                    </a:p>
                  </a:txBody>
                  <a:tcPr/>
                </a:tc>
                <a:tc>
                  <a:txBody>
                    <a:bodyPr/>
                    <a:lstStyle/>
                    <a:p>
                      <a:r>
                        <a:rPr lang="en-US" altLang="zh-CN" dirty="0"/>
                        <a:t>120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3860622228"/>
                  </a:ext>
                </a:extLst>
              </a:tr>
            </a:tbl>
          </a:graphicData>
        </a:graphic>
      </p:graphicFrame>
      <p:sp>
        <p:nvSpPr>
          <p:cNvPr id="4" name="灯片编号占位符 3"/>
          <p:cNvSpPr>
            <a:spLocks noGrp="1"/>
          </p:cNvSpPr>
          <p:nvPr>
            <p:ph type="sldNum" sz="quarter" idx="12"/>
          </p:nvPr>
        </p:nvSpPr>
        <p:spPr/>
        <p:txBody>
          <a:bodyPr/>
          <a:lstStyle/>
          <a:p>
            <a:fld id="{10F2143F-0457-4E80-A290-5DB1806D65E5}" type="slidenum">
              <a:rPr lang="zh-CN" altLang="en-US" smtClean="0"/>
              <a:t>26</a:t>
            </a:fld>
            <a:endParaRPr lang="zh-CN" altLang="en-US"/>
          </a:p>
        </p:txBody>
      </p:sp>
    </p:spTree>
    <p:extLst>
      <p:ext uri="{BB962C8B-B14F-4D97-AF65-F5344CB8AC3E}">
        <p14:creationId xmlns:p14="http://schemas.microsoft.com/office/powerpoint/2010/main" val="2729428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sp>
        <p:nvSpPr>
          <p:cNvPr id="3" name="内容占位符 2"/>
          <p:cNvSpPr>
            <a:spLocks noGrp="1"/>
          </p:cNvSpPr>
          <p:nvPr>
            <p:ph idx="1"/>
          </p:nvPr>
        </p:nvSpPr>
        <p:spPr/>
        <p:txBody>
          <a:bodyPr/>
          <a:lstStyle/>
          <a:p>
            <a:r>
              <a:rPr lang="zh-CN" altLang="en-US" dirty="0"/>
              <a:t>超额利润转化</a:t>
            </a:r>
            <a:r>
              <a:rPr lang="zh-CN" altLang="en-US" dirty="0" smtClean="0"/>
              <a:t>为级差地租</a:t>
            </a:r>
            <a:r>
              <a:rPr lang="zh-CN" altLang="en-US" dirty="0"/>
              <a:t>时</a:t>
            </a:r>
            <a:r>
              <a:rPr lang="zh-CN" altLang="en-US" dirty="0"/>
              <a:t>，级差地租</a:t>
            </a:r>
            <a:r>
              <a:rPr lang="en-US" altLang="zh-CN" dirty="0"/>
              <a:t>I</a:t>
            </a:r>
            <a:r>
              <a:rPr lang="zh-CN" altLang="en-US" dirty="0"/>
              <a:t>和级差地租</a:t>
            </a:r>
            <a:r>
              <a:rPr lang="en-US" altLang="zh-CN" dirty="0"/>
              <a:t>II</a:t>
            </a:r>
            <a:r>
              <a:rPr lang="zh-CN" altLang="en-US" dirty="0"/>
              <a:t>是不同的</a:t>
            </a:r>
            <a:endParaRPr lang="en-US" altLang="zh-CN" dirty="0"/>
          </a:p>
          <a:p>
            <a:pPr lvl="1"/>
            <a:r>
              <a:rPr lang="zh-CN" altLang="en-US" dirty="0"/>
              <a:t>构成级差地租</a:t>
            </a:r>
            <a:r>
              <a:rPr lang="en-US" altLang="zh-CN" dirty="0"/>
              <a:t>I</a:t>
            </a:r>
            <a:r>
              <a:rPr lang="zh-CN" altLang="en-US" dirty="0"/>
              <a:t>的超额利润，一般在租约上都归土地所有者所拥有</a:t>
            </a:r>
            <a:endParaRPr lang="en-US" altLang="zh-CN" dirty="0"/>
          </a:p>
          <a:p>
            <a:pPr lvl="1"/>
            <a:r>
              <a:rPr lang="zh-CN" altLang="en-US" dirty="0"/>
              <a:t>构成级差地租</a:t>
            </a:r>
            <a:r>
              <a:rPr lang="en-US" altLang="zh-CN" dirty="0"/>
              <a:t>II</a:t>
            </a:r>
            <a:r>
              <a:rPr lang="zh-CN" altLang="en-US" dirty="0"/>
              <a:t>的超额利润，在租约期内归农业资本家所有，当租约期满时，会通过提高地租额转归土地所有者所拥有</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27</a:t>
            </a:fld>
            <a:endParaRPr lang="zh-CN" altLang="en-US"/>
          </a:p>
        </p:txBody>
      </p:sp>
    </p:spTree>
    <p:extLst>
      <p:ext uri="{BB962C8B-B14F-4D97-AF65-F5344CB8AC3E}">
        <p14:creationId xmlns:p14="http://schemas.microsoft.com/office/powerpoint/2010/main" val="20328184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绝对地租</a:t>
            </a:r>
          </a:p>
        </p:txBody>
      </p:sp>
      <p:sp>
        <p:nvSpPr>
          <p:cNvPr id="3" name="内容占位符 2"/>
          <p:cNvSpPr>
            <a:spLocks noGrp="1"/>
          </p:cNvSpPr>
          <p:nvPr>
            <p:ph idx="1"/>
          </p:nvPr>
        </p:nvSpPr>
        <p:spPr/>
        <p:txBody>
          <a:bodyPr/>
          <a:lstStyle/>
          <a:p>
            <a:r>
              <a:rPr lang="zh-CN" altLang="en-US" dirty="0"/>
              <a:t>绝对地租：由于土地私有权的存在，租种任何土地包括劣等地都必须缴纳的地租</a:t>
            </a:r>
            <a:endParaRPr lang="en-US" altLang="zh-CN" dirty="0"/>
          </a:p>
          <a:p>
            <a:r>
              <a:rPr lang="zh-CN" altLang="en-US" dirty="0"/>
              <a:t>租种各种等级土地包括劣质地都要缴纳绝对地租，且各个农业资本家都需要获得平均利润，则意味着农产品必须以高于社会生产价格的价格出售。</a:t>
            </a:r>
            <a:endParaRPr lang="en-US" altLang="zh-CN" dirty="0"/>
          </a:p>
          <a:p>
            <a:pPr lvl="1"/>
            <a:r>
              <a:rPr lang="zh-CN" altLang="en-US" dirty="0"/>
              <a:t>农业资本家才能获得平均利润后，还有一个利润余额作为绝对地租缴纳给土地所有者</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28</a:t>
            </a:fld>
            <a:endParaRPr lang="zh-CN" altLang="en-US"/>
          </a:p>
        </p:txBody>
      </p:sp>
    </p:spTree>
    <p:extLst>
      <p:ext uri="{BB962C8B-B14F-4D97-AF65-F5344CB8AC3E}">
        <p14:creationId xmlns:p14="http://schemas.microsoft.com/office/powerpoint/2010/main" val="1060657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绝对地租的形成</a:t>
            </a:r>
          </a:p>
        </p:txBody>
      </p:sp>
      <p:graphicFrame>
        <p:nvGraphicFramePr>
          <p:cNvPr id="5" name="内容占位符 4"/>
          <p:cNvGraphicFramePr>
            <a:graphicFrameLocks noGrp="1"/>
          </p:cNvGraphicFramePr>
          <p:nvPr>
            <p:ph idx="1"/>
            <p:extLst>
              <p:ext uri="{D42A27DB-BD31-4B8C-83A1-F6EECF244321}">
                <p14:modId xmlns:p14="http://schemas.microsoft.com/office/powerpoint/2010/main" val="265075799"/>
              </p:ext>
            </p:extLst>
          </p:nvPr>
        </p:nvGraphicFramePr>
        <p:xfrm>
          <a:off x="628650" y="1701800"/>
          <a:ext cx="7886697" cy="2804276"/>
        </p:xfrm>
        <a:graphic>
          <a:graphicData uri="http://schemas.openxmlformats.org/drawingml/2006/table">
            <a:tbl>
              <a:tblPr firstRow="1" bandRow="1">
                <a:tableStyleId>{5C22544A-7EE6-4342-B048-85BDC9FD1C3A}</a:tableStyleId>
              </a:tblPr>
              <a:tblGrid>
                <a:gridCol w="1126671">
                  <a:extLst>
                    <a:ext uri="{9D8B030D-6E8A-4147-A177-3AD203B41FA5}">
                      <a16:colId xmlns:a16="http://schemas.microsoft.com/office/drawing/2014/main" val="174987953"/>
                    </a:ext>
                  </a:extLst>
                </a:gridCol>
                <a:gridCol w="1126671">
                  <a:extLst>
                    <a:ext uri="{9D8B030D-6E8A-4147-A177-3AD203B41FA5}">
                      <a16:colId xmlns:a16="http://schemas.microsoft.com/office/drawing/2014/main" val="2707942066"/>
                    </a:ext>
                  </a:extLst>
                </a:gridCol>
                <a:gridCol w="1126671">
                  <a:extLst>
                    <a:ext uri="{9D8B030D-6E8A-4147-A177-3AD203B41FA5}">
                      <a16:colId xmlns:a16="http://schemas.microsoft.com/office/drawing/2014/main" val="2619253422"/>
                    </a:ext>
                  </a:extLst>
                </a:gridCol>
                <a:gridCol w="1126671">
                  <a:extLst>
                    <a:ext uri="{9D8B030D-6E8A-4147-A177-3AD203B41FA5}">
                      <a16:colId xmlns:a16="http://schemas.microsoft.com/office/drawing/2014/main" val="1257797292"/>
                    </a:ext>
                  </a:extLst>
                </a:gridCol>
                <a:gridCol w="1126671">
                  <a:extLst>
                    <a:ext uri="{9D8B030D-6E8A-4147-A177-3AD203B41FA5}">
                      <a16:colId xmlns:a16="http://schemas.microsoft.com/office/drawing/2014/main" val="3414588623"/>
                    </a:ext>
                  </a:extLst>
                </a:gridCol>
                <a:gridCol w="1126671">
                  <a:extLst>
                    <a:ext uri="{9D8B030D-6E8A-4147-A177-3AD203B41FA5}">
                      <a16:colId xmlns:a16="http://schemas.microsoft.com/office/drawing/2014/main" val="1939391086"/>
                    </a:ext>
                  </a:extLst>
                </a:gridCol>
                <a:gridCol w="1126671">
                  <a:extLst>
                    <a:ext uri="{9D8B030D-6E8A-4147-A177-3AD203B41FA5}">
                      <a16:colId xmlns:a16="http://schemas.microsoft.com/office/drawing/2014/main" val="772995722"/>
                    </a:ext>
                  </a:extLst>
                </a:gridCol>
              </a:tblGrid>
              <a:tr h="773661">
                <a:tc>
                  <a:txBody>
                    <a:bodyPr/>
                    <a:lstStyle/>
                    <a:p>
                      <a:r>
                        <a:rPr lang="zh-CN" altLang="en-US" dirty="0"/>
                        <a:t>生产部门</a:t>
                      </a:r>
                    </a:p>
                  </a:txBody>
                  <a:tcPr/>
                </a:tc>
                <a:tc>
                  <a:txBody>
                    <a:bodyPr/>
                    <a:lstStyle/>
                    <a:p>
                      <a:r>
                        <a:rPr lang="zh-CN" altLang="en-US" dirty="0"/>
                        <a:t>资本有机构成</a:t>
                      </a:r>
                    </a:p>
                  </a:txBody>
                  <a:tcPr/>
                </a:tc>
                <a:tc>
                  <a:txBody>
                    <a:bodyPr/>
                    <a:lstStyle/>
                    <a:p>
                      <a:r>
                        <a:rPr lang="zh-CN" altLang="en-US" dirty="0"/>
                        <a:t>剩余价值</a:t>
                      </a:r>
                      <a:endParaRPr lang="en-US" altLang="zh-CN" dirty="0"/>
                    </a:p>
                    <a:p>
                      <a:r>
                        <a:rPr lang="zh-CN" altLang="en-US" dirty="0"/>
                        <a:t>（剩余价值率</a:t>
                      </a:r>
                      <a:r>
                        <a:rPr lang="en-US" altLang="zh-CN" dirty="0"/>
                        <a:t>100%</a:t>
                      </a:r>
                      <a:r>
                        <a:rPr lang="zh-CN" altLang="en-US" dirty="0"/>
                        <a:t>）</a:t>
                      </a:r>
                    </a:p>
                  </a:txBody>
                  <a:tcPr/>
                </a:tc>
                <a:tc>
                  <a:txBody>
                    <a:bodyPr/>
                    <a:lstStyle/>
                    <a:p>
                      <a:r>
                        <a:rPr lang="zh-CN" altLang="en-US" dirty="0"/>
                        <a:t>平均利润</a:t>
                      </a:r>
                      <a:endParaRPr lang="en-US" altLang="zh-CN" dirty="0"/>
                    </a:p>
                    <a:p>
                      <a:r>
                        <a:rPr lang="zh-CN" altLang="en-US" dirty="0"/>
                        <a:t>（平均利润率</a:t>
                      </a:r>
                      <a:r>
                        <a:rPr lang="en-US" altLang="zh-CN" dirty="0"/>
                        <a:t>20%</a:t>
                      </a:r>
                      <a:r>
                        <a:rPr lang="zh-CN" altLang="en-US" dirty="0"/>
                        <a:t>）</a:t>
                      </a:r>
                    </a:p>
                  </a:txBody>
                  <a:tcPr/>
                </a:tc>
                <a:tc>
                  <a:txBody>
                    <a:bodyPr/>
                    <a:lstStyle/>
                    <a:p>
                      <a:r>
                        <a:rPr lang="zh-CN" altLang="en-US" dirty="0"/>
                        <a:t>产品价值（元）</a:t>
                      </a:r>
                    </a:p>
                  </a:txBody>
                  <a:tcPr/>
                </a:tc>
                <a:tc>
                  <a:txBody>
                    <a:bodyPr/>
                    <a:lstStyle/>
                    <a:p>
                      <a:r>
                        <a:rPr lang="zh-CN" altLang="en-US" dirty="0"/>
                        <a:t>产品社会生产价格（元）</a:t>
                      </a:r>
                    </a:p>
                  </a:txBody>
                  <a:tcPr/>
                </a:tc>
                <a:tc>
                  <a:txBody>
                    <a:bodyPr/>
                    <a:lstStyle/>
                    <a:p>
                      <a:r>
                        <a:rPr lang="zh-CN" altLang="en-US" dirty="0"/>
                        <a:t>绝对地租</a:t>
                      </a:r>
                    </a:p>
                  </a:txBody>
                  <a:tcPr/>
                </a:tc>
                <a:extLst>
                  <a:ext uri="{0D108BD9-81ED-4DB2-BD59-A6C34878D82A}">
                    <a16:rowId xmlns:a16="http://schemas.microsoft.com/office/drawing/2014/main" val="4063299034"/>
                  </a:ext>
                </a:extLst>
              </a:tr>
              <a:tr h="841895">
                <a:tc>
                  <a:txBody>
                    <a:bodyPr/>
                    <a:lstStyle/>
                    <a:p>
                      <a:r>
                        <a:rPr lang="zh-CN" altLang="en-US" dirty="0"/>
                        <a:t>工业</a:t>
                      </a:r>
                    </a:p>
                  </a:txBody>
                  <a:tcPr/>
                </a:tc>
                <a:tc>
                  <a:txBody>
                    <a:bodyPr/>
                    <a:lstStyle/>
                    <a:p>
                      <a:r>
                        <a:rPr lang="en-US" altLang="zh-CN" dirty="0"/>
                        <a:t>80c+20V</a:t>
                      </a:r>
                      <a:endParaRPr lang="zh-CN" altLang="en-US" dirty="0"/>
                    </a:p>
                  </a:txBody>
                  <a:tcPr/>
                </a:tc>
                <a:tc>
                  <a:txBody>
                    <a:bodyPr/>
                    <a:lstStyle/>
                    <a:p>
                      <a:r>
                        <a:rPr lang="en-US" altLang="zh-CN" dirty="0"/>
                        <a:t>20</a:t>
                      </a:r>
                      <a:endParaRPr lang="zh-CN" altLang="en-US" dirty="0"/>
                    </a:p>
                  </a:txBody>
                  <a:tcPr/>
                </a:tc>
                <a:tc>
                  <a:txBody>
                    <a:bodyPr/>
                    <a:lstStyle/>
                    <a:p>
                      <a:r>
                        <a:rPr lang="en-US" altLang="zh-CN" dirty="0"/>
                        <a:t>20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2402998683"/>
                  </a:ext>
                </a:extLst>
              </a:tr>
              <a:tr h="773661">
                <a:tc>
                  <a:txBody>
                    <a:bodyPr/>
                    <a:lstStyle/>
                    <a:p>
                      <a:r>
                        <a:rPr lang="zh-CN" altLang="en-US" dirty="0"/>
                        <a:t>农业</a:t>
                      </a:r>
                    </a:p>
                  </a:txBody>
                  <a:tcPr/>
                </a:tc>
                <a:tc>
                  <a:txBody>
                    <a:bodyPr/>
                    <a:lstStyle/>
                    <a:p>
                      <a:r>
                        <a:rPr lang="en-US" altLang="zh-CN" dirty="0"/>
                        <a:t>60c+40v</a:t>
                      </a:r>
                      <a:endParaRPr lang="zh-CN" altLang="en-US" dirty="0"/>
                    </a:p>
                  </a:txBody>
                  <a:tcPr/>
                </a:tc>
                <a:tc>
                  <a:txBody>
                    <a:bodyPr/>
                    <a:lstStyle/>
                    <a:p>
                      <a:r>
                        <a:rPr lang="en-US" altLang="zh-CN" dirty="0"/>
                        <a:t>40</a:t>
                      </a:r>
                      <a:endParaRPr lang="zh-CN" altLang="en-US" dirty="0"/>
                    </a:p>
                  </a:txBody>
                  <a:tcPr/>
                </a:tc>
                <a:tc>
                  <a:txBody>
                    <a:bodyPr/>
                    <a:lstStyle/>
                    <a:p>
                      <a:r>
                        <a:rPr lang="en-US" altLang="zh-CN" dirty="0"/>
                        <a:t>20</a:t>
                      </a:r>
                      <a:endParaRPr lang="zh-CN" altLang="en-US" dirty="0"/>
                    </a:p>
                  </a:txBody>
                  <a:tcPr/>
                </a:tc>
                <a:tc>
                  <a:txBody>
                    <a:bodyPr/>
                    <a:lstStyle/>
                    <a:p>
                      <a:r>
                        <a:rPr lang="en-US" altLang="zh-CN" dirty="0"/>
                        <a:t>140</a:t>
                      </a:r>
                      <a:endParaRPr lang="zh-CN" altLang="en-US" dirty="0"/>
                    </a:p>
                  </a:txBody>
                  <a:tcPr/>
                </a:tc>
                <a:tc>
                  <a:txBody>
                    <a:bodyPr/>
                    <a:lstStyle/>
                    <a:p>
                      <a:r>
                        <a:rPr lang="en-US" altLang="zh-CN" dirty="0"/>
                        <a:t>120</a:t>
                      </a:r>
                      <a:endParaRPr lang="zh-CN" altLang="en-US" dirty="0"/>
                    </a:p>
                  </a:txBody>
                  <a:tcPr/>
                </a:tc>
                <a:tc>
                  <a:txBody>
                    <a:bodyPr/>
                    <a:lstStyle/>
                    <a:p>
                      <a:r>
                        <a:rPr lang="en-US" altLang="zh-CN" dirty="0"/>
                        <a:t>20</a:t>
                      </a:r>
                      <a:endParaRPr lang="zh-CN" altLang="en-US" dirty="0"/>
                    </a:p>
                  </a:txBody>
                  <a:tcPr/>
                </a:tc>
                <a:extLst>
                  <a:ext uri="{0D108BD9-81ED-4DB2-BD59-A6C34878D82A}">
                    <a16:rowId xmlns:a16="http://schemas.microsoft.com/office/drawing/2014/main" val="2229517111"/>
                  </a:ext>
                </a:extLst>
              </a:tr>
            </a:tbl>
          </a:graphicData>
        </a:graphic>
      </p:graphicFrame>
      <p:sp>
        <p:nvSpPr>
          <p:cNvPr id="4" name="灯片编号占位符 3"/>
          <p:cNvSpPr>
            <a:spLocks noGrp="1"/>
          </p:cNvSpPr>
          <p:nvPr>
            <p:ph type="sldNum" sz="quarter" idx="12"/>
          </p:nvPr>
        </p:nvSpPr>
        <p:spPr/>
        <p:txBody>
          <a:bodyPr/>
          <a:lstStyle/>
          <a:p>
            <a:fld id="{10F2143F-0457-4E80-A290-5DB1806D65E5}" type="slidenum">
              <a:rPr lang="zh-CN" altLang="en-US" smtClean="0"/>
              <a:t>29</a:t>
            </a:fld>
            <a:endParaRPr lang="zh-CN" altLang="en-US"/>
          </a:p>
        </p:txBody>
      </p:sp>
    </p:spTree>
    <p:extLst>
      <p:ext uri="{BB962C8B-B14F-4D97-AF65-F5344CB8AC3E}">
        <p14:creationId xmlns:p14="http://schemas.microsoft.com/office/powerpoint/2010/main" val="2727596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绝对地租形成的原因</a:t>
            </a:r>
          </a:p>
        </p:txBody>
      </p:sp>
      <p:sp>
        <p:nvSpPr>
          <p:cNvPr id="3" name="内容占位符 2"/>
          <p:cNvSpPr>
            <a:spLocks noGrp="1"/>
          </p:cNvSpPr>
          <p:nvPr>
            <p:ph idx="1"/>
          </p:nvPr>
        </p:nvSpPr>
        <p:spPr/>
        <p:txBody>
          <a:bodyPr/>
          <a:lstStyle/>
          <a:p>
            <a:r>
              <a:rPr lang="zh-CN" altLang="en-US" dirty="0"/>
              <a:t>农产品之所以能够按高于社会生产价格的价值出售，农产品价值高于社会生产价格，不参加利润的平均化，能保留在农业部门形成绝对地租，是由农业的土地私有权垄断所决定的。</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30</a:t>
            </a:fld>
            <a:endParaRPr lang="zh-CN" altLang="en-US"/>
          </a:p>
        </p:txBody>
      </p:sp>
    </p:spTree>
    <p:extLst>
      <p:ext uri="{BB962C8B-B14F-4D97-AF65-F5344CB8AC3E}">
        <p14:creationId xmlns:p14="http://schemas.microsoft.com/office/powerpoint/2010/main" val="2936762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土地价格</a:t>
            </a:r>
          </a:p>
        </p:txBody>
      </p:sp>
      <p:sp>
        <p:nvSpPr>
          <p:cNvPr id="3" name="内容占位符 2"/>
          <p:cNvSpPr>
            <a:spLocks noGrp="1"/>
          </p:cNvSpPr>
          <p:nvPr>
            <p:ph idx="1"/>
          </p:nvPr>
        </p:nvSpPr>
        <p:spPr/>
        <p:txBody>
          <a:bodyPr/>
          <a:lstStyle/>
          <a:p>
            <a:r>
              <a:rPr lang="zh-CN" altLang="en-US" dirty="0"/>
              <a:t>土地价值</a:t>
            </a:r>
            <a:endParaRPr lang="en-US" altLang="zh-CN" dirty="0"/>
          </a:p>
          <a:p>
            <a:pPr lvl="1"/>
            <a:r>
              <a:rPr lang="zh-CN" altLang="en-US" dirty="0"/>
              <a:t>未开垦的土地不是劳动产品，而是自然界存在的东西，因此土地没有价值</a:t>
            </a:r>
            <a:endParaRPr lang="en-US" altLang="zh-CN" dirty="0"/>
          </a:p>
          <a:p>
            <a:r>
              <a:rPr lang="zh-CN" altLang="en-US" dirty="0"/>
              <a:t>土地价格</a:t>
            </a:r>
            <a:endParaRPr lang="en-US" altLang="zh-CN" dirty="0"/>
          </a:p>
          <a:p>
            <a:pPr lvl="1"/>
            <a:r>
              <a:rPr lang="zh-CN" altLang="en-US" dirty="0"/>
              <a:t>土地价格并不是价值的货币表现</a:t>
            </a:r>
            <a:endParaRPr lang="en-US" altLang="zh-CN" dirty="0"/>
          </a:p>
          <a:p>
            <a:pPr lvl="1"/>
            <a:r>
              <a:rPr lang="zh-CN" altLang="en-US" dirty="0"/>
              <a:t>土地价格是资本化的地租，即土地价格相当于能够取得这笔地租收入的货币资本</a:t>
            </a:r>
            <a:endParaRPr lang="en-US" altLang="zh-CN" dirty="0"/>
          </a:p>
          <a:p>
            <a:pPr lvl="1"/>
            <a:r>
              <a:rPr lang="zh-CN" altLang="en-US" dirty="0"/>
              <a:t>土地价格是由地租数量（正向）和银行存量利息（反向）这两个因素决定的，并受供求关系影响</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31</a:t>
            </a:fld>
            <a:endParaRPr lang="zh-CN" altLang="en-US"/>
          </a:p>
        </p:txBody>
      </p:sp>
    </p:spTree>
    <p:extLst>
      <p:ext uri="{BB962C8B-B14F-4D97-AF65-F5344CB8AC3E}">
        <p14:creationId xmlns:p14="http://schemas.microsoft.com/office/powerpoint/2010/main" val="24056269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a:p>
          <a:p>
            <a:endParaRPr lang="en-US" altLang="zh-CN" dirty="0"/>
          </a:p>
          <a:p>
            <a:r>
              <a:rPr lang="zh-CN" altLang="en-US" dirty="0"/>
              <a:t>第三节 当代资本主义分配关系新变化</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32</a:t>
            </a:fld>
            <a:endParaRPr lang="zh-CN" altLang="en-US"/>
          </a:p>
        </p:txBody>
      </p:sp>
    </p:spTree>
    <p:extLst>
      <p:ext uri="{BB962C8B-B14F-4D97-AF65-F5344CB8AC3E}">
        <p14:creationId xmlns:p14="http://schemas.microsoft.com/office/powerpoint/2010/main" val="1339350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国民收入分配关系变化（</a:t>
            </a:r>
            <a:r>
              <a:rPr lang="en-US" altLang="zh-CN" dirty="0" err="1"/>
              <a:t>v+m</a:t>
            </a:r>
            <a:r>
              <a:rPr lang="zh-CN" altLang="en-US" dirty="0"/>
              <a:t>）</a:t>
            </a:r>
          </a:p>
        </p:txBody>
      </p:sp>
      <p:sp>
        <p:nvSpPr>
          <p:cNvPr id="3" name="内容占位符 2"/>
          <p:cNvSpPr>
            <a:spLocks noGrp="1"/>
          </p:cNvSpPr>
          <p:nvPr>
            <p:ph idx="1"/>
          </p:nvPr>
        </p:nvSpPr>
        <p:spPr/>
        <p:txBody>
          <a:bodyPr/>
          <a:lstStyle/>
          <a:p>
            <a:r>
              <a:rPr lang="en-US" altLang="zh-CN" dirty="0"/>
              <a:t>V</a:t>
            </a:r>
            <a:r>
              <a:rPr lang="zh-CN" altLang="en-US" dirty="0"/>
              <a:t>的形式多样化</a:t>
            </a:r>
            <a:endParaRPr lang="en-US" altLang="zh-CN" dirty="0"/>
          </a:p>
          <a:p>
            <a:pPr lvl="1"/>
            <a:r>
              <a:rPr lang="zh-CN" altLang="en-US" dirty="0"/>
              <a:t>工资、年功工资、绩效工资、岗位工资、奖金、津贴、保险金等</a:t>
            </a:r>
            <a:endParaRPr lang="en-US" altLang="zh-CN" dirty="0"/>
          </a:p>
          <a:p>
            <a:r>
              <a:rPr lang="zh-CN" altLang="en-US" dirty="0"/>
              <a:t>参与</a:t>
            </a:r>
            <a:r>
              <a:rPr lang="en-US" altLang="zh-CN" dirty="0"/>
              <a:t>m</a:t>
            </a:r>
            <a:r>
              <a:rPr lang="zh-CN" altLang="en-US" dirty="0"/>
              <a:t>分配的范围扩大</a:t>
            </a:r>
            <a:endParaRPr lang="en-US" altLang="zh-CN" dirty="0"/>
          </a:p>
          <a:p>
            <a:pPr lvl="1"/>
            <a:r>
              <a:rPr lang="zh-CN" altLang="en-US" dirty="0"/>
              <a:t>不局限于资本家，扩展到国家、企业管理人员、劳动者等</a:t>
            </a:r>
            <a:endParaRPr lang="en-US" altLang="zh-CN" dirty="0"/>
          </a:p>
          <a:p>
            <a:pPr lvl="1"/>
            <a:r>
              <a:rPr lang="zh-CN" altLang="en-US" dirty="0"/>
              <a:t>财产性收入增加是剩余价值分配方式中另外一个重要变化</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33</a:t>
            </a:fld>
            <a:endParaRPr lang="zh-CN" altLang="en-US"/>
          </a:p>
        </p:txBody>
      </p:sp>
    </p:spTree>
    <p:extLst>
      <p:ext uri="{BB962C8B-B14F-4D97-AF65-F5344CB8AC3E}">
        <p14:creationId xmlns:p14="http://schemas.microsoft.com/office/powerpoint/2010/main" val="7518560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国家的福利制度</a:t>
            </a:r>
          </a:p>
        </p:txBody>
      </p:sp>
      <p:sp>
        <p:nvSpPr>
          <p:cNvPr id="3" name="内容占位符 2"/>
          <p:cNvSpPr>
            <a:spLocks noGrp="1"/>
          </p:cNvSpPr>
          <p:nvPr>
            <p:ph idx="1"/>
          </p:nvPr>
        </p:nvSpPr>
        <p:spPr/>
        <p:txBody>
          <a:bodyPr/>
          <a:lstStyle/>
          <a:p>
            <a:r>
              <a:rPr lang="zh-CN" altLang="en-US" dirty="0"/>
              <a:t>社会福利的三种形式</a:t>
            </a:r>
            <a:endParaRPr lang="en-US" altLang="zh-CN" dirty="0"/>
          </a:p>
          <a:p>
            <a:pPr lvl="1"/>
            <a:r>
              <a:rPr lang="zh-CN" altLang="en-US" dirty="0"/>
              <a:t>社会保险</a:t>
            </a:r>
            <a:endParaRPr lang="en-US" altLang="zh-CN" dirty="0"/>
          </a:p>
          <a:p>
            <a:pPr lvl="1"/>
            <a:r>
              <a:rPr lang="zh-CN" altLang="en-US" dirty="0"/>
              <a:t>社会救济</a:t>
            </a:r>
            <a:endParaRPr lang="en-US" altLang="zh-CN" dirty="0"/>
          </a:p>
          <a:p>
            <a:pPr lvl="1"/>
            <a:r>
              <a:rPr lang="zh-CN" altLang="en-US" dirty="0"/>
              <a:t>社会服务</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34</a:t>
            </a:fld>
            <a:endParaRPr lang="zh-CN" altLang="en-US"/>
          </a:p>
        </p:txBody>
      </p:sp>
    </p:spTree>
    <p:extLst>
      <p:ext uri="{BB962C8B-B14F-4D97-AF65-F5344CB8AC3E}">
        <p14:creationId xmlns:p14="http://schemas.microsoft.com/office/powerpoint/2010/main" val="18532421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建立国家福利制度的原因</a:t>
            </a:r>
          </a:p>
        </p:txBody>
      </p:sp>
      <p:sp>
        <p:nvSpPr>
          <p:cNvPr id="3" name="内容占位符 2"/>
          <p:cNvSpPr>
            <a:spLocks noGrp="1"/>
          </p:cNvSpPr>
          <p:nvPr>
            <p:ph idx="1"/>
          </p:nvPr>
        </p:nvSpPr>
        <p:spPr/>
        <p:txBody>
          <a:bodyPr/>
          <a:lstStyle/>
          <a:p>
            <a:r>
              <a:rPr lang="zh-CN" altLang="en-US" dirty="0"/>
              <a:t>劳动生产力发展和科技进步，剩余价值不断增加</a:t>
            </a:r>
            <a:endParaRPr lang="en-US" altLang="zh-CN" dirty="0"/>
          </a:p>
          <a:p>
            <a:r>
              <a:rPr lang="zh-CN" altLang="en-US" dirty="0"/>
              <a:t>缓和生产过剩和消费不足的矛盾，促进资本主义经济发展</a:t>
            </a:r>
            <a:endParaRPr lang="en-US" altLang="zh-CN" dirty="0"/>
          </a:p>
          <a:p>
            <a:r>
              <a:rPr lang="zh-CN" altLang="en-US" dirty="0"/>
              <a:t>缓和阶级矛盾，维护自身统治</a:t>
            </a:r>
            <a:endParaRPr lang="en-US" altLang="zh-CN" dirty="0"/>
          </a:p>
          <a:p>
            <a:r>
              <a:rPr lang="zh-CN" altLang="en-US" dirty="0"/>
              <a:t>殖民统治发展中国家，榨取一部分财富，可用于社会福利</a:t>
            </a:r>
          </a:p>
        </p:txBody>
      </p:sp>
      <p:sp>
        <p:nvSpPr>
          <p:cNvPr id="4" name="灯片编号占位符 3"/>
          <p:cNvSpPr>
            <a:spLocks noGrp="1"/>
          </p:cNvSpPr>
          <p:nvPr>
            <p:ph type="sldNum" sz="quarter" idx="12"/>
          </p:nvPr>
        </p:nvSpPr>
        <p:spPr/>
        <p:txBody>
          <a:bodyPr/>
          <a:lstStyle/>
          <a:p>
            <a:fld id="{10F2143F-0457-4E80-A290-5DB1806D65E5}" type="slidenum">
              <a:rPr lang="zh-CN" altLang="en-US" smtClean="0"/>
              <a:t>35</a:t>
            </a:fld>
            <a:endParaRPr lang="zh-CN" altLang="en-US"/>
          </a:p>
        </p:txBody>
      </p:sp>
    </p:spTree>
    <p:extLst>
      <p:ext uri="{BB962C8B-B14F-4D97-AF65-F5344CB8AC3E}">
        <p14:creationId xmlns:p14="http://schemas.microsoft.com/office/powerpoint/2010/main" val="3605865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8650" y="804332"/>
            <a:ext cx="7260128" cy="778931"/>
          </a:xfrm>
        </p:spPr>
        <p:txBody>
          <a:bodyPr>
            <a:normAutofit/>
          </a:bodyPr>
          <a:lstStyle/>
          <a:p>
            <a:r>
              <a:rPr lang="zh-CN" altLang="en-US" dirty="0"/>
              <a:t>发达资本主义国家在全球范围的掠夺和剥削</a:t>
            </a:r>
          </a:p>
        </p:txBody>
      </p:sp>
      <p:sp>
        <p:nvSpPr>
          <p:cNvPr id="3" name="内容占位符 2"/>
          <p:cNvSpPr>
            <a:spLocks noGrp="1"/>
          </p:cNvSpPr>
          <p:nvPr>
            <p:ph idx="1"/>
          </p:nvPr>
        </p:nvSpPr>
        <p:spPr/>
        <p:txBody>
          <a:bodyPr/>
          <a:lstStyle/>
          <a:p>
            <a:r>
              <a:rPr lang="zh-CN" altLang="en-US" dirty="0"/>
              <a:t>通过商品市场的不平等交换获取暴利</a:t>
            </a:r>
            <a:endParaRPr lang="en-US" altLang="zh-CN" dirty="0"/>
          </a:p>
          <a:p>
            <a:r>
              <a:rPr lang="zh-CN" altLang="en-US" dirty="0"/>
              <a:t>通过资本市场运作获取暴利</a:t>
            </a:r>
            <a:endParaRPr lang="en-US" altLang="zh-CN" dirty="0"/>
          </a:p>
          <a:p>
            <a:r>
              <a:rPr lang="zh-CN" altLang="en-US"/>
              <a:t>通过政治和军事的干预获取暴利</a:t>
            </a:r>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36</a:t>
            </a:fld>
            <a:endParaRPr lang="zh-CN" altLang="en-US"/>
          </a:p>
        </p:txBody>
      </p:sp>
    </p:spTree>
    <p:extLst>
      <p:ext uri="{BB962C8B-B14F-4D97-AF65-F5344CB8AC3E}">
        <p14:creationId xmlns:p14="http://schemas.microsoft.com/office/powerpoint/2010/main" val="439076632"/>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1171</TotalTime>
  <Words>1713</Words>
  <Application>Microsoft Office PowerPoint</Application>
  <PresentationFormat>全屏显示(4:3)</PresentationFormat>
  <Paragraphs>298</Paragraphs>
  <Slides>36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36</vt:i4>
      </vt:variant>
    </vt:vector>
  </HeadingPairs>
  <TitlesOfParts>
    <vt:vector size="43" baseType="lpstr">
      <vt:lpstr>宋体</vt:lpstr>
      <vt:lpstr>微软雅黑</vt:lpstr>
      <vt:lpstr>Arial</vt:lpstr>
      <vt:lpstr>Calibri</vt:lpstr>
      <vt:lpstr>Calibri Light</vt:lpstr>
      <vt:lpstr>Wingdings</vt:lpstr>
      <vt:lpstr>Office 主题</vt:lpstr>
      <vt:lpstr>第七章 剩余价值的分配</vt:lpstr>
      <vt:lpstr>主要内容</vt:lpstr>
      <vt:lpstr>PowerPoint 演示文稿</vt:lpstr>
      <vt:lpstr>生产成本</vt:lpstr>
      <vt:lpstr>生产成本的意义</vt:lpstr>
      <vt:lpstr>剩余价值转化为利润</vt:lpstr>
      <vt:lpstr>影响利润率变动的因素</vt:lpstr>
      <vt:lpstr>利润转化为平均利润</vt:lpstr>
      <vt:lpstr>价值转化为生产价格</vt:lpstr>
      <vt:lpstr>平均利润率下降趋势</vt:lpstr>
      <vt:lpstr>平均利润率下降趋势</vt:lpstr>
      <vt:lpstr>PowerPoint 演示文稿</vt:lpstr>
      <vt:lpstr>商业资本</vt:lpstr>
      <vt:lpstr>商业利润</vt:lpstr>
      <vt:lpstr>商业利润</vt:lpstr>
      <vt:lpstr>剩余价值的分配（商业利润）</vt:lpstr>
      <vt:lpstr>PowerPoint 演示文稿</vt:lpstr>
      <vt:lpstr>PowerPoint 演示文稿</vt:lpstr>
      <vt:lpstr>借贷资本</vt:lpstr>
      <vt:lpstr>利息</vt:lpstr>
      <vt:lpstr>银行利润</vt:lpstr>
      <vt:lpstr>资本主义地租</vt:lpstr>
      <vt:lpstr>资本主义土地私有制的三类参与者</vt:lpstr>
      <vt:lpstr>级差地租</vt:lpstr>
      <vt:lpstr>级差地租I的形成</vt:lpstr>
      <vt:lpstr>级差地租II的形成</vt:lpstr>
      <vt:lpstr>PowerPoint 演示文稿</vt:lpstr>
      <vt:lpstr>绝对地租</vt:lpstr>
      <vt:lpstr>绝对地租的形成</vt:lpstr>
      <vt:lpstr>绝对地租形成的原因</vt:lpstr>
      <vt:lpstr>土地价格</vt:lpstr>
      <vt:lpstr>PowerPoint 演示文稿</vt:lpstr>
      <vt:lpstr>国民收入分配关系变化（v+m）</vt:lpstr>
      <vt:lpstr>国家的福利制度</vt:lpstr>
      <vt:lpstr>建立国家福利制度的原因</vt:lpstr>
      <vt:lpstr>发达资本主义国家在全球范围的掠夺和剥削</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JING JIANG</cp:lastModifiedBy>
  <cp:revision>65</cp:revision>
  <dcterms:created xsi:type="dcterms:W3CDTF">2013-11-29T11:59:20Z</dcterms:created>
  <dcterms:modified xsi:type="dcterms:W3CDTF">2023-12-19T23:55:08Z</dcterms:modified>
</cp:coreProperties>
</file>
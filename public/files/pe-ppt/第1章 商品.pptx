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257" r:id="rId3"/>
    <p:sldId id="258" r:id="rId4"/>
    <p:sldId id="259" r:id="rId5"/>
    <p:sldId id="270" r:id="rId6"/>
    <p:sldId id="260" r:id="rId7"/>
    <p:sldId id="261" r:id="rId8"/>
    <p:sldId id="262" r:id="rId9"/>
    <p:sldId id="271" r:id="rId10"/>
    <p:sldId id="263" r:id="rId11"/>
    <p:sldId id="264" r:id="rId12"/>
    <p:sldId id="265" r:id="rId13"/>
    <p:sldId id="266" r:id="rId14"/>
    <p:sldId id="267" r:id="rId15"/>
    <p:sldId id="268" r:id="rId16"/>
    <p:sldId id="269" r:id="rId17"/>
    <p:sldId id="273" r:id="rId18"/>
    <p:sldId id="274" r:id="rId19"/>
    <p:sldId id="275" r:id="rId20"/>
    <p:sldId id="280" r:id="rId21"/>
    <p:sldId id="281" r:id="rId22"/>
    <p:sldId id="278" r:id="rId23"/>
    <p:sldId id="293" r:id="rId24"/>
    <p:sldId id="289" r:id="rId25"/>
    <p:sldId id="290" r:id="rId26"/>
    <p:sldId id="291" r:id="rId27"/>
    <p:sldId id="292" r:id="rId2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1" autoAdjust="0"/>
    <p:restoredTop sz="94660"/>
  </p:normalViewPr>
  <p:slideViewPr>
    <p:cSldViewPr snapToGrid="0">
      <p:cViewPr varScale="1">
        <p:scale>
          <a:sx n="113" d="100"/>
          <a:sy n="113" d="100"/>
        </p:scale>
        <p:origin x="1422"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39002E-6663-44C7-8136-2276ECC2B749}" type="datetimeFigureOut">
              <a:rPr lang="zh-CN" altLang="en-US" smtClean="0"/>
              <a:t>2023/10/10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BD2699-BFC2-46FE-A849-DE58F412D66F}" type="slidenum">
              <a:rPr lang="zh-CN" altLang="en-US" smtClean="0"/>
              <a:t>‹#›</a:t>
            </a:fld>
            <a:endParaRPr lang="zh-CN" altLang="en-US"/>
          </a:p>
        </p:txBody>
      </p:sp>
    </p:spTree>
    <p:extLst>
      <p:ext uri="{BB962C8B-B14F-4D97-AF65-F5344CB8AC3E}">
        <p14:creationId xmlns:p14="http://schemas.microsoft.com/office/powerpoint/2010/main" val="1522169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2F664C08-BFFC-4D01-87E6-8EF2837D7094}" type="slidenum">
              <a:rPr lang="en-US" altLang="zh-CN"/>
              <a:pPr>
                <a:spcBef>
                  <a:spcPct val="0"/>
                </a:spcBef>
              </a:pPr>
              <a:t>5</a:t>
            </a:fld>
            <a:endParaRPr lang="en-US" altLang="zh-CN"/>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extLst>
      <p:ext uri="{BB962C8B-B14F-4D97-AF65-F5344CB8AC3E}">
        <p14:creationId xmlns:p14="http://schemas.microsoft.com/office/powerpoint/2010/main" val="2264507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4236494-FDDC-47F8-A453-01E84D8C7C90}" type="slidenum">
              <a:rPr lang="en-US" altLang="zh-CN"/>
              <a:pPr>
                <a:spcBef>
                  <a:spcPct val="0"/>
                </a:spcBef>
              </a:pPr>
              <a:t>9</a:t>
            </a:fld>
            <a:endParaRPr lang="en-US" altLang="zh-CN"/>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extLst>
      <p:ext uri="{BB962C8B-B14F-4D97-AF65-F5344CB8AC3E}">
        <p14:creationId xmlns:p14="http://schemas.microsoft.com/office/powerpoint/2010/main" val="3094284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405DFEE5-22BB-4079-9ADD-CFA56288DF4B}" type="slidenum">
              <a:rPr lang="en-US" altLang="zh-CN"/>
              <a:pPr>
                <a:spcBef>
                  <a:spcPct val="0"/>
                </a:spcBef>
              </a:pPr>
              <a:t>18</a:t>
            </a:fld>
            <a:endParaRPr lang="en-US" altLang="zh-CN"/>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extLst>
      <p:ext uri="{BB962C8B-B14F-4D97-AF65-F5344CB8AC3E}">
        <p14:creationId xmlns:p14="http://schemas.microsoft.com/office/powerpoint/2010/main" val="38863100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4133" y="2404536"/>
            <a:ext cx="7772400" cy="715963"/>
          </a:xfrm>
        </p:spPr>
        <p:txBody>
          <a:bodyPr anchor="b">
            <a:normAutofit/>
          </a:bodyPr>
          <a:lstStyle>
            <a:lvl1pPr algn="l">
              <a:defRPr sz="360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
        <p:nvSpPr>
          <p:cNvPr id="3" name="Subtitle 2"/>
          <p:cNvSpPr>
            <a:spLocks noGrp="1"/>
          </p:cNvSpPr>
          <p:nvPr>
            <p:ph type="subTitle" idx="1" hasCustomPrompt="1"/>
          </p:nvPr>
        </p:nvSpPr>
        <p:spPr>
          <a:xfrm>
            <a:off x="533399" y="3407310"/>
            <a:ext cx="6858000" cy="495829"/>
          </a:xfrm>
        </p:spPr>
        <p:txBody>
          <a:bodyPr>
            <a:normAutofit/>
          </a:bodyPr>
          <a:lstStyle>
            <a:lvl1pPr marL="0" indent="0" algn="l">
              <a:buNone/>
              <a:defRPr sz="2000" baseline="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smtClean="0"/>
              <a:t>— </a:t>
            </a:r>
            <a:r>
              <a:rPr lang="zh-CN" altLang="en-US" dirty="0" smtClean="0"/>
              <a:t>单击此处编辑母版副标题样式</a:t>
            </a:r>
            <a:endParaRPr lang="en-US" dirty="0"/>
          </a:p>
        </p:txBody>
      </p:sp>
      <p:sp>
        <p:nvSpPr>
          <p:cNvPr id="4" name="Date Placeholder 3"/>
          <p:cNvSpPr>
            <a:spLocks noGrp="1"/>
          </p:cNvSpPr>
          <p:nvPr>
            <p:ph type="dt" sz="half" idx="10"/>
          </p:nvPr>
        </p:nvSpPr>
        <p:spPr/>
        <p:txBody>
          <a:bodyPr/>
          <a:lstStyle/>
          <a:p>
            <a:fld id="{14A657D2-82C3-44B3-81F0-80FA36F26C98}" type="datetime1">
              <a:rPr lang="zh-CN" altLang="en-US" smtClean="0"/>
              <a:t>2023/10/10</a:t>
            </a:fld>
            <a:endParaRPr lang="zh-CN" altLang="en-US"/>
          </a:p>
        </p:txBody>
      </p:sp>
      <p:sp>
        <p:nvSpPr>
          <p:cNvPr id="5" name="Footer Placeholder 4"/>
          <p:cNvSpPr>
            <a:spLocks noGrp="1"/>
          </p:cNvSpPr>
          <p:nvPr>
            <p:ph type="ftr" sz="quarter" idx="11"/>
          </p:nvPr>
        </p:nvSpPr>
        <p:spPr>
          <a:xfrm>
            <a:off x="3028950" y="6533093"/>
            <a:ext cx="3086100" cy="365125"/>
          </a:xfrm>
        </p:spPr>
        <p:txBody>
          <a:bodyPr/>
          <a:lstStyle>
            <a:lvl1pPr>
              <a:defRPr>
                <a:solidFill>
                  <a:schemeClr val="bg2">
                    <a:lumMod val="25000"/>
                  </a:schemeClr>
                </a:solidFill>
              </a:defRPr>
            </a:lvl1pPr>
          </a:lstStyle>
          <a:p>
            <a:r>
              <a:rPr lang="zh-CN" altLang="en-US" dirty="0" smtClean="0"/>
              <a:t>南京大学商学院</a:t>
            </a:r>
            <a:endParaRPr lang="zh-CN" altLang="en-US" dirty="0"/>
          </a:p>
        </p:txBody>
      </p:sp>
      <p:sp>
        <p:nvSpPr>
          <p:cNvPr id="6" name="Slide Number Placeholder 5"/>
          <p:cNvSpPr>
            <a:spLocks noGrp="1"/>
          </p:cNvSpPr>
          <p:nvPr>
            <p:ph type="sldNum" sz="quarter" idx="12"/>
          </p:nvPr>
        </p:nvSpPr>
        <p:spPr/>
        <p:txBody>
          <a:body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1162771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804332"/>
            <a:ext cx="5755217" cy="778931"/>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628650" y="1701799"/>
            <a:ext cx="7886700" cy="4555067"/>
          </a:xfrm>
        </p:spPr>
        <p:txBody>
          <a:bodyPr/>
          <a:lstStyle>
            <a:lvl1pPr>
              <a:lnSpc>
                <a:spcPct val="150000"/>
              </a:lnSpc>
              <a:spcBef>
                <a:spcPts val="0"/>
              </a:spcBef>
              <a:defRPr sz="2400" baseline="0">
                <a:latin typeface="微软雅黑" panose="020B0503020204020204" pitchFamily="34" charset="-122"/>
                <a:ea typeface="微软雅黑" panose="020B0503020204020204" pitchFamily="34" charset="-122"/>
              </a:defRPr>
            </a:lvl1pPr>
            <a:lvl2pPr>
              <a:lnSpc>
                <a:spcPct val="150000"/>
              </a:lnSpc>
              <a:spcBef>
                <a:spcPts val="0"/>
              </a:spcBef>
              <a:defRPr sz="2000" baseline="0">
                <a:latin typeface="微软雅黑" panose="020B0503020204020204" pitchFamily="34" charset="-122"/>
                <a:ea typeface="微软雅黑" panose="020B0503020204020204" pitchFamily="34" charset="-122"/>
              </a:defRPr>
            </a:lvl2pPr>
            <a:lvl3pPr>
              <a:lnSpc>
                <a:spcPct val="150000"/>
              </a:lnSpc>
              <a:spcBef>
                <a:spcPts val="0"/>
              </a:spcBef>
              <a:defRPr>
                <a:latin typeface="微软雅黑" panose="020B0503020204020204" pitchFamily="34" charset="-122"/>
                <a:ea typeface="微软雅黑" panose="020B0503020204020204" pitchFamily="34" charset="-122"/>
              </a:defRPr>
            </a:lvl3pPr>
            <a:lvl4pPr>
              <a:lnSpc>
                <a:spcPct val="150000"/>
              </a:lnSpc>
              <a:spcBef>
                <a:spcPts val="0"/>
              </a:spcBef>
              <a:defRPr>
                <a:latin typeface="微软雅黑" panose="020B0503020204020204" pitchFamily="34" charset="-122"/>
                <a:ea typeface="微软雅黑" panose="020B0503020204020204" pitchFamily="34" charset="-122"/>
              </a:defRPr>
            </a:lvl4pPr>
            <a:lvl5pPr>
              <a:lnSpc>
                <a:spcPct val="150000"/>
              </a:lnSpc>
              <a:spcBef>
                <a:spcPts val="0"/>
              </a:spcBef>
              <a:defRPr>
                <a:latin typeface="微软雅黑" panose="020B0503020204020204" pitchFamily="34" charset="-122"/>
                <a:ea typeface="微软雅黑" panose="020B0503020204020204" pitchFamily="34"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Date Placeholder 3"/>
          <p:cNvSpPr>
            <a:spLocks noGrp="1"/>
          </p:cNvSpPr>
          <p:nvPr>
            <p:ph type="dt" sz="half" idx="10"/>
          </p:nvPr>
        </p:nvSpPr>
        <p:spPr/>
        <p:txBody>
          <a:bodyPr/>
          <a:lstStyle/>
          <a:p>
            <a:fld id="{48F8BEF1-7B0B-47F3-92C3-9097AB366361}" type="datetime1">
              <a:rPr lang="zh-CN" altLang="en-US" smtClean="0"/>
              <a:t>2023/10/10</a:t>
            </a:fld>
            <a:endParaRPr lang="zh-CN" altLang="en-US"/>
          </a:p>
        </p:txBody>
      </p:sp>
      <p:sp>
        <p:nvSpPr>
          <p:cNvPr id="5" name="Footer Placeholder 4"/>
          <p:cNvSpPr>
            <a:spLocks noGrp="1"/>
          </p:cNvSpPr>
          <p:nvPr>
            <p:ph type="ftr" sz="quarter" idx="11"/>
          </p:nvPr>
        </p:nvSpPr>
        <p:spPr>
          <a:xfrm>
            <a:off x="3028950" y="6519864"/>
            <a:ext cx="3086100" cy="365125"/>
          </a:xfrm>
        </p:spPr>
        <p:txBody>
          <a:bodyPr/>
          <a:lstStyle>
            <a:lvl1pPr>
              <a:defRPr>
                <a:solidFill>
                  <a:schemeClr val="bg2">
                    <a:lumMod val="25000"/>
                  </a:schemeClr>
                </a:solidFill>
              </a:defRPr>
            </a:lvl1pPr>
          </a:lstStyle>
          <a:p>
            <a:r>
              <a:rPr lang="zh-CN" altLang="en-US" dirty="0" smtClean="0"/>
              <a:t>南京大学商学院</a:t>
            </a:r>
            <a:endParaRPr lang="zh-CN" altLang="en-US" dirty="0"/>
          </a:p>
        </p:txBody>
      </p:sp>
      <p:sp>
        <p:nvSpPr>
          <p:cNvPr id="6" name="Slide Number Placeholder 5"/>
          <p:cNvSpPr>
            <a:spLocks noGrp="1"/>
          </p:cNvSpPr>
          <p:nvPr>
            <p:ph type="sldNum" sz="quarter" idx="12"/>
          </p:nvPr>
        </p:nvSpPr>
        <p:spPr/>
        <p:txBody>
          <a:body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8980666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D608AA-C3B3-4C0A-8D2D-C2442568A973}" type="datetime1">
              <a:rPr lang="zh-CN" altLang="en-US" smtClean="0"/>
              <a:t>2023/10/10</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smtClean="0"/>
              <a:t>南京大学商学院</a:t>
            </a:r>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3960140058"/>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               第一章 商品</a:t>
            </a:r>
            <a:endParaRPr lang="zh-CN" altLang="en-US" dirty="0"/>
          </a:p>
        </p:txBody>
      </p:sp>
      <p:sp>
        <p:nvSpPr>
          <p:cNvPr id="5" name="副标题 4"/>
          <p:cNvSpPr>
            <a:spLocks noGrp="1"/>
          </p:cNvSpPr>
          <p:nvPr>
            <p:ph type="subTitle" idx="1"/>
          </p:nvPr>
        </p:nvSpPr>
        <p:spPr/>
        <p:txBody>
          <a:bodyPr/>
          <a:lstStyle/>
          <a:p>
            <a:endParaRPr lang="zh-CN" altLang="en-US"/>
          </a:p>
        </p:txBody>
      </p:sp>
      <p:sp>
        <p:nvSpPr>
          <p:cNvPr id="3" name="灯片编号占位符 2"/>
          <p:cNvSpPr>
            <a:spLocks noGrp="1"/>
          </p:cNvSpPr>
          <p:nvPr>
            <p:ph type="sldNum" sz="quarter" idx="12"/>
          </p:nvPr>
        </p:nvSpPr>
        <p:spPr/>
        <p:txBody>
          <a:bodyPr/>
          <a:lstStyle/>
          <a:p>
            <a:fld id="{10F2143F-0457-4E80-A290-5DB1806D65E5}" type="slidenum">
              <a:rPr lang="zh-CN" altLang="en-US" smtClean="0"/>
              <a:t>1</a:t>
            </a:fld>
            <a:endParaRPr lang="zh-CN" altLang="en-US"/>
          </a:p>
        </p:txBody>
      </p:sp>
    </p:spTree>
    <p:extLst>
      <p:ext uri="{BB962C8B-B14F-4D97-AF65-F5344CB8AC3E}">
        <p14:creationId xmlns:p14="http://schemas.microsoft.com/office/powerpoint/2010/main" val="3224151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第一章</a:t>
            </a:r>
            <a:r>
              <a:rPr lang="zh-CN" altLang="en-US" dirty="0" smtClean="0"/>
              <a:t>主要内容</a:t>
            </a:r>
            <a:endParaRPr lang="zh-CN" altLang="en-US" dirty="0"/>
          </a:p>
        </p:txBody>
      </p:sp>
      <p:sp>
        <p:nvSpPr>
          <p:cNvPr id="3" name="内容占位符 2"/>
          <p:cNvSpPr>
            <a:spLocks noGrp="1"/>
          </p:cNvSpPr>
          <p:nvPr>
            <p:ph idx="1"/>
          </p:nvPr>
        </p:nvSpPr>
        <p:spPr/>
        <p:txBody>
          <a:bodyPr/>
          <a:lstStyle/>
          <a:p>
            <a:r>
              <a:rPr lang="zh-CN" altLang="en-US" dirty="0" smtClean="0"/>
              <a:t>第一节  商品及其内在矛盾</a:t>
            </a:r>
            <a:endParaRPr lang="en-US" altLang="zh-CN" dirty="0" smtClean="0"/>
          </a:p>
          <a:p>
            <a:r>
              <a:rPr lang="zh-CN" altLang="en-US" dirty="0"/>
              <a:t>第二</a:t>
            </a:r>
            <a:r>
              <a:rPr lang="zh-CN" altLang="en-US" dirty="0" smtClean="0"/>
              <a:t>节  商品价值量</a:t>
            </a:r>
            <a:endParaRPr lang="en-US" altLang="zh-CN" dirty="0" smtClean="0"/>
          </a:p>
          <a:p>
            <a:r>
              <a:rPr lang="zh-CN" altLang="en-US" dirty="0"/>
              <a:t>第三</a:t>
            </a:r>
            <a:r>
              <a:rPr lang="zh-CN" altLang="en-US" dirty="0" smtClean="0"/>
              <a:t>节 对劳动价值论认识的深化</a:t>
            </a:r>
            <a:endParaRPr lang="en-US" altLang="zh-CN" dirty="0" smtClean="0"/>
          </a:p>
          <a:p>
            <a:endParaRPr lang="en-US" altLang="zh-CN" dirty="0"/>
          </a:p>
          <a:p>
            <a:endParaRPr lang="en-US" altLang="zh-CN" dirty="0" smtClean="0"/>
          </a:p>
          <a:p>
            <a:endParaRPr lang="zh-CN" altLang="en-US" dirty="0"/>
          </a:p>
        </p:txBody>
      </p:sp>
      <p:sp>
        <p:nvSpPr>
          <p:cNvPr id="5" name="灯片编号占位符 4"/>
          <p:cNvSpPr>
            <a:spLocks noGrp="1"/>
          </p:cNvSpPr>
          <p:nvPr>
            <p:ph type="sldNum" sz="quarter" idx="12"/>
          </p:nvPr>
        </p:nvSpPr>
        <p:spPr/>
        <p:txBody>
          <a:bodyPr/>
          <a:lstStyle/>
          <a:p>
            <a:fld id="{10F2143F-0457-4E80-A290-5DB1806D65E5}" type="slidenum">
              <a:rPr lang="zh-CN" altLang="en-US" smtClean="0"/>
              <a:t>2</a:t>
            </a:fld>
            <a:endParaRPr lang="zh-CN" altLang="en-US"/>
          </a:p>
        </p:txBody>
      </p:sp>
    </p:spTree>
    <p:extLst>
      <p:ext uri="{BB962C8B-B14F-4D97-AF65-F5344CB8AC3E}">
        <p14:creationId xmlns:p14="http://schemas.microsoft.com/office/powerpoint/2010/main" val="1028602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smtClean="0"/>
          </a:p>
          <a:p>
            <a:endParaRPr lang="en-US" altLang="zh-CN" dirty="0"/>
          </a:p>
          <a:p>
            <a:r>
              <a:rPr lang="zh-CN" altLang="en-US" dirty="0" smtClean="0"/>
              <a:t>第一</a:t>
            </a:r>
            <a:r>
              <a:rPr lang="zh-CN" altLang="en-US" dirty="0"/>
              <a:t>节  商品及其内在矛盾</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a:t>
            </a:fld>
            <a:endParaRPr lang="zh-CN" altLang="en-US"/>
          </a:p>
        </p:txBody>
      </p:sp>
    </p:spTree>
    <p:extLst>
      <p:ext uri="{BB962C8B-B14F-4D97-AF65-F5344CB8AC3E}">
        <p14:creationId xmlns:p14="http://schemas.microsoft.com/office/powerpoint/2010/main" val="1319955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商品二因素</a:t>
            </a:r>
            <a:endParaRPr lang="zh-CN" altLang="en-US" dirty="0"/>
          </a:p>
        </p:txBody>
      </p:sp>
      <p:sp>
        <p:nvSpPr>
          <p:cNvPr id="3" name="内容占位符 2"/>
          <p:cNvSpPr>
            <a:spLocks noGrp="1"/>
          </p:cNvSpPr>
          <p:nvPr>
            <p:ph idx="1"/>
          </p:nvPr>
        </p:nvSpPr>
        <p:spPr/>
        <p:txBody>
          <a:bodyPr/>
          <a:lstStyle/>
          <a:p>
            <a:r>
              <a:rPr lang="zh-CN" altLang="en-US" dirty="0" smtClean="0"/>
              <a:t>使用价值</a:t>
            </a:r>
            <a:endParaRPr lang="en-US" altLang="zh-CN" dirty="0" smtClean="0"/>
          </a:p>
          <a:p>
            <a:pPr lvl="1"/>
            <a:r>
              <a:rPr lang="zh-CN" altLang="en-US" dirty="0" smtClean="0"/>
              <a:t>商品的使用价值，就是商品能够满足人的某种需要的属性</a:t>
            </a:r>
            <a:endParaRPr lang="en-US" altLang="zh-CN" dirty="0" smtClean="0"/>
          </a:p>
          <a:p>
            <a:pPr lvl="1"/>
            <a:r>
              <a:rPr lang="zh-CN" altLang="en-US" dirty="0" smtClean="0"/>
              <a:t>商品的使用价值不体现特定的社会经济关系</a:t>
            </a:r>
            <a:endParaRPr lang="en-US" altLang="zh-CN" dirty="0" smtClean="0"/>
          </a:p>
          <a:p>
            <a:pPr lvl="1"/>
            <a:r>
              <a:rPr lang="zh-CN" altLang="en-US" dirty="0" smtClean="0"/>
              <a:t>商品的使用价值是交换价值的物质承担者</a:t>
            </a:r>
            <a:endParaRPr lang="en-US" altLang="zh-CN" dirty="0" smtClean="0"/>
          </a:p>
          <a:p>
            <a:r>
              <a:rPr lang="zh-CN" altLang="en-US" dirty="0" smtClean="0"/>
              <a:t>价值</a:t>
            </a:r>
            <a:endParaRPr lang="en-US" altLang="zh-CN" dirty="0" smtClean="0"/>
          </a:p>
          <a:p>
            <a:pPr lvl="1"/>
            <a:r>
              <a:rPr lang="zh-CN" altLang="en-US" dirty="0" smtClean="0"/>
              <a:t>具有使用价值的物品一旦进入市场交换，就具有了交换价值</a:t>
            </a:r>
            <a:endParaRPr lang="en-US" altLang="zh-CN" dirty="0" smtClean="0"/>
          </a:p>
          <a:p>
            <a:pPr lvl="1"/>
            <a:r>
              <a:rPr lang="zh-CN" altLang="en-US" dirty="0" smtClean="0"/>
              <a:t>交换价值：表现为一种使用价值与另外一种使用价值相交换的数量关系或比例</a:t>
            </a:r>
            <a:endParaRPr lang="en-US" altLang="zh-CN" dirty="0" smtClean="0"/>
          </a:p>
          <a:p>
            <a:pPr lvl="1"/>
            <a:r>
              <a:rPr lang="zh-CN" altLang="en-US" dirty="0" smtClean="0"/>
              <a:t>商品的价值，是凝结在商品中的无差别的人类劳动</a:t>
            </a:r>
            <a:endParaRPr lang="en-US" altLang="zh-CN" dirty="0" smtClean="0"/>
          </a:p>
          <a:p>
            <a:pPr lvl="1"/>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4</a:t>
            </a:fld>
            <a:endParaRPr lang="zh-CN" altLang="en-US"/>
          </a:p>
        </p:txBody>
      </p:sp>
    </p:spTree>
    <p:extLst>
      <p:ext uri="{BB962C8B-B14F-4D97-AF65-F5344CB8AC3E}">
        <p14:creationId xmlns:p14="http://schemas.microsoft.com/office/powerpoint/2010/main" val="3679018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rrowheads="1"/>
          </p:cNvSpPr>
          <p:nvPr>
            <p:ph type="title"/>
          </p:nvPr>
        </p:nvSpPr>
        <p:spPr/>
        <p:txBody>
          <a:bodyPr/>
          <a:lstStyle/>
          <a:p>
            <a:r>
              <a:rPr lang="zh-CN" altLang="en-US" dirty="0" smtClean="0"/>
              <a:t>商品两因素</a:t>
            </a:r>
            <a:endParaRPr lang="zh-CN" altLang="en-US" dirty="0" smtClean="0">
              <a:latin typeface="宋体" panose="02010600030101010101" pitchFamily="2" charset="-122"/>
            </a:endParaRPr>
          </a:p>
        </p:txBody>
      </p:sp>
      <p:sp>
        <p:nvSpPr>
          <p:cNvPr id="10243" name="Rectangle 3"/>
          <p:cNvSpPr>
            <a:spLocks noGrp="1" noChangeArrowheads="1"/>
          </p:cNvSpPr>
          <p:nvPr>
            <p:ph type="body" idx="1"/>
          </p:nvPr>
        </p:nvSpPr>
        <p:spPr/>
        <p:txBody>
          <a:bodyPr/>
          <a:lstStyle/>
          <a:p>
            <a:pPr>
              <a:buFont typeface="Wingdings" panose="05000000000000000000" pitchFamily="2" charset="2"/>
              <a:buNone/>
            </a:pPr>
            <a:r>
              <a:rPr lang="en-US" altLang="zh-CN" sz="2000" dirty="0" smtClean="0"/>
              <a:t>  </a:t>
            </a:r>
            <a:endParaRPr lang="zh-CN" altLang="en-US" sz="2000" dirty="0" smtClean="0"/>
          </a:p>
          <a:p>
            <a:pPr>
              <a:buFont typeface="Wingdings" panose="05000000000000000000" pitchFamily="2" charset="2"/>
              <a:buNone/>
            </a:pPr>
            <a:endParaRPr lang="zh-CN" altLang="en-US" sz="2000" dirty="0" smtClean="0"/>
          </a:p>
          <a:p>
            <a:pPr>
              <a:buFont typeface="Wingdings" panose="05000000000000000000" pitchFamily="2" charset="2"/>
              <a:buNone/>
            </a:pPr>
            <a:endParaRPr lang="zh-CN" altLang="en-US" sz="2000" dirty="0" smtClean="0"/>
          </a:p>
          <a:p>
            <a:pPr>
              <a:buFont typeface="Wingdings" panose="05000000000000000000" pitchFamily="2" charset="2"/>
              <a:buNone/>
            </a:pPr>
            <a:endParaRPr lang="en-US" altLang="zh-CN" sz="2000" dirty="0" smtClean="0"/>
          </a:p>
        </p:txBody>
      </p:sp>
      <p:sp>
        <p:nvSpPr>
          <p:cNvPr id="10244" name="Rectangle 4"/>
          <p:cNvSpPr>
            <a:spLocks noChangeArrowheads="1"/>
          </p:cNvSpPr>
          <p:nvPr/>
        </p:nvSpPr>
        <p:spPr bwMode="auto">
          <a:xfrm>
            <a:off x="1116013" y="3357563"/>
            <a:ext cx="504825" cy="79216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dirty="0">
                <a:latin typeface="Times New Roman" panose="02020603050405020304" pitchFamily="18" charset="0"/>
              </a:rPr>
              <a:t>商</a:t>
            </a:r>
          </a:p>
          <a:p>
            <a:pPr algn="ctr" eaLnBrk="1" hangingPunct="1">
              <a:spcBef>
                <a:spcPct val="0"/>
              </a:spcBef>
              <a:buClrTx/>
              <a:buSzTx/>
              <a:buFontTx/>
              <a:buNone/>
            </a:pPr>
            <a:r>
              <a:rPr lang="zh-CN" altLang="en-US" sz="1800" dirty="0">
                <a:latin typeface="Times New Roman" panose="02020603050405020304" pitchFamily="18" charset="0"/>
              </a:rPr>
              <a:t>品</a:t>
            </a:r>
          </a:p>
        </p:txBody>
      </p:sp>
      <p:sp>
        <p:nvSpPr>
          <p:cNvPr id="10245" name="AutoShape 5"/>
          <p:cNvSpPr>
            <a:spLocks/>
          </p:cNvSpPr>
          <p:nvPr/>
        </p:nvSpPr>
        <p:spPr bwMode="auto">
          <a:xfrm>
            <a:off x="1619250" y="2565400"/>
            <a:ext cx="287338" cy="2519363"/>
          </a:xfrm>
          <a:prstGeom prst="leftBrace">
            <a:avLst>
              <a:gd name="adj1" fmla="val 73066"/>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latin typeface="Times New Roman" panose="02020603050405020304" pitchFamily="18" charset="0"/>
            </a:endParaRPr>
          </a:p>
        </p:txBody>
      </p:sp>
      <p:sp>
        <p:nvSpPr>
          <p:cNvPr id="10246" name="Rectangle 6"/>
          <p:cNvSpPr>
            <a:spLocks noChangeArrowheads="1"/>
          </p:cNvSpPr>
          <p:nvPr/>
        </p:nvSpPr>
        <p:spPr bwMode="auto">
          <a:xfrm>
            <a:off x="1908175" y="2420938"/>
            <a:ext cx="1150938" cy="36036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dirty="0">
                <a:latin typeface="Times New Roman" panose="02020603050405020304" pitchFamily="18" charset="0"/>
              </a:rPr>
              <a:t>使用价值</a:t>
            </a:r>
          </a:p>
        </p:txBody>
      </p:sp>
      <p:sp>
        <p:nvSpPr>
          <p:cNvPr id="10247" name="Line 7"/>
          <p:cNvSpPr>
            <a:spLocks noChangeShapeType="1"/>
          </p:cNvSpPr>
          <p:nvPr/>
        </p:nvSpPr>
        <p:spPr bwMode="auto">
          <a:xfrm>
            <a:off x="3059113" y="2565400"/>
            <a:ext cx="2889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48" name="Rectangle 8"/>
          <p:cNvSpPr>
            <a:spLocks noChangeArrowheads="1"/>
          </p:cNvSpPr>
          <p:nvPr/>
        </p:nvSpPr>
        <p:spPr bwMode="auto">
          <a:xfrm>
            <a:off x="3348038" y="2276475"/>
            <a:ext cx="2952750" cy="576263"/>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dirty="0">
                <a:latin typeface="Times New Roman" panose="02020603050405020304" pitchFamily="18" charset="0"/>
              </a:rPr>
              <a:t>物的有用性，既可以满足任某种</a:t>
            </a:r>
          </a:p>
          <a:p>
            <a:pPr algn="ctr" eaLnBrk="1" hangingPunct="1">
              <a:spcBef>
                <a:spcPct val="0"/>
              </a:spcBef>
              <a:buClrTx/>
              <a:buSzTx/>
              <a:buFontTx/>
              <a:buNone/>
            </a:pPr>
            <a:r>
              <a:rPr lang="zh-CN" altLang="en-US" sz="1600" dirty="0">
                <a:latin typeface="Times New Roman" panose="02020603050405020304" pitchFamily="18" charset="0"/>
              </a:rPr>
              <a:t>需要的属性</a:t>
            </a:r>
          </a:p>
        </p:txBody>
      </p:sp>
      <p:sp>
        <p:nvSpPr>
          <p:cNvPr id="10249" name="Line 9"/>
          <p:cNvSpPr>
            <a:spLocks noChangeShapeType="1"/>
          </p:cNvSpPr>
          <p:nvPr/>
        </p:nvSpPr>
        <p:spPr bwMode="auto">
          <a:xfrm>
            <a:off x="6300788" y="2565400"/>
            <a:ext cx="2873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0" name="Rectangle 10"/>
          <p:cNvSpPr>
            <a:spLocks noChangeArrowheads="1"/>
          </p:cNvSpPr>
          <p:nvPr/>
        </p:nvSpPr>
        <p:spPr bwMode="auto">
          <a:xfrm>
            <a:off x="6588125" y="2276475"/>
            <a:ext cx="1368425" cy="576263"/>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dirty="0">
                <a:latin typeface="Times New Roman" panose="02020603050405020304" pitchFamily="18" charset="0"/>
              </a:rPr>
              <a:t>体现了商品的</a:t>
            </a:r>
          </a:p>
          <a:p>
            <a:pPr algn="ctr" eaLnBrk="1" hangingPunct="1">
              <a:spcBef>
                <a:spcPct val="0"/>
              </a:spcBef>
              <a:buClrTx/>
              <a:buSzTx/>
              <a:buFontTx/>
              <a:buNone/>
            </a:pPr>
            <a:r>
              <a:rPr lang="zh-CN" altLang="en-US" sz="1600" dirty="0">
                <a:latin typeface="Times New Roman" panose="02020603050405020304" pitchFamily="18" charset="0"/>
              </a:rPr>
              <a:t>自然属性</a:t>
            </a:r>
          </a:p>
        </p:txBody>
      </p:sp>
      <p:sp>
        <p:nvSpPr>
          <p:cNvPr id="10251" name="Line 11"/>
          <p:cNvSpPr>
            <a:spLocks noChangeShapeType="1"/>
          </p:cNvSpPr>
          <p:nvPr/>
        </p:nvSpPr>
        <p:spPr bwMode="auto">
          <a:xfrm>
            <a:off x="2555875" y="2781300"/>
            <a:ext cx="0" cy="863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2" name="Line 12"/>
          <p:cNvSpPr>
            <a:spLocks noChangeShapeType="1"/>
          </p:cNvSpPr>
          <p:nvPr/>
        </p:nvSpPr>
        <p:spPr bwMode="auto">
          <a:xfrm flipV="1">
            <a:off x="2555875" y="4076700"/>
            <a:ext cx="0" cy="8651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3" name="Rectangle 13"/>
          <p:cNvSpPr>
            <a:spLocks noChangeArrowheads="1"/>
          </p:cNvSpPr>
          <p:nvPr/>
        </p:nvSpPr>
        <p:spPr bwMode="auto">
          <a:xfrm>
            <a:off x="1908175" y="4941888"/>
            <a:ext cx="1150938" cy="358775"/>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Times New Roman" panose="02020603050405020304" pitchFamily="18" charset="0"/>
              </a:rPr>
              <a:t>价值</a:t>
            </a:r>
          </a:p>
        </p:txBody>
      </p:sp>
      <p:sp>
        <p:nvSpPr>
          <p:cNvPr id="10254" name="Line 14"/>
          <p:cNvSpPr>
            <a:spLocks noChangeShapeType="1"/>
          </p:cNvSpPr>
          <p:nvPr/>
        </p:nvSpPr>
        <p:spPr bwMode="auto">
          <a:xfrm>
            <a:off x="3059113" y="5084763"/>
            <a:ext cx="2889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5" name="Rectangle 15"/>
          <p:cNvSpPr>
            <a:spLocks noChangeArrowheads="1"/>
          </p:cNvSpPr>
          <p:nvPr/>
        </p:nvSpPr>
        <p:spPr bwMode="auto">
          <a:xfrm>
            <a:off x="3348038" y="4797425"/>
            <a:ext cx="2952750" cy="574675"/>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a:latin typeface="Times New Roman" panose="02020603050405020304" pitchFamily="18" charset="0"/>
              </a:rPr>
              <a:t>凝结在商品中无差别的一般</a:t>
            </a:r>
          </a:p>
          <a:p>
            <a:pPr algn="ctr" eaLnBrk="1" hangingPunct="1">
              <a:spcBef>
                <a:spcPct val="0"/>
              </a:spcBef>
              <a:buClrTx/>
              <a:buSzTx/>
              <a:buFontTx/>
              <a:buNone/>
            </a:pPr>
            <a:r>
              <a:rPr lang="zh-CN" altLang="en-US" sz="1600">
                <a:latin typeface="Times New Roman" panose="02020603050405020304" pitchFamily="18" charset="0"/>
              </a:rPr>
              <a:t>人类劳动</a:t>
            </a:r>
          </a:p>
        </p:txBody>
      </p:sp>
      <p:sp>
        <p:nvSpPr>
          <p:cNvPr id="10256" name="Line 16"/>
          <p:cNvSpPr>
            <a:spLocks noChangeShapeType="1"/>
          </p:cNvSpPr>
          <p:nvPr/>
        </p:nvSpPr>
        <p:spPr bwMode="auto">
          <a:xfrm>
            <a:off x="6300788" y="5084763"/>
            <a:ext cx="2873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7" name="Rectangle 17"/>
          <p:cNvSpPr>
            <a:spLocks noChangeArrowheads="1"/>
          </p:cNvSpPr>
          <p:nvPr/>
        </p:nvSpPr>
        <p:spPr bwMode="auto">
          <a:xfrm>
            <a:off x="6588125" y="4797425"/>
            <a:ext cx="1439863" cy="576263"/>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a:latin typeface="Times New Roman" panose="02020603050405020304" pitchFamily="18" charset="0"/>
              </a:rPr>
              <a:t>体现了商品的</a:t>
            </a:r>
          </a:p>
          <a:p>
            <a:pPr algn="ctr" eaLnBrk="1" hangingPunct="1">
              <a:spcBef>
                <a:spcPct val="0"/>
              </a:spcBef>
              <a:buClrTx/>
              <a:buSzTx/>
              <a:buFontTx/>
              <a:buNone/>
            </a:pPr>
            <a:r>
              <a:rPr lang="zh-CN" altLang="en-US" sz="1600">
                <a:latin typeface="Times New Roman" panose="02020603050405020304" pitchFamily="18" charset="0"/>
              </a:rPr>
              <a:t>社会属性</a:t>
            </a:r>
          </a:p>
        </p:txBody>
      </p:sp>
      <p:sp>
        <p:nvSpPr>
          <p:cNvPr id="10258" name="Rectangle 18"/>
          <p:cNvSpPr>
            <a:spLocks noChangeArrowheads="1"/>
          </p:cNvSpPr>
          <p:nvPr/>
        </p:nvSpPr>
        <p:spPr bwMode="auto">
          <a:xfrm>
            <a:off x="2051050" y="3644900"/>
            <a:ext cx="1008063" cy="43180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Times New Roman" panose="02020603050405020304" pitchFamily="18" charset="0"/>
              </a:rPr>
              <a:t>交换价值</a:t>
            </a:r>
          </a:p>
        </p:txBody>
      </p:sp>
      <p:sp>
        <p:nvSpPr>
          <p:cNvPr id="10259" name="Line 19"/>
          <p:cNvSpPr>
            <a:spLocks noChangeShapeType="1"/>
          </p:cNvSpPr>
          <p:nvPr/>
        </p:nvSpPr>
        <p:spPr bwMode="auto">
          <a:xfrm>
            <a:off x="3059113" y="3860800"/>
            <a:ext cx="2889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60" name="Rectangle 20"/>
          <p:cNvSpPr>
            <a:spLocks noChangeArrowheads="1"/>
          </p:cNvSpPr>
          <p:nvPr/>
        </p:nvSpPr>
        <p:spPr bwMode="auto">
          <a:xfrm>
            <a:off x="3348038" y="3573463"/>
            <a:ext cx="2952750" cy="576262"/>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dirty="0">
                <a:latin typeface="Times New Roman" panose="02020603050405020304" pitchFamily="18" charset="0"/>
              </a:rPr>
              <a:t>一种使用价值同另一种使用价值</a:t>
            </a:r>
          </a:p>
          <a:p>
            <a:pPr algn="ctr" eaLnBrk="1" hangingPunct="1">
              <a:spcBef>
                <a:spcPct val="0"/>
              </a:spcBef>
              <a:buClrTx/>
              <a:buSzTx/>
              <a:buFontTx/>
              <a:buNone/>
            </a:pPr>
            <a:r>
              <a:rPr lang="zh-CN" altLang="en-US" sz="1600" dirty="0">
                <a:latin typeface="Times New Roman" panose="02020603050405020304" pitchFamily="18" charset="0"/>
              </a:rPr>
              <a:t>相交换的量的比例</a:t>
            </a:r>
          </a:p>
        </p:txBody>
      </p:sp>
      <p:sp>
        <p:nvSpPr>
          <p:cNvPr id="10261" name="Line 21"/>
          <p:cNvSpPr>
            <a:spLocks noChangeShapeType="1"/>
          </p:cNvSpPr>
          <p:nvPr/>
        </p:nvSpPr>
        <p:spPr bwMode="auto">
          <a:xfrm>
            <a:off x="6300788" y="3860800"/>
            <a:ext cx="2873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62" name="Rectangle 22"/>
          <p:cNvSpPr>
            <a:spLocks noChangeArrowheads="1"/>
          </p:cNvSpPr>
          <p:nvPr/>
        </p:nvSpPr>
        <p:spPr bwMode="auto">
          <a:xfrm>
            <a:off x="6588125" y="3644900"/>
            <a:ext cx="1728788" cy="43338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a:latin typeface="Times New Roman" panose="02020603050405020304" pitchFamily="18" charset="0"/>
              </a:rPr>
              <a:t>是价值的表现形式</a:t>
            </a:r>
          </a:p>
        </p:txBody>
      </p:sp>
    </p:spTree>
    <p:extLst>
      <p:ext uri="{BB962C8B-B14F-4D97-AF65-F5344CB8AC3E}">
        <p14:creationId xmlns:p14="http://schemas.microsoft.com/office/powerpoint/2010/main" val="160377424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商品是使用价值和价值的统一</a:t>
            </a:r>
            <a:endParaRPr lang="zh-CN" altLang="en-US" dirty="0"/>
          </a:p>
        </p:txBody>
      </p:sp>
      <p:sp>
        <p:nvSpPr>
          <p:cNvPr id="3" name="内容占位符 2"/>
          <p:cNvSpPr>
            <a:spLocks noGrp="1"/>
          </p:cNvSpPr>
          <p:nvPr>
            <p:ph idx="1"/>
          </p:nvPr>
        </p:nvSpPr>
        <p:spPr/>
        <p:txBody>
          <a:bodyPr/>
          <a:lstStyle/>
          <a:p>
            <a:r>
              <a:rPr lang="zh-CN" altLang="en-US" dirty="0" smtClean="0"/>
              <a:t>物品可以有使用价值但不含有价值：空气、天然草地等</a:t>
            </a:r>
            <a:endParaRPr lang="en-US" altLang="zh-CN" dirty="0" smtClean="0"/>
          </a:p>
          <a:p>
            <a:r>
              <a:rPr lang="zh-CN" altLang="en-US" dirty="0" smtClean="0"/>
              <a:t>物品只是一种使用价值而非商品：满足自己需要、无偿给其他人使用</a:t>
            </a:r>
            <a:endParaRPr lang="en-US" altLang="zh-CN" dirty="0" smtClean="0"/>
          </a:p>
          <a:p>
            <a:r>
              <a:rPr lang="zh-CN" altLang="en-US" dirty="0" smtClean="0"/>
              <a:t>如果物品没有使用价值，就是无用之物，即使付出了劳动，也不形成价值</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6</a:t>
            </a:fld>
            <a:endParaRPr lang="zh-CN" altLang="en-US"/>
          </a:p>
        </p:txBody>
      </p:sp>
    </p:spTree>
    <p:extLst>
      <p:ext uri="{BB962C8B-B14F-4D97-AF65-F5344CB8AC3E}">
        <p14:creationId xmlns:p14="http://schemas.microsoft.com/office/powerpoint/2010/main" val="1062474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商品使用价值和价值之间的矛盾</a:t>
            </a:r>
            <a:endParaRPr lang="zh-CN" altLang="en-US" dirty="0"/>
          </a:p>
        </p:txBody>
      </p:sp>
      <p:sp>
        <p:nvSpPr>
          <p:cNvPr id="3" name="内容占位符 2"/>
          <p:cNvSpPr>
            <a:spLocks noGrp="1"/>
          </p:cNvSpPr>
          <p:nvPr>
            <p:ph idx="1"/>
          </p:nvPr>
        </p:nvSpPr>
        <p:spPr/>
        <p:txBody>
          <a:bodyPr/>
          <a:lstStyle/>
          <a:p>
            <a:r>
              <a:rPr lang="zh-CN" altLang="en-US" dirty="0" smtClean="0"/>
              <a:t>商品生产者生产某种商品并不是为了获得使用价值，而是为了取得其价值</a:t>
            </a:r>
            <a:endParaRPr lang="en-US" altLang="zh-CN" dirty="0" smtClean="0"/>
          </a:p>
          <a:p>
            <a:r>
              <a:rPr lang="zh-CN" altLang="en-US" dirty="0" smtClean="0"/>
              <a:t>商品购买者要获得商品的使用价值，必须支付商品的价值</a:t>
            </a:r>
            <a:endParaRPr lang="en-US" altLang="zh-CN" dirty="0" smtClean="0"/>
          </a:p>
          <a:p>
            <a:r>
              <a:rPr lang="zh-CN" altLang="en-US" dirty="0" smtClean="0"/>
              <a:t>商品使用价值和价值的对立或矛盾，才产生商品交换</a:t>
            </a:r>
            <a:endParaRPr lang="en-US" altLang="zh-CN" dirty="0" smtClean="0"/>
          </a:p>
          <a:p>
            <a:r>
              <a:rPr lang="zh-CN" altLang="en-US" dirty="0" smtClean="0"/>
              <a:t>只有通过交换，商品内在的使用价值和价值的矛盾才能得到解决</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7</a:t>
            </a:fld>
            <a:endParaRPr lang="zh-CN" altLang="en-US"/>
          </a:p>
        </p:txBody>
      </p:sp>
    </p:spTree>
    <p:extLst>
      <p:ext uri="{BB962C8B-B14F-4D97-AF65-F5344CB8AC3E}">
        <p14:creationId xmlns:p14="http://schemas.microsoft.com/office/powerpoint/2010/main" val="3326734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劳动的二重性</a:t>
            </a:r>
            <a:endParaRPr lang="zh-CN" altLang="en-US" dirty="0"/>
          </a:p>
        </p:txBody>
      </p:sp>
      <p:sp>
        <p:nvSpPr>
          <p:cNvPr id="3" name="内容占位符 2"/>
          <p:cNvSpPr>
            <a:spLocks noGrp="1"/>
          </p:cNvSpPr>
          <p:nvPr>
            <p:ph idx="1"/>
          </p:nvPr>
        </p:nvSpPr>
        <p:spPr/>
        <p:txBody>
          <a:bodyPr/>
          <a:lstStyle/>
          <a:p>
            <a:r>
              <a:rPr lang="zh-CN" altLang="en-US" dirty="0" smtClean="0"/>
              <a:t>生产商品的同一劳动区分为具体劳动和抽象劳动</a:t>
            </a:r>
            <a:endParaRPr lang="en-US" altLang="zh-CN" dirty="0" smtClean="0"/>
          </a:p>
          <a:p>
            <a:pPr lvl="1"/>
            <a:r>
              <a:rPr lang="zh-CN" altLang="en-US" dirty="0" smtClean="0"/>
              <a:t>具体劳动，形成使用价值：人类劳动力在特殊的有一定目的的形式上的耗费，具体的劳动形式</a:t>
            </a:r>
            <a:endParaRPr lang="en-US" altLang="zh-CN" dirty="0" smtClean="0"/>
          </a:p>
          <a:p>
            <a:pPr lvl="1"/>
            <a:r>
              <a:rPr lang="zh-CN" altLang="en-US" dirty="0" smtClean="0"/>
              <a:t>抽象劳动，形成价值：无差别的一般人类劳动，脑力和体力的耗费</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8</a:t>
            </a:fld>
            <a:endParaRPr lang="zh-CN" altLang="en-US"/>
          </a:p>
        </p:txBody>
      </p:sp>
    </p:spTree>
    <p:extLst>
      <p:ext uri="{BB962C8B-B14F-4D97-AF65-F5344CB8AC3E}">
        <p14:creationId xmlns:p14="http://schemas.microsoft.com/office/powerpoint/2010/main" val="2536357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rrowheads="1"/>
          </p:cNvSpPr>
          <p:nvPr>
            <p:ph type="title"/>
          </p:nvPr>
        </p:nvSpPr>
        <p:spPr/>
        <p:txBody>
          <a:bodyPr/>
          <a:lstStyle/>
          <a:p>
            <a:r>
              <a:rPr lang="zh-CN" altLang="en-US" dirty="0" smtClean="0">
                <a:latin typeface="宋体" panose="02010600030101010101" pitchFamily="2" charset="-122"/>
              </a:rPr>
              <a:t>商品二重性和劳动二重性</a:t>
            </a:r>
          </a:p>
        </p:txBody>
      </p:sp>
      <p:sp>
        <p:nvSpPr>
          <p:cNvPr id="17411" name="Rectangle 3"/>
          <p:cNvSpPr>
            <a:spLocks noGrp="1" noChangeArrowheads="1"/>
          </p:cNvSpPr>
          <p:nvPr>
            <p:ph type="body" idx="1"/>
          </p:nvPr>
        </p:nvSpPr>
        <p:spPr>
          <a:xfrm>
            <a:off x="457200" y="1700213"/>
            <a:ext cx="8229600" cy="4425950"/>
          </a:xfrm>
        </p:spPr>
        <p:txBody>
          <a:bodyPr/>
          <a:lstStyle/>
          <a:p>
            <a:pPr>
              <a:buFont typeface="Wingdings" panose="05000000000000000000" pitchFamily="2" charset="2"/>
              <a:buNone/>
            </a:pPr>
            <a:endParaRPr lang="zh-CN" altLang="en-US" sz="2000" dirty="0" smtClean="0"/>
          </a:p>
        </p:txBody>
      </p:sp>
      <p:sp>
        <p:nvSpPr>
          <p:cNvPr id="17412" name="Rectangle 4"/>
          <p:cNvSpPr>
            <a:spLocks noChangeArrowheads="1"/>
          </p:cNvSpPr>
          <p:nvPr/>
        </p:nvSpPr>
        <p:spPr bwMode="auto">
          <a:xfrm>
            <a:off x="1116013" y="3500438"/>
            <a:ext cx="503237" cy="1152525"/>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Times New Roman" panose="02020603050405020304" pitchFamily="18" charset="0"/>
              </a:rPr>
              <a:t>商</a:t>
            </a:r>
          </a:p>
          <a:p>
            <a:pPr algn="ctr" eaLnBrk="1" hangingPunct="1">
              <a:spcBef>
                <a:spcPct val="0"/>
              </a:spcBef>
              <a:buClrTx/>
              <a:buSzTx/>
              <a:buFontTx/>
              <a:buNone/>
            </a:pPr>
            <a:r>
              <a:rPr lang="zh-CN" altLang="en-US" sz="1800">
                <a:latin typeface="Times New Roman" panose="02020603050405020304" pitchFamily="18" charset="0"/>
              </a:rPr>
              <a:t>品</a:t>
            </a:r>
          </a:p>
        </p:txBody>
      </p:sp>
      <p:sp>
        <p:nvSpPr>
          <p:cNvPr id="17413" name="AutoShape 5"/>
          <p:cNvSpPr>
            <a:spLocks/>
          </p:cNvSpPr>
          <p:nvPr/>
        </p:nvSpPr>
        <p:spPr bwMode="auto">
          <a:xfrm>
            <a:off x="1692275" y="2924175"/>
            <a:ext cx="358775" cy="2233613"/>
          </a:xfrm>
          <a:prstGeom prst="leftBrace">
            <a:avLst>
              <a:gd name="adj1" fmla="val 51881"/>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latin typeface="Times New Roman" panose="02020603050405020304" pitchFamily="18" charset="0"/>
            </a:endParaRPr>
          </a:p>
        </p:txBody>
      </p:sp>
      <p:sp>
        <p:nvSpPr>
          <p:cNvPr id="17414" name="Rectangle 6"/>
          <p:cNvSpPr>
            <a:spLocks noChangeArrowheads="1"/>
          </p:cNvSpPr>
          <p:nvPr/>
        </p:nvSpPr>
        <p:spPr bwMode="auto">
          <a:xfrm>
            <a:off x="2051050" y="2781300"/>
            <a:ext cx="1296988" cy="43180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Times New Roman" panose="02020603050405020304" pitchFamily="18" charset="0"/>
              </a:rPr>
              <a:t>使用价值</a:t>
            </a:r>
          </a:p>
        </p:txBody>
      </p:sp>
      <p:sp>
        <p:nvSpPr>
          <p:cNvPr id="17415" name="Rectangle 7"/>
          <p:cNvSpPr>
            <a:spLocks noChangeArrowheads="1"/>
          </p:cNvSpPr>
          <p:nvPr/>
        </p:nvSpPr>
        <p:spPr bwMode="auto">
          <a:xfrm>
            <a:off x="2051050" y="4941888"/>
            <a:ext cx="1296988" cy="43180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Times New Roman" panose="02020603050405020304" pitchFamily="18" charset="0"/>
              </a:rPr>
              <a:t>价值</a:t>
            </a:r>
          </a:p>
        </p:txBody>
      </p:sp>
      <p:sp>
        <p:nvSpPr>
          <p:cNvPr id="17416" name="Line 9"/>
          <p:cNvSpPr>
            <a:spLocks noChangeShapeType="1"/>
          </p:cNvSpPr>
          <p:nvPr/>
        </p:nvSpPr>
        <p:spPr bwMode="auto">
          <a:xfrm flipH="1" flipV="1">
            <a:off x="3348038" y="2997200"/>
            <a:ext cx="5762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17" name="Line 11"/>
          <p:cNvSpPr>
            <a:spLocks noChangeShapeType="1"/>
          </p:cNvSpPr>
          <p:nvPr/>
        </p:nvSpPr>
        <p:spPr bwMode="auto">
          <a:xfrm flipH="1">
            <a:off x="3348038" y="5157788"/>
            <a:ext cx="5762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18" name="Rectangle 12"/>
          <p:cNvSpPr>
            <a:spLocks noChangeArrowheads="1"/>
          </p:cNvSpPr>
          <p:nvPr/>
        </p:nvSpPr>
        <p:spPr bwMode="auto">
          <a:xfrm>
            <a:off x="3924300" y="2781300"/>
            <a:ext cx="1223963" cy="43180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dirty="0">
                <a:latin typeface="Times New Roman" panose="02020603050405020304" pitchFamily="18" charset="0"/>
              </a:rPr>
              <a:t>具体劳动</a:t>
            </a:r>
          </a:p>
        </p:txBody>
      </p:sp>
      <p:sp>
        <p:nvSpPr>
          <p:cNvPr id="17419" name="Rectangle 13"/>
          <p:cNvSpPr>
            <a:spLocks noChangeArrowheads="1"/>
          </p:cNvSpPr>
          <p:nvPr/>
        </p:nvSpPr>
        <p:spPr bwMode="auto">
          <a:xfrm>
            <a:off x="3924300" y="4941888"/>
            <a:ext cx="1223963" cy="43180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dirty="0">
                <a:latin typeface="Times New Roman" panose="02020603050405020304" pitchFamily="18" charset="0"/>
              </a:rPr>
              <a:t>抽象劳动</a:t>
            </a:r>
          </a:p>
        </p:txBody>
      </p:sp>
      <p:sp>
        <p:nvSpPr>
          <p:cNvPr id="17420" name="Rectangle 14"/>
          <p:cNvSpPr>
            <a:spLocks noChangeArrowheads="1"/>
          </p:cNvSpPr>
          <p:nvPr/>
        </p:nvSpPr>
        <p:spPr bwMode="auto">
          <a:xfrm>
            <a:off x="5508625" y="3573463"/>
            <a:ext cx="504825" cy="107950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Times New Roman" panose="02020603050405020304" pitchFamily="18" charset="0"/>
              </a:rPr>
              <a:t>劳</a:t>
            </a:r>
          </a:p>
          <a:p>
            <a:pPr algn="ctr" eaLnBrk="1" hangingPunct="1">
              <a:spcBef>
                <a:spcPct val="0"/>
              </a:spcBef>
              <a:buClrTx/>
              <a:buSzTx/>
              <a:buFontTx/>
              <a:buNone/>
            </a:pPr>
            <a:r>
              <a:rPr lang="zh-CN" altLang="en-US" sz="1800">
                <a:latin typeface="Times New Roman" panose="02020603050405020304" pitchFamily="18" charset="0"/>
              </a:rPr>
              <a:t>动</a:t>
            </a:r>
          </a:p>
        </p:txBody>
      </p:sp>
      <p:sp>
        <p:nvSpPr>
          <p:cNvPr id="17421" name="AutoShape 15"/>
          <p:cNvSpPr>
            <a:spLocks/>
          </p:cNvSpPr>
          <p:nvPr/>
        </p:nvSpPr>
        <p:spPr bwMode="auto">
          <a:xfrm>
            <a:off x="5148263" y="2997200"/>
            <a:ext cx="360362" cy="2160588"/>
          </a:xfrm>
          <a:prstGeom prst="rightBrace">
            <a:avLst>
              <a:gd name="adj1" fmla="val 4996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latin typeface="Times New Roman" panose="02020603050405020304" pitchFamily="18" charset="0"/>
            </a:endParaRPr>
          </a:p>
        </p:txBody>
      </p:sp>
      <p:sp>
        <p:nvSpPr>
          <p:cNvPr id="17422" name="Line 19"/>
          <p:cNvSpPr>
            <a:spLocks noChangeShapeType="1"/>
          </p:cNvSpPr>
          <p:nvPr/>
        </p:nvSpPr>
        <p:spPr bwMode="auto">
          <a:xfrm>
            <a:off x="5148263" y="2924175"/>
            <a:ext cx="122396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3" name="Line 20"/>
          <p:cNvSpPr>
            <a:spLocks noChangeShapeType="1"/>
          </p:cNvSpPr>
          <p:nvPr/>
        </p:nvSpPr>
        <p:spPr bwMode="auto">
          <a:xfrm>
            <a:off x="5148263" y="5229225"/>
            <a:ext cx="1295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4" name="AutoShape 21"/>
          <p:cNvSpPr>
            <a:spLocks/>
          </p:cNvSpPr>
          <p:nvPr/>
        </p:nvSpPr>
        <p:spPr bwMode="auto">
          <a:xfrm>
            <a:off x="6011863" y="2997200"/>
            <a:ext cx="358775" cy="2160588"/>
          </a:xfrm>
          <a:prstGeom prst="leftBrace">
            <a:avLst>
              <a:gd name="adj1" fmla="val 50184"/>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endParaRPr lang="zh-CN" altLang="en-US" sz="1800">
              <a:latin typeface="Times New Roman" panose="02020603050405020304" pitchFamily="18" charset="0"/>
            </a:endParaRPr>
          </a:p>
        </p:txBody>
      </p:sp>
      <p:sp>
        <p:nvSpPr>
          <p:cNvPr id="17425" name="Rectangle 22"/>
          <p:cNvSpPr>
            <a:spLocks noChangeArrowheads="1"/>
          </p:cNvSpPr>
          <p:nvPr/>
        </p:nvSpPr>
        <p:spPr bwMode="auto">
          <a:xfrm>
            <a:off x="6372225" y="2781300"/>
            <a:ext cx="1368425" cy="43180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dirty="0">
                <a:latin typeface="Times New Roman" panose="02020603050405020304" pitchFamily="18" charset="0"/>
              </a:rPr>
              <a:t>私人</a:t>
            </a:r>
            <a:r>
              <a:rPr lang="zh-CN" altLang="en-US" sz="1800" dirty="0" smtClean="0">
                <a:latin typeface="Times New Roman" panose="02020603050405020304" pitchFamily="18" charset="0"/>
              </a:rPr>
              <a:t>劳动</a:t>
            </a:r>
            <a:endParaRPr lang="zh-CN" altLang="en-US" sz="1800" dirty="0">
              <a:latin typeface="Times New Roman" panose="02020603050405020304" pitchFamily="18" charset="0"/>
            </a:endParaRPr>
          </a:p>
        </p:txBody>
      </p:sp>
      <p:sp>
        <p:nvSpPr>
          <p:cNvPr id="17426" name="Rectangle 23"/>
          <p:cNvSpPr>
            <a:spLocks noChangeArrowheads="1"/>
          </p:cNvSpPr>
          <p:nvPr/>
        </p:nvSpPr>
        <p:spPr bwMode="auto">
          <a:xfrm>
            <a:off x="6443663" y="4941888"/>
            <a:ext cx="1296987" cy="503237"/>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800">
                <a:latin typeface="Times New Roman" panose="02020603050405020304" pitchFamily="18" charset="0"/>
              </a:rPr>
              <a:t>社会劳动</a:t>
            </a:r>
          </a:p>
        </p:txBody>
      </p:sp>
      <p:sp>
        <p:nvSpPr>
          <p:cNvPr id="17427" name="Line 24"/>
          <p:cNvSpPr>
            <a:spLocks noChangeShapeType="1"/>
          </p:cNvSpPr>
          <p:nvPr/>
        </p:nvSpPr>
        <p:spPr bwMode="auto">
          <a:xfrm>
            <a:off x="4500563" y="3213100"/>
            <a:ext cx="0" cy="43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28" name="Line 25"/>
          <p:cNvSpPr>
            <a:spLocks noChangeShapeType="1"/>
          </p:cNvSpPr>
          <p:nvPr/>
        </p:nvSpPr>
        <p:spPr bwMode="auto">
          <a:xfrm flipV="1">
            <a:off x="4500563" y="4581525"/>
            <a:ext cx="0"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29" name="Rectangle 26"/>
          <p:cNvSpPr>
            <a:spLocks noChangeArrowheads="1"/>
          </p:cNvSpPr>
          <p:nvPr/>
        </p:nvSpPr>
        <p:spPr bwMode="auto">
          <a:xfrm>
            <a:off x="2700338" y="3644900"/>
            <a:ext cx="2376487" cy="936625"/>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70000"/>
              <a:buFont typeface="Wingdings" panose="05000000000000000000" pitchFamily="2" charset="2"/>
              <a:buChar char="n"/>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SzPct val="65000"/>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70000"/>
              <a:buFont typeface="Wingdings" panose="05000000000000000000" pitchFamily="2" charset="2"/>
              <a:buChar char="n"/>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75000"/>
              <a:buFont typeface="Wingdings" panose="05000000000000000000" pitchFamily="2" charset="2"/>
              <a:buChar char="¡"/>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0000"/>
              <a:buFont typeface="Wingdings" panose="05000000000000000000" pitchFamily="2" charset="2"/>
              <a:buChar char="n"/>
              <a:defRPr sz="16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SzTx/>
              <a:buFontTx/>
              <a:buNone/>
            </a:pPr>
            <a:r>
              <a:rPr lang="zh-CN" altLang="en-US" sz="1600" dirty="0">
                <a:latin typeface="Times New Roman" panose="02020603050405020304" pitchFamily="18" charset="0"/>
              </a:rPr>
              <a:t>具体劳动和抽象劳动不是</a:t>
            </a:r>
          </a:p>
          <a:p>
            <a:pPr algn="ctr" eaLnBrk="1" hangingPunct="1">
              <a:spcBef>
                <a:spcPct val="0"/>
              </a:spcBef>
              <a:buClrTx/>
              <a:buSzTx/>
              <a:buFontTx/>
              <a:buNone/>
            </a:pPr>
            <a:r>
              <a:rPr lang="zh-CN" altLang="en-US" sz="1600" dirty="0">
                <a:latin typeface="Times New Roman" panose="02020603050405020304" pitchFamily="18" charset="0"/>
              </a:rPr>
              <a:t>同时支出的两种劳动，而</a:t>
            </a:r>
          </a:p>
          <a:p>
            <a:pPr algn="ctr" eaLnBrk="1" hangingPunct="1">
              <a:spcBef>
                <a:spcPct val="0"/>
              </a:spcBef>
              <a:buClrTx/>
              <a:buSzTx/>
              <a:buFontTx/>
              <a:buNone/>
            </a:pPr>
            <a:r>
              <a:rPr lang="zh-CN" altLang="en-US" sz="1600" dirty="0">
                <a:latin typeface="Times New Roman" panose="02020603050405020304" pitchFamily="18" charset="0"/>
              </a:rPr>
              <a:t>是同一劳动的两个方面</a:t>
            </a:r>
          </a:p>
        </p:txBody>
      </p:sp>
    </p:spTree>
    <p:extLst>
      <p:ext uri="{BB962C8B-B14F-4D97-AF65-F5344CB8AC3E}">
        <p14:creationId xmlns:p14="http://schemas.microsoft.com/office/powerpoint/2010/main" val="2402382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具体劳动和抽象劳动的关系</a:t>
            </a:r>
            <a:endParaRPr lang="zh-CN" altLang="en-US" dirty="0"/>
          </a:p>
        </p:txBody>
      </p:sp>
      <p:sp>
        <p:nvSpPr>
          <p:cNvPr id="3" name="内容占位符 2"/>
          <p:cNvSpPr>
            <a:spLocks noGrp="1"/>
          </p:cNvSpPr>
          <p:nvPr>
            <p:ph idx="1"/>
          </p:nvPr>
        </p:nvSpPr>
        <p:spPr/>
        <p:txBody>
          <a:bodyPr/>
          <a:lstStyle/>
          <a:p>
            <a:r>
              <a:rPr lang="zh-CN" altLang="en-US" dirty="0" smtClean="0"/>
              <a:t>统一性</a:t>
            </a:r>
            <a:endParaRPr lang="en-US" altLang="zh-CN" dirty="0" smtClean="0"/>
          </a:p>
          <a:p>
            <a:pPr lvl="1"/>
            <a:r>
              <a:rPr lang="zh-CN" altLang="en-US" dirty="0" smtClean="0"/>
              <a:t>生产者在从事具体劳动的同时，也进行了抽象劳动</a:t>
            </a:r>
            <a:endParaRPr lang="en-US" altLang="zh-CN" dirty="0" smtClean="0"/>
          </a:p>
          <a:p>
            <a:pPr lvl="1"/>
            <a:r>
              <a:rPr lang="zh-CN" altLang="en-US" dirty="0" smtClean="0"/>
              <a:t>时间上和空间上是统一的，是生产者在生产商品的同一劳动过程中不可分割的两个方面</a:t>
            </a:r>
            <a:endParaRPr lang="en-US" altLang="zh-CN" dirty="0" smtClean="0"/>
          </a:p>
          <a:p>
            <a:r>
              <a:rPr lang="zh-CN" altLang="en-US" dirty="0" smtClean="0"/>
              <a:t>差别有矛盾的</a:t>
            </a:r>
            <a:endParaRPr lang="en-US" altLang="zh-CN" dirty="0" smtClean="0"/>
          </a:p>
          <a:p>
            <a:pPr lvl="1"/>
            <a:r>
              <a:rPr lang="zh-CN" altLang="en-US" dirty="0" smtClean="0"/>
              <a:t>具体劳动是从劳动具有某种特定有用性和具体形式这一角度考察的，性质不同</a:t>
            </a:r>
            <a:endParaRPr lang="en-US" altLang="zh-CN" dirty="0" smtClean="0"/>
          </a:p>
          <a:p>
            <a:pPr lvl="1"/>
            <a:r>
              <a:rPr lang="zh-CN" altLang="en-US" dirty="0" smtClean="0"/>
              <a:t>抽象劳动是单纯从人类劳动脑力和体力的耗费来考察的</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10</a:t>
            </a:fld>
            <a:endParaRPr lang="zh-CN" altLang="en-US"/>
          </a:p>
        </p:txBody>
      </p:sp>
    </p:spTree>
    <p:extLst>
      <p:ext uri="{BB962C8B-B14F-4D97-AF65-F5344CB8AC3E}">
        <p14:creationId xmlns:p14="http://schemas.microsoft.com/office/powerpoint/2010/main" val="3065578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私人劳动和社会劳动</a:t>
            </a:r>
            <a:endParaRPr lang="zh-CN" altLang="en-US" dirty="0"/>
          </a:p>
        </p:txBody>
      </p:sp>
      <p:sp>
        <p:nvSpPr>
          <p:cNvPr id="3" name="内容占位符 2"/>
          <p:cNvSpPr>
            <a:spLocks noGrp="1"/>
          </p:cNvSpPr>
          <p:nvPr>
            <p:ph idx="1"/>
          </p:nvPr>
        </p:nvSpPr>
        <p:spPr/>
        <p:txBody>
          <a:bodyPr/>
          <a:lstStyle/>
          <a:p>
            <a:r>
              <a:rPr lang="zh-CN" altLang="en-US" dirty="0" smtClean="0"/>
              <a:t>私人劳动：商品生产者都是独立生产并具有独立的经济利益，商品生产的劳动都是完全是私人行为，即私人劳动</a:t>
            </a:r>
            <a:endParaRPr lang="en-US" altLang="zh-CN" dirty="0" smtClean="0"/>
          </a:p>
          <a:p>
            <a:r>
              <a:rPr lang="zh-CN" altLang="en-US" dirty="0" smtClean="0"/>
              <a:t>商品生产的劳动都是社会总劳动的一部分，又具有社会性质，表现为社会劳动</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11</a:t>
            </a:fld>
            <a:endParaRPr lang="zh-CN" altLang="en-US"/>
          </a:p>
        </p:txBody>
      </p:sp>
    </p:spTree>
    <p:extLst>
      <p:ext uri="{BB962C8B-B14F-4D97-AF65-F5344CB8AC3E}">
        <p14:creationId xmlns:p14="http://schemas.microsoft.com/office/powerpoint/2010/main" val="4287512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私人劳动转化为社会劳动的条件</a:t>
            </a:r>
            <a:endParaRPr lang="zh-CN" altLang="en-US" dirty="0"/>
          </a:p>
        </p:txBody>
      </p:sp>
      <p:sp>
        <p:nvSpPr>
          <p:cNvPr id="3" name="内容占位符 2"/>
          <p:cNvSpPr>
            <a:spLocks noGrp="1"/>
          </p:cNvSpPr>
          <p:nvPr>
            <p:ph idx="1"/>
          </p:nvPr>
        </p:nvSpPr>
        <p:spPr/>
        <p:txBody>
          <a:bodyPr/>
          <a:lstStyle/>
          <a:p>
            <a:r>
              <a:rPr lang="zh-CN" altLang="en-US" dirty="0" smtClean="0"/>
              <a:t>私人劳动必须满足一定的社会需要，证明其是社会总劳动的一部分</a:t>
            </a:r>
            <a:endParaRPr lang="en-US" altLang="zh-CN" dirty="0" smtClean="0"/>
          </a:p>
          <a:p>
            <a:r>
              <a:rPr lang="zh-CN" altLang="en-US" dirty="0" smtClean="0"/>
              <a:t>只有有用的私人劳动可以与任何一种有用的私人劳动交换，并且是等量劳动交换时，私人劳动才能成为社会劳动</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12</a:t>
            </a:fld>
            <a:endParaRPr lang="zh-CN" altLang="en-US"/>
          </a:p>
        </p:txBody>
      </p:sp>
    </p:spTree>
    <p:extLst>
      <p:ext uri="{BB962C8B-B14F-4D97-AF65-F5344CB8AC3E}">
        <p14:creationId xmlns:p14="http://schemas.microsoft.com/office/powerpoint/2010/main" val="3434280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资本主义一切矛盾的总根源</a:t>
            </a:r>
            <a:endParaRPr lang="zh-CN" altLang="en-US" dirty="0"/>
          </a:p>
        </p:txBody>
      </p:sp>
      <p:sp>
        <p:nvSpPr>
          <p:cNvPr id="3" name="内容占位符 2"/>
          <p:cNvSpPr>
            <a:spLocks noGrp="1"/>
          </p:cNvSpPr>
          <p:nvPr>
            <p:ph idx="1"/>
          </p:nvPr>
        </p:nvSpPr>
        <p:spPr/>
        <p:txBody>
          <a:bodyPr/>
          <a:lstStyle/>
          <a:p>
            <a:r>
              <a:rPr lang="zh-CN" altLang="en-US" dirty="0" smtClean="0"/>
              <a:t>私人劳动和社会劳动的基本矛盾决定了商品经济的各种矛盾</a:t>
            </a:r>
            <a:endParaRPr lang="en-US" altLang="zh-CN" dirty="0" smtClean="0"/>
          </a:p>
          <a:p>
            <a:pPr lvl="1"/>
            <a:r>
              <a:rPr lang="zh-CN" altLang="en-US" dirty="0" smtClean="0"/>
              <a:t>私人劳动想要实现向社会劳动的转化，必须撇开各个商品生产者私人劳动的具体差别，具体劳动还原为抽象劳动</a:t>
            </a:r>
            <a:r>
              <a:rPr lang="en-US" altLang="zh-CN" dirty="0" smtClean="0"/>
              <a:t>——</a:t>
            </a:r>
            <a:r>
              <a:rPr lang="zh-CN" altLang="en-US" dirty="0" smtClean="0"/>
              <a:t>劳动二重性</a:t>
            </a:r>
            <a:endParaRPr lang="en-US" altLang="zh-CN" dirty="0" smtClean="0"/>
          </a:p>
          <a:p>
            <a:pPr lvl="1"/>
            <a:r>
              <a:rPr lang="zh-CN" altLang="en-US" dirty="0" smtClean="0"/>
              <a:t>具体劳动生产使用价值、抽象劳动生产价值</a:t>
            </a:r>
            <a:r>
              <a:rPr lang="en-US" altLang="zh-CN" dirty="0" smtClean="0"/>
              <a:t>——</a:t>
            </a:r>
            <a:r>
              <a:rPr lang="zh-CN" altLang="en-US" dirty="0" smtClean="0"/>
              <a:t>商品二重性</a:t>
            </a:r>
            <a:endParaRPr lang="en-US" altLang="zh-CN" dirty="0" smtClean="0"/>
          </a:p>
          <a:p>
            <a:pPr lvl="1"/>
            <a:r>
              <a:rPr lang="zh-CN" altLang="en-US" dirty="0" smtClean="0"/>
              <a:t>资本主义市场经济中，私人劳动和社会劳动的矛盾表现为社会化大生产和生产资料资本主义私人占有之间的矛盾</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13</a:t>
            </a:fld>
            <a:endParaRPr lang="zh-CN" altLang="en-US"/>
          </a:p>
        </p:txBody>
      </p:sp>
    </p:spTree>
    <p:extLst>
      <p:ext uri="{BB962C8B-B14F-4D97-AF65-F5344CB8AC3E}">
        <p14:creationId xmlns:p14="http://schemas.microsoft.com/office/powerpoint/2010/main" val="19320989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商品的拜物教性质</a:t>
            </a:r>
            <a:endParaRPr lang="zh-CN" altLang="en-US" dirty="0"/>
          </a:p>
        </p:txBody>
      </p:sp>
      <p:sp>
        <p:nvSpPr>
          <p:cNvPr id="3" name="内容占位符 2"/>
          <p:cNvSpPr>
            <a:spLocks noGrp="1"/>
          </p:cNvSpPr>
          <p:nvPr>
            <p:ph idx="1"/>
          </p:nvPr>
        </p:nvSpPr>
        <p:spPr/>
        <p:txBody>
          <a:bodyPr/>
          <a:lstStyle/>
          <a:p>
            <a:r>
              <a:rPr lang="zh-CN" altLang="en-US" dirty="0" smtClean="0"/>
              <a:t>商品所具有的把人们之间的社会关系虚幻为物与物的关系的性质，就是商品的拜物教性质</a:t>
            </a:r>
            <a:endParaRPr lang="en-US" altLang="zh-CN" dirty="0" smtClean="0"/>
          </a:p>
          <a:p>
            <a:r>
              <a:rPr lang="zh-CN" altLang="en-US" dirty="0" smtClean="0"/>
              <a:t>生产者之间的劳动关系表现为商品之间的价值关系，人与人之间的关系表现为物与物的关系</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14</a:t>
            </a:fld>
            <a:endParaRPr lang="zh-CN" altLang="en-US"/>
          </a:p>
        </p:txBody>
      </p:sp>
    </p:spTree>
    <p:extLst>
      <p:ext uri="{BB962C8B-B14F-4D97-AF65-F5344CB8AC3E}">
        <p14:creationId xmlns:p14="http://schemas.microsoft.com/office/powerpoint/2010/main" val="937226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smtClean="0"/>
          </a:p>
          <a:p>
            <a:endParaRPr lang="en-US" altLang="zh-CN" dirty="0"/>
          </a:p>
          <a:p>
            <a:endParaRPr lang="en-US" altLang="zh-CN" dirty="0" smtClean="0"/>
          </a:p>
          <a:p>
            <a:r>
              <a:rPr lang="zh-CN" altLang="en-US" dirty="0" smtClean="0"/>
              <a:t>第二</a:t>
            </a:r>
            <a:r>
              <a:rPr lang="zh-CN" altLang="en-US" dirty="0"/>
              <a:t>节  商品价值量</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15</a:t>
            </a:fld>
            <a:endParaRPr lang="zh-CN" altLang="en-US"/>
          </a:p>
        </p:txBody>
      </p:sp>
    </p:spTree>
    <p:extLst>
      <p:ext uri="{BB962C8B-B14F-4D97-AF65-F5344CB8AC3E}">
        <p14:creationId xmlns:p14="http://schemas.microsoft.com/office/powerpoint/2010/main" val="45047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社会必要劳动时间决定商品价值量</a:t>
            </a:r>
            <a:endParaRPr lang="zh-CN" altLang="en-US" dirty="0"/>
          </a:p>
        </p:txBody>
      </p:sp>
      <p:sp>
        <p:nvSpPr>
          <p:cNvPr id="3" name="内容占位符 2"/>
          <p:cNvSpPr>
            <a:spLocks noGrp="1"/>
          </p:cNvSpPr>
          <p:nvPr>
            <p:ph idx="1"/>
          </p:nvPr>
        </p:nvSpPr>
        <p:spPr/>
        <p:txBody>
          <a:bodyPr/>
          <a:lstStyle/>
          <a:p>
            <a:pPr marL="228600" lvl="1"/>
            <a:r>
              <a:rPr lang="zh-CN" altLang="en-US" sz="2400" dirty="0" smtClean="0"/>
              <a:t>社会必要劳动时间</a:t>
            </a:r>
            <a:endParaRPr lang="en-US" altLang="zh-CN" sz="2400" dirty="0" smtClean="0"/>
          </a:p>
          <a:p>
            <a:pPr marL="685800" lvl="2"/>
            <a:r>
              <a:rPr lang="zh-CN" altLang="en-US" sz="2200" dirty="0" smtClean="0"/>
              <a:t>在</a:t>
            </a:r>
            <a:r>
              <a:rPr lang="zh-CN" altLang="en-US" sz="2200" dirty="0"/>
              <a:t>现有的正常生产条件下，在社会平均的劳动熟练程度和劳动强度下制造某种使用价值所需要的劳动时间（同种商品生产上的劳动耗费）。</a:t>
            </a:r>
            <a:endParaRPr lang="en-US" altLang="zh-CN" sz="2200"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16</a:t>
            </a:fld>
            <a:endParaRPr lang="zh-CN" altLang="en-US"/>
          </a:p>
        </p:txBody>
      </p:sp>
    </p:spTree>
    <p:extLst>
      <p:ext uri="{BB962C8B-B14F-4D97-AF65-F5344CB8AC3E}">
        <p14:creationId xmlns:p14="http://schemas.microsoft.com/office/powerpoint/2010/main" val="4117084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关于社会必要劳动时间</a:t>
            </a:r>
            <a:endParaRPr lang="zh-CN" altLang="en-US" dirty="0"/>
          </a:p>
        </p:txBody>
      </p:sp>
      <p:sp>
        <p:nvSpPr>
          <p:cNvPr id="3" name="内容占位符 2"/>
          <p:cNvSpPr>
            <a:spLocks noGrp="1"/>
          </p:cNvSpPr>
          <p:nvPr>
            <p:ph idx="1"/>
          </p:nvPr>
        </p:nvSpPr>
        <p:spPr/>
        <p:txBody>
          <a:bodyPr>
            <a:normAutofit fontScale="92500"/>
          </a:bodyPr>
          <a:lstStyle/>
          <a:p>
            <a:r>
              <a:rPr lang="en-US" altLang="zh-CN" dirty="0" smtClean="0"/>
              <a:t>“</a:t>
            </a:r>
            <a:r>
              <a:rPr lang="zh-CN" altLang="en-US" dirty="0"/>
              <a:t>现有”，意味着社会必要劳动时间是一个动态的概念，在不同的时间节点上生产同种产品社会必要劳动时间是不同的</a:t>
            </a:r>
            <a:r>
              <a:rPr lang="zh-CN" altLang="en-US" dirty="0" smtClean="0"/>
              <a:t>。</a:t>
            </a:r>
            <a:endParaRPr lang="en-US" altLang="zh-CN" dirty="0" smtClean="0"/>
          </a:p>
          <a:p>
            <a:r>
              <a:rPr lang="en-US" altLang="zh-CN" dirty="0"/>
              <a:t>“</a:t>
            </a:r>
            <a:r>
              <a:rPr lang="zh-CN" altLang="en-US" dirty="0"/>
              <a:t>社会正常生产条件”，意味着对于社会必要劳动时间的考察，不能</a:t>
            </a:r>
            <a:r>
              <a:rPr lang="zh-CN" altLang="en-US" dirty="0" smtClean="0"/>
              <a:t>将生产</a:t>
            </a:r>
            <a:r>
              <a:rPr lang="zh-CN" altLang="en-US" dirty="0"/>
              <a:t>条件的“例外”当作普遍状态</a:t>
            </a:r>
            <a:r>
              <a:rPr lang="zh-CN" altLang="en-US" dirty="0" smtClean="0"/>
              <a:t>。</a:t>
            </a:r>
            <a:endParaRPr lang="en-US" altLang="zh-CN" dirty="0" smtClean="0"/>
          </a:p>
          <a:p>
            <a:r>
              <a:rPr lang="en-US" altLang="zh-CN" dirty="0"/>
              <a:t>“</a:t>
            </a:r>
            <a:r>
              <a:rPr lang="zh-CN" altLang="en-US" dirty="0"/>
              <a:t>社会平均的劳动熟练程度和劳动强度”，意味着社会必要劳动时间对劳动“质”的规定具有平均化的特征</a:t>
            </a:r>
            <a:r>
              <a:rPr lang="zh-CN" altLang="en-US" dirty="0" smtClean="0"/>
              <a:t>。</a:t>
            </a:r>
            <a:endParaRPr lang="en-US" altLang="zh-CN" dirty="0" smtClean="0"/>
          </a:p>
          <a:p>
            <a:r>
              <a:rPr lang="en-US" altLang="zh-CN" dirty="0"/>
              <a:t>“</a:t>
            </a:r>
            <a:r>
              <a:rPr lang="zh-CN" altLang="en-US" dirty="0"/>
              <a:t>某种使用价值”，意味着社会必要劳动时间的考察是针对同种产品（产品之间存在竞争性或替代性）而进行的。</a:t>
            </a:r>
          </a:p>
          <a:p>
            <a:endParaRPr lang="zh-CN" altLang="en-US" dirty="0" smtClean="0"/>
          </a:p>
          <a:p>
            <a:endParaRPr lang="zh-CN" altLang="en-US" dirty="0"/>
          </a:p>
          <a:p>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17</a:t>
            </a:fld>
            <a:endParaRPr lang="zh-CN" altLang="en-US"/>
          </a:p>
        </p:txBody>
      </p:sp>
    </p:spTree>
    <p:extLst>
      <p:ext uri="{BB962C8B-B14F-4D97-AF65-F5344CB8AC3E}">
        <p14:creationId xmlns:p14="http://schemas.microsoft.com/office/powerpoint/2010/main" val="3496784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rrowheads="1"/>
          </p:cNvSpPr>
          <p:nvPr>
            <p:ph type="title"/>
          </p:nvPr>
        </p:nvSpPr>
        <p:spPr/>
        <p:txBody>
          <a:bodyPr/>
          <a:lstStyle/>
          <a:p>
            <a:r>
              <a:rPr lang="zh-CN" altLang="en-US" dirty="0" smtClean="0"/>
              <a:t>价值量</a:t>
            </a:r>
            <a:endParaRPr lang="zh-CN" altLang="en-US" dirty="0" smtClean="0">
              <a:latin typeface="宋体" panose="02010600030101010101" pitchFamily="2" charset="-122"/>
            </a:endParaRPr>
          </a:p>
        </p:txBody>
      </p:sp>
      <p:sp>
        <p:nvSpPr>
          <p:cNvPr id="27651" name="Rectangle 3"/>
          <p:cNvSpPr>
            <a:spLocks noGrp="1" noChangeArrowheads="1"/>
          </p:cNvSpPr>
          <p:nvPr>
            <p:ph type="body" idx="1"/>
          </p:nvPr>
        </p:nvSpPr>
        <p:spPr/>
        <p:txBody>
          <a:bodyPr/>
          <a:lstStyle/>
          <a:p>
            <a:pPr>
              <a:lnSpc>
                <a:spcPct val="125000"/>
              </a:lnSpc>
              <a:buFont typeface="Wingdings" panose="05000000000000000000" pitchFamily="2" charset="2"/>
              <a:buNone/>
            </a:pPr>
            <a:r>
              <a:rPr lang="en-US" altLang="zh-CN" sz="1800" smtClean="0"/>
              <a:t>   </a:t>
            </a:r>
            <a:r>
              <a:rPr lang="zh-CN" altLang="en-US" sz="1800" smtClean="0"/>
              <a:t>举例：情形一：同种产品（皮鞋）、产量相同（均为</a:t>
            </a:r>
            <a:r>
              <a:rPr lang="en-US" altLang="zh-CN" sz="1800" smtClean="0"/>
              <a:t>100</a:t>
            </a:r>
            <a:r>
              <a:rPr lang="zh-CN" altLang="en-US" sz="1800" smtClean="0"/>
              <a:t>）</a:t>
            </a:r>
          </a:p>
          <a:p>
            <a:pPr>
              <a:lnSpc>
                <a:spcPct val="125000"/>
              </a:lnSpc>
              <a:buFont typeface="Wingdings" panose="05000000000000000000" pitchFamily="2" charset="2"/>
              <a:buNone/>
            </a:pPr>
            <a:r>
              <a:rPr lang="zh-CN" altLang="en-US" sz="1800" smtClean="0"/>
              <a:t>              甲：</a:t>
            </a:r>
            <a:r>
              <a:rPr lang="en-US" altLang="zh-CN" sz="1800" smtClean="0"/>
              <a:t>20</a:t>
            </a:r>
            <a:r>
              <a:rPr lang="zh-CN" altLang="en-US" sz="1800" smtClean="0"/>
              <a:t>小时</a:t>
            </a:r>
            <a:r>
              <a:rPr lang="en-US" altLang="zh-CN" sz="1800" smtClean="0"/>
              <a:t>/</a:t>
            </a:r>
            <a:r>
              <a:rPr lang="zh-CN" altLang="en-US" sz="1800" smtClean="0"/>
              <a:t>双</a:t>
            </a:r>
          </a:p>
          <a:p>
            <a:pPr>
              <a:lnSpc>
                <a:spcPct val="125000"/>
              </a:lnSpc>
              <a:buFont typeface="Wingdings" panose="05000000000000000000" pitchFamily="2" charset="2"/>
              <a:buNone/>
            </a:pPr>
            <a:r>
              <a:rPr lang="zh-CN" altLang="en-US" sz="1800" smtClean="0"/>
              <a:t>              乙：</a:t>
            </a:r>
            <a:r>
              <a:rPr lang="en-US" altLang="zh-CN" sz="1800" smtClean="0"/>
              <a:t>30</a:t>
            </a:r>
            <a:r>
              <a:rPr lang="zh-CN" altLang="en-US" sz="1800" smtClean="0"/>
              <a:t>小时</a:t>
            </a:r>
            <a:r>
              <a:rPr lang="en-US" altLang="zh-CN" sz="1800" smtClean="0"/>
              <a:t>/</a:t>
            </a:r>
            <a:r>
              <a:rPr lang="zh-CN" altLang="en-US" sz="1800" smtClean="0"/>
              <a:t>双</a:t>
            </a:r>
          </a:p>
          <a:p>
            <a:pPr>
              <a:lnSpc>
                <a:spcPct val="125000"/>
              </a:lnSpc>
              <a:buFont typeface="Wingdings" panose="05000000000000000000" pitchFamily="2" charset="2"/>
              <a:buNone/>
            </a:pPr>
            <a:r>
              <a:rPr lang="zh-CN" altLang="en-US" sz="1800" smtClean="0"/>
              <a:t>              丙：</a:t>
            </a:r>
            <a:r>
              <a:rPr lang="en-US" altLang="zh-CN" sz="1800" smtClean="0"/>
              <a:t>40</a:t>
            </a:r>
            <a:r>
              <a:rPr lang="zh-CN" altLang="en-US" sz="1800" smtClean="0"/>
              <a:t>小时</a:t>
            </a:r>
            <a:r>
              <a:rPr lang="en-US" altLang="zh-CN" sz="1800" smtClean="0"/>
              <a:t>/</a:t>
            </a:r>
            <a:r>
              <a:rPr lang="zh-CN" altLang="en-US" sz="1800" smtClean="0"/>
              <a:t>双</a:t>
            </a:r>
          </a:p>
          <a:p>
            <a:pPr>
              <a:lnSpc>
                <a:spcPct val="125000"/>
              </a:lnSpc>
              <a:buFont typeface="Wingdings" panose="05000000000000000000" pitchFamily="2" charset="2"/>
              <a:buNone/>
            </a:pPr>
            <a:r>
              <a:rPr lang="zh-CN" altLang="en-US" sz="1800" smtClean="0"/>
              <a:t>   社会必要劳动时间</a:t>
            </a:r>
            <a:r>
              <a:rPr lang="en-US" altLang="zh-CN" sz="1800" smtClean="0"/>
              <a:t>=</a:t>
            </a:r>
            <a:r>
              <a:rPr lang="zh-CN" altLang="en-US" sz="1800" smtClean="0"/>
              <a:t>（</a:t>
            </a:r>
            <a:r>
              <a:rPr lang="en-US" altLang="zh-CN" sz="1800" smtClean="0"/>
              <a:t>20*100+30*100+40*100</a:t>
            </a:r>
            <a:r>
              <a:rPr lang="zh-CN" altLang="en-US" sz="1800" smtClean="0"/>
              <a:t>）</a:t>
            </a:r>
            <a:r>
              <a:rPr lang="en-US" altLang="zh-CN" sz="1800" smtClean="0"/>
              <a:t>/300=30</a:t>
            </a:r>
          </a:p>
          <a:p>
            <a:pPr>
              <a:lnSpc>
                <a:spcPct val="125000"/>
              </a:lnSpc>
              <a:buFont typeface="Wingdings" panose="05000000000000000000" pitchFamily="2" charset="2"/>
              <a:buNone/>
            </a:pPr>
            <a:endParaRPr lang="en-US" altLang="zh-CN" sz="1800" smtClean="0"/>
          </a:p>
          <a:p>
            <a:pPr>
              <a:lnSpc>
                <a:spcPct val="125000"/>
              </a:lnSpc>
              <a:buFont typeface="Wingdings" panose="05000000000000000000" pitchFamily="2" charset="2"/>
              <a:buNone/>
            </a:pPr>
            <a:r>
              <a:rPr lang="en-US" altLang="zh-CN" sz="1800" smtClean="0"/>
              <a:t>             </a:t>
            </a:r>
            <a:r>
              <a:rPr lang="zh-CN" altLang="en-US" sz="1800" smtClean="0"/>
              <a:t>情形二：同种产品（皮鞋）、 产量不同</a:t>
            </a:r>
          </a:p>
          <a:p>
            <a:pPr>
              <a:lnSpc>
                <a:spcPct val="125000"/>
              </a:lnSpc>
              <a:buFont typeface="Wingdings" panose="05000000000000000000" pitchFamily="2" charset="2"/>
              <a:buNone/>
            </a:pPr>
            <a:r>
              <a:rPr lang="zh-CN" altLang="en-US" sz="1800" smtClean="0"/>
              <a:t>              甲：</a:t>
            </a:r>
            <a:r>
              <a:rPr lang="en-US" altLang="zh-CN" sz="1800" smtClean="0"/>
              <a:t>20</a:t>
            </a:r>
            <a:r>
              <a:rPr lang="zh-CN" altLang="en-US" sz="1800" smtClean="0"/>
              <a:t>小时</a:t>
            </a:r>
            <a:r>
              <a:rPr lang="en-US" altLang="zh-CN" sz="1800" smtClean="0"/>
              <a:t>/</a:t>
            </a:r>
            <a:r>
              <a:rPr lang="zh-CN" altLang="en-US" sz="1800" smtClean="0"/>
              <a:t>双 （</a:t>
            </a:r>
            <a:r>
              <a:rPr lang="en-US" altLang="zh-CN" sz="1800" smtClean="0"/>
              <a:t>100</a:t>
            </a:r>
            <a:r>
              <a:rPr lang="zh-CN" altLang="en-US" sz="1800" smtClean="0"/>
              <a:t>双）</a:t>
            </a:r>
          </a:p>
          <a:p>
            <a:pPr>
              <a:lnSpc>
                <a:spcPct val="125000"/>
              </a:lnSpc>
              <a:buFont typeface="Wingdings" panose="05000000000000000000" pitchFamily="2" charset="2"/>
              <a:buNone/>
            </a:pPr>
            <a:r>
              <a:rPr lang="zh-CN" altLang="en-US" sz="1800" smtClean="0"/>
              <a:t>              乙：</a:t>
            </a:r>
            <a:r>
              <a:rPr lang="en-US" altLang="zh-CN" sz="1800" smtClean="0"/>
              <a:t>30</a:t>
            </a:r>
            <a:r>
              <a:rPr lang="zh-CN" altLang="en-US" sz="1800" smtClean="0"/>
              <a:t>小时</a:t>
            </a:r>
            <a:r>
              <a:rPr lang="en-US" altLang="zh-CN" sz="1800" smtClean="0"/>
              <a:t>/</a:t>
            </a:r>
            <a:r>
              <a:rPr lang="zh-CN" altLang="en-US" sz="1800" smtClean="0"/>
              <a:t>双 （</a:t>
            </a:r>
            <a:r>
              <a:rPr lang="en-US" altLang="zh-CN" sz="1800" smtClean="0"/>
              <a:t>200</a:t>
            </a:r>
            <a:r>
              <a:rPr lang="zh-CN" altLang="en-US" sz="1800" smtClean="0"/>
              <a:t>双）</a:t>
            </a:r>
          </a:p>
          <a:p>
            <a:pPr>
              <a:lnSpc>
                <a:spcPct val="125000"/>
              </a:lnSpc>
              <a:buFont typeface="Wingdings" panose="05000000000000000000" pitchFamily="2" charset="2"/>
              <a:buNone/>
            </a:pPr>
            <a:r>
              <a:rPr lang="zh-CN" altLang="en-US" sz="1800" smtClean="0"/>
              <a:t>              丙：</a:t>
            </a:r>
            <a:r>
              <a:rPr lang="en-US" altLang="zh-CN" sz="1800" smtClean="0"/>
              <a:t>40</a:t>
            </a:r>
            <a:r>
              <a:rPr lang="zh-CN" altLang="en-US" sz="1800" smtClean="0"/>
              <a:t>小时</a:t>
            </a:r>
            <a:r>
              <a:rPr lang="en-US" altLang="zh-CN" sz="1800" smtClean="0"/>
              <a:t>/</a:t>
            </a:r>
            <a:r>
              <a:rPr lang="zh-CN" altLang="en-US" sz="1800" smtClean="0"/>
              <a:t>双 （</a:t>
            </a:r>
            <a:r>
              <a:rPr lang="en-US" altLang="zh-CN" sz="1800" smtClean="0"/>
              <a:t>500</a:t>
            </a:r>
            <a:r>
              <a:rPr lang="zh-CN" altLang="en-US" sz="1800" smtClean="0"/>
              <a:t>双）</a:t>
            </a:r>
          </a:p>
          <a:p>
            <a:pPr>
              <a:lnSpc>
                <a:spcPct val="125000"/>
              </a:lnSpc>
              <a:buFont typeface="Wingdings" panose="05000000000000000000" pitchFamily="2" charset="2"/>
              <a:buNone/>
            </a:pPr>
            <a:r>
              <a:rPr lang="zh-CN" altLang="en-US" sz="1800" smtClean="0"/>
              <a:t>    社会必要劳动时间</a:t>
            </a:r>
            <a:r>
              <a:rPr lang="en-US" altLang="zh-CN" sz="1800" smtClean="0"/>
              <a:t>=</a:t>
            </a:r>
            <a:r>
              <a:rPr lang="zh-CN" altLang="en-US" sz="1800" smtClean="0"/>
              <a:t>（</a:t>
            </a:r>
            <a:r>
              <a:rPr lang="en-US" altLang="zh-CN" sz="1800" smtClean="0"/>
              <a:t>20*100+30*200+40*500</a:t>
            </a:r>
            <a:r>
              <a:rPr lang="zh-CN" altLang="en-US" sz="1800" smtClean="0"/>
              <a:t>）</a:t>
            </a:r>
            <a:r>
              <a:rPr lang="en-US" altLang="zh-CN" sz="1800" smtClean="0"/>
              <a:t>/800=35</a:t>
            </a:r>
          </a:p>
        </p:txBody>
      </p:sp>
    </p:spTree>
    <p:extLst>
      <p:ext uri="{BB962C8B-B14F-4D97-AF65-F5344CB8AC3E}">
        <p14:creationId xmlns:p14="http://schemas.microsoft.com/office/powerpoint/2010/main" val="4207637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zh-CN" altLang="en-US" dirty="0" smtClean="0"/>
              <a:t>劳动生产率和价值量</a:t>
            </a:r>
          </a:p>
        </p:txBody>
      </p:sp>
      <p:sp>
        <p:nvSpPr>
          <p:cNvPr id="29699" name="内容占位符 2"/>
          <p:cNvSpPr>
            <a:spLocks noGrp="1"/>
          </p:cNvSpPr>
          <p:nvPr>
            <p:ph idx="1"/>
          </p:nvPr>
        </p:nvSpPr>
        <p:spPr/>
        <p:txBody>
          <a:bodyPr/>
          <a:lstStyle/>
          <a:p>
            <a:r>
              <a:rPr lang="zh-CN" altLang="en-US" dirty="0" smtClean="0"/>
              <a:t>劳动生产率：劳动者在一定时间内生产某种使用价值的效率，即等于产品量</a:t>
            </a:r>
            <a:r>
              <a:rPr lang="en-US" altLang="zh-CN" dirty="0" smtClean="0"/>
              <a:t>/</a:t>
            </a:r>
            <a:r>
              <a:rPr lang="zh-CN" altLang="en-US" dirty="0" smtClean="0"/>
              <a:t>劳动时间</a:t>
            </a:r>
            <a:endParaRPr lang="en-US" altLang="zh-CN" dirty="0" smtClean="0"/>
          </a:p>
          <a:p>
            <a:r>
              <a:rPr lang="zh-CN" altLang="en-US" dirty="0" smtClean="0"/>
              <a:t>劳动生产率和价值量的关系</a:t>
            </a:r>
            <a:endParaRPr lang="en-US" altLang="zh-CN" dirty="0" smtClean="0"/>
          </a:p>
          <a:p>
            <a:pPr lvl="1"/>
            <a:r>
              <a:rPr lang="zh-CN" altLang="en-US" dirty="0" smtClean="0"/>
              <a:t>劳动生产率与商品的使用价值成正比，与商品的价值量成反比，这是两者最基本的关系。</a:t>
            </a:r>
            <a:endParaRPr lang="en-US" altLang="zh-CN" dirty="0" smtClean="0"/>
          </a:p>
          <a:p>
            <a:pPr lvl="1"/>
            <a:r>
              <a:rPr lang="zh-CN" altLang="en-US" dirty="0" smtClean="0"/>
              <a:t>在社会必要劳动时间决定的经济中，劳动生产率高的个别价值在还原为社会价值时，会还原为更高的价值。</a:t>
            </a:r>
            <a:endParaRPr lang="en-US" altLang="zh-CN" dirty="0" smtClean="0"/>
          </a:p>
          <a:p>
            <a:pPr lvl="2"/>
            <a:endParaRPr lang="zh-CN" altLang="en-US" dirty="0" smtClean="0"/>
          </a:p>
        </p:txBody>
      </p:sp>
    </p:spTree>
    <p:extLst>
      <p:ext uri="{BB962C8B-B14F-4D97-AF65-F5344CB8AC3E}">
        <p14:creationId xmlns:p14="http://schemas.microsoft.com/office/powerpoint/2010/main" val="71717360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804332"/>
            <a:ext cx="6570172" cy="778931"/>
          </a:xfrm>
        </p:spPr>
        <p:txBody>
          <a:bodyPr>
            <a:normAutofit fontScale="90000"/>
          </a:bodyPr>
          <a:lstStyle/>
          <a:p>
            <a:r>
              <a:rPr lang="zh-CN" altLang="en-US" dirty="0" smtClean="0"/>
              <a:t>社会供给量与需求量不相等时的价值量决定</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第二种含义的社会必要劳动时间</a:t>
            </a:r>
            <a:endParaRPr lang="en-US" altLang="zh-CN" dirty="0" smtClean="0"/>
          </a:p>
          <a:p>
            <a:pPr lvl="1"/>
            <a:r>
              <a:rPr lang="zh-CN" altLang="en-US" dirty="0" smtClean="0"/>
              <a:t>由市场需求量直接决定的社会必要劳动时间量，与实际耗费在某种商品总量上的劳动时间量往往不相等</a:t>
            </a:r>
            <a:endParaRPr lang="en-US" altLang="zh-CN" dirty="0" smtClean="0"/>
          </a:p>
          <a:p>
            <a:pPr lvl="1"/>
            <a:r>
              <a:rPr lang="zh-CN" altLang="en-US" dirty="0"/>
              <a:t>三</a:t>
            </a:r>
            <a:r>
              <a:rPr lang="zh-CN" altLang="en-US" dirty="0" smtClean="0"/>
              <a:t>种情况</a:t>
            </a:r>
            <a:endParaRPr lang="en-US" altLang="zh-CN" dirty="0" smtClean="0"/>
          </a:p>
          <a:p>
            <a:pPr lvl="2"/>
            <a:r>
              <a:rPr lang="zh-CN" altLang="en-US" dirty="0" smtClean="0"/>
              <a:t>实际生产量等于市场需求量（两种含义相等）</a:t>
            </a:r>
            <a:endParaRPr lang="en-US" altLang="zh-CN" dirty="0" smtClean="0"/>
          </a:p>
          <a:p>
            <a:pPr lvl="2"/>
            <a:r>
              <a:rPr lang="zh-CN" altLang="en-US" dirty="0" smtClean="0"/>
              <a:t>实际生产量小于市场需求量（按第二种必要劳动时间来采购这些商品，即第一种含义</a:t>
            </a:r>
            <a:r>
              <a:rPr lang="zh-CN" altLang="en-US" smtClean="0"/>
              <a:t>社会必要劳动时间</a:t>
            </a:r>
            <a:r>
              <a:rPr lang="zh-CN" altLang="en-US"/>
              <a:t>小于</a:t>
            </a:r>
            <a:r>
              <a:rPr lang="zh-CN" altLang="en-US" smtClean="0"/>
              <a:t>第二</a:t>
            </a:r>
            <a:r>
              <a:rPr lang="zh-CN" altLang="en-US" dirty="0" smtClean="0"/>
              <a:t>种，生产中实际耗费的社会必要劳动时间在市场上实现为更多的价值量）</a:t>
            </a:r>
            <a:endParaRPr lang="en-US" altLang="zh-CN" dirty="0" smtClean="0"/>
          </a:p>
          <a:p>
            <a:pPr lvl="2"/>
            <a:r>
              <a:rPr lang="zh-CN" altLang="en-US" dirty="0" smtClean="0"/>
              <a:t>实际生产量大于市场需求量</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20</a:t>
            </a:fld>
            <a:endParaRPr lang="zh-CN" altLang="en-US"/>
          </a:p>
        </p:txBody>
      </p:sp>
    </p:spTree>
    <p:extLst>
      <p:ext uri="{BB962C8B-B14F-4D97-AF65-F5344CB8AC3E}">
        <p14:creationId xmlns:p14="http://schemas.microsoft.com/office/powerpoint/2010/main" val="17955454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804332"/>
            <a:ext cx="6362354" cy="778931"/>
          </a:xfrm>
        </p:spPr>
        <p:txBody>
          <a:bodyPr>
            <a:normAutofit fontScale="90000"/>
          </a:bodyPr>
          <a:lstStyle/>
          <a:p>
            <a:r>
              <a:rPr lang="zh-CN" altLang="en-US" dirty="0" smtClean="0"/>
              <a:t>两种含义的社会必要劳动时间的辩证关系</a:t>
            </a:r>
            <a:endParaRPr lang="zh-CN" altLang="en-US" dirty="0"/>
          </a:p>
        </p:txBody>
      </p:sp>
      <p:sp>
        <p:nvSpPr>
          <p:cNvPr id="3" name="内容占位符 2"/>
          <p:cNvSpPr>
            <a:spLocks noGrp="1"/>
          </p:cNvSpPr>
          <p:nvPr>
            <p:ph idx="1"/>
          </p:nvPr>
        </p:nvSpPr>
        <p:spPr/>
        <p:txBody>
          <a:bodyPr/>
          <a:lstStyle/>
          <a:p>
            <a:r>
              <a:rPr lang="zh-CN" altLang="en-US" dirty="0" smtClean="0"/>
              <a:t>第一种含义的社会必要劳动时间决定商品的价值量</a:t>
            </a:r>
            <a:endParaRPr lang="en-US" altLang="zh-CN" dirty="0" smtClean="0"/>
          </a:p>
          <a:p>
            <a:r>
              <a:rPr lang="zh-CN" altLang="en-US" dirty="0"/>
              <a:t>第二</a:t>
            </a:r>
            <a:r>
              <a:rPr lang="zh-CN" altLang="en-US" dirty="0" smtClean="0"/>
              <a:t>种社会必要劳动时间则决定由第一种含义所决定的商品价值量的实现程度</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21</a:t>
            </a:fld>
            <a:endParaRPr lang="zh-CN" altLang="en-US"/>
          </a:p>
        </p:txBody>
      </p:sp>
    </p:spTree>
    <p:extLst>
      <p:ext uri="{BB962C8B-B14F-4D97-AF65-F5344CB8AC3E}">
        <p14:creationId xmlns:p14="http://schemas.microsoft.com/office/powerpoint/2010/main" val="1307656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简单劳动和复杂劳动</a:t>
            </a:r>
            <a:endParaRPr lang="zh-CN" altLang="en-US" dirty="0"/>
          </a:p>
        </p:txBody>
      </p:sp>
      <p:sp>
        <p:nvSpPr>
          <p:cNvPr id="3" name="内容占位符 2"/>
          <p:cNvSpPr>
            <a:spLocks noGrp="1"/>
          </p:cNvSpPr>
          <p:nvPr>
            <p:ph idx="1"/>
          </p:nvPr>
        </p:nvSpPr>
        <p:spPr/>
        <p:txBody>
          <a:bodyPr/>
          <a:lstStyle/>
          <a:p>
            <a:r>
              <a:rPr lang="zh-CN" altLang="en-US" dirty="0" smtClean="0"/>
              <a:t>简单劳动：不经过专门训练和学习就胜任的劳动</a:t>
            </a:r>
            <a:endParaRPr lang="en-US" altLang="zh-CN" dirty="0" smtClean="0"/>
          </a:p>
          <a:p>
            <a:r>
              <a:rPr lang="zh-CN" altLang="en-US" dirty="0" smtClean="0"/>
              <a:t>复杂劳动：需要经过专门的训练和学习，具有一定技术专长才能胜任的劳动</a:t>
            </a:r>
            <a:endParaRPr lang="en-US" altLang="zh-CN" dirty="0" smtClean="0"/>
          </a:p>
          <a:p>
            <a:r>
              <a:rPr lang="zh-CN" altLang="en-US" dirty="0" smtClean="0"/>
              <a:t>同一种劳动在同一劳动时间内创造的价值是相同的，但是不同复杂程度的劳动在同一时间内创造的价值是不相同的</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22</a:t>
            </a:fld>
            <a:endParaRPr lang="zh-CN" altLang="en-US"/>
          </a:p>
        </p:txBody>
      </p:sp>
    </p:spTree>
    <p:extLst>
      <p:ext uri="{BB962C8B-B14F-4D97-AF65-F5344CB8AC3E}">
        <p14:creationId xmlns:p14="http://schemas.microsoft.com/office/powerpoint/2010/main" val="4868345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中国高薪行业（</a:t>
            </a:r>
            <a:r>
              <a:rPr lang="en-US" altLang="zh-CN" dirty="0" smtClean="0"/>
              <a:t>2023.5</a:t>
            </a:r>
            <a:r>
              <a:rPr lang="zh-CN" altLang="en-US" dirty="0" smtClean="0"/>
              <a:t>统计局数据）</a:t>
            </a:r>
            <a:endParaRPr lang="zh-CN" altLang="en-US" dirty="0"/>
          </a:p>
        </p:txBody>
      </p:sp>
      <p:sp>
        <p:nvSpPr>
          <p:cNvPr id="3" name="内容占位符 2"/>
          <p:cNvSpPr>
            <a:spLocks noGrp="1"/>
          </p:cNvSpPr>
          <p:nvPr>
            <p:ph idx="1"/>
          </p:nvPr>
        </p:nvSpPr>
        <p:spPr/>
        <p:txBody>
          <a:bodyPr>
            <a:normAutofit fontScale="92500" lnSpcReduction="10000"/>
          </a:bodyPr>
          <a:lstStyle/>
          <a:p>
            <a:r>
              <a:rPr lang="en-US" altLang="zh-CN" dirty="0" smtClean="0"/>
              <a:t>2023</a:t>
            </a:r>
            <a:r>
              <a:rPr lang="zh-CN" altLang="en-US" dirty="0" smtClean="0"/>
              <a:t>年城镇非公有制经济单位在岗职工年平均工资</a:t>
            </a:r>
            <a:r>
              <a:rPr lang="en-US" altLang="zh-CN" dirty="0" smtClean="0"/>
              <a:t>106837</a:t>
            </a:r>
            <a:r>
              <a:rPr lang="zh-CN" altLang="en-US" dirty="0" smtClean="0"/>
              <a:t>元，比上年增长</a:t>
            </a:r>
            <a:r>
              <a:rPr lang="en-US" altLang="zh-CN" dirty="0" smtClean="0"/>
              <a:t>9458</a:t>
            </a:r>
            <a:r>
              <a:rPr lang="zh-CN" altLang="en-US" dirty="0" smtClean="0"/>
              <a:t>元</a:t>
            </a:r>
            <a:endParaRPr lang="en-US" altLang="zh-CN" dirty="0" smtClean="0"/>
          </a:p>
          <a:p>
            <a:pPr lvl="1"/>
            <a:r>
              <a:rPr lang="zh-CN" altLang="en-US" dirty="0" smtClean="0"/>
              <a:t>信息传输、软件与信息技术服务业</a:t>
            </a:r>
            <a:r>
              <a:rPr lang="en-US" altLang="zh-CN" dirty="0" smtClean="0"/>
              <a:t>201506</a:t>
            </a:r>
          </a:p>
          <a:p>
            <a:pPr lvl="1"/>
            <a:r>
              <a:rPr lang="zh-CN" altLang="en-US" dirty="0" smtClean="0"/>
              <a:t>科学研究和科学技术服务</a:t>
            </a:r>
            <a:r>
              <a:rPr lang="en-US" altLang="zh-CN" dirty="0" smtClean="0"/>
              <a:t>151776</a:t>
            </a:r>
          </a:p>
          <a:p>
            <a:pPr lvl="1"/>
            <a:r>
              <a:rPr lang="zh-CN" altLang="en-US" dirty="0" smtClean="0"/>
              <a:t>金融业</a:t>
            </a:r>
            <a:r>
              <a:rPr lang="en-US" altLang="zh-CN" dirty="0" smtClean="0"/>
              <a:t>150843</a:t>
            </a:r>
          </a:p>
          <a:p>
            <a:r>
              <a:rPr lang="en-US" altLang="zh-CN" dirty="0" smtClean="0"/>
              <a:t>2023</a:t>
            </a:r>
            <a:r>
              <a:rPr lang="zh-CN" altLang="en-US" dirty="0" smtClean="0"/>
              <a:t>年城镇私营在岗职工年平均工资</a:t>
            </a:r>
            <a:r>
              <a:rPr lang="en-US" altLang="zh-CN" dirty="0" smtClean="0"/>
              <a:t>62884</a:t>
            </a:r>
            <a:r>
              <a:rPr lang="zh-CN" altLang="en-US" dirty="0" smtClean="0"/>
              <a:t>元，比上年增长</a:t>
            </a:r>
            <a:r>
              <a:rPr lang="en-US" altLang="zh-CN" dirty="0" smtClean="0"/>
              <a:t>5577</a:t>
            </a:r>
            <a:r>
              <a:rPr lang="zh-CN" altLang="en-US" dirty="0" smtClean="0"/>
              <a:t>元</a:t>
            </a:r>
            <a:endParaRPr lang="en-US" altLang="zh-CN" dirty="0" smtClean="0"/>
          </a:p>
          <a:p>
            <a:pPr lvl="1"/>
            <a:r>
              <a:rPr lang="zh-CN" altLang="en-US" dirty="0"/>
              <a:t>信息传输、软件与信息技术</a:t>
            </a:r>
            <a:r>
              <a:rPr lang="zh-CN" altLang="en-US" dirty="0" smtClean="0"/>
              <a:t>服务业</a:t>
            </a:r>
            <a:r>
              <a:rPr lang="en-US" altLang="zh-CN" dirty="0" smtClean="0"/>
              <a:t>114618</a:t>
            </a:r>
          </a:p>
          <a:p>
            <a:pPr lvl="1"/>
            <a:r>
              <a:rPr lang="zh-CN" altLang="en-US" dirty="0" smtClean="0"/>
              <a:t>金融业</a:t>
            </a:r>
            <a:r>
              <a:rPr lang="en-US" altLang="zh-CN" dirty="0" smtClean="0"/>
              <a:t>95416</a:t>
            </a:r>
          </a:p>
          <a:p>
            <a:pPr lvl="1"/>
            <a:r>
              <a:rPr lang="zh-CN" altLang="en-US" dirty="0"/>
              <a:t>科学研究和科学技术</a:t>
            </a:r>
            <a:r>
              <a:rPr lang="zh-CN" altLang="en-US" dirty="0" smtClean="0"/>
              <a:t>服务 </a:t>
            </a:r>
            <a:r>
              <a:rPr lang="en-US" altLang="zh-CN" dirty="0" smtClean="0"/>
              <a:t>77708</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23</a:t>
            </a:fld>
            <a:endParaRPr lang="zh-CN" altLang="en-US"/>
          </a:p>
        </p:txBody>
      </p:sp>
    </p:spTree>
    <p:extLst>
      <p:ext uri="{BB962C8B-B14F-4D97-AF65-F5344CB8AC3E}">
        <p14:creationId xmlns:p14="http://schemas.microsoft.com/office/powerpoint/2010/main" val="14214566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smtClean="0"/>
          </a:p>
          <a:p>
            <a:endParaRPr lang="en-US" altLang="zh-CN" dirty="0"/>
          </a:p>
          <a:p>
            <a:endParaRPr lang="en-US" altLang="zh-CN" dirty="0" smtClean="0"/>
          </a:p>
          <a:p>
            <a:r>
              <a:rPr lang="zh-CN" altLang="en-US" dirty="0" smtClean="0"/>
              <a:t>第三</a:t>
            </a:r>
            <a:r>
              <a:rPr lang="zh-CN" altLang="en-US" dirty="0"/>
              <a:t>节 对劳动价值论认识的深化</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24</a:t>
            </a:fld>
            <a:endParaRPr lang="zh-CN" altLang="en-US"/>
          </a:p>
        </p:txBody>
      </p:sp>
    </p:spTree>
    <p:extLst>
      <p:ext uri="{BB962C8B-B14F-4D97-AF65-F5344CB8AC3E}">
        <p14:creationId xmlns:p14="http://schemas.microsoft.com/office/powerpoint/2010/main" val="3229068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当代劳动形式的新变化</a:t>
            </a:r>
            <a:endParaRPr lang="zh-CN" altLang="en-US" dirty="0"/>
          </a:p>
        </p:txBody>
      </p:sp>
      <p:sp>
        <p:nvSpPr>
          <p:cNvPr id="3" name="内容占位符 2"/>
          <p:cNvSpPr>
            <a:spLocks noGrp="1"/>
          </p:cNvSpPr>
          <p:nvPr>
            <p:ph idx="1"/>
          </p:nvPr>
        </p:nvSpPr>
        <p:spPr/>
        <p:txBody>
          <a:bodyPr/>
          <a:lstStyle/>
          <a:p>
            <a:r>
              <a:rPr lang="zh-CN" altLang="en-US" dirty="0" smtClean="0"/>
              <a:t>脑力劳动所占比例上升</a:t>
            </a:r>
            <a:endParaRPr lang="en-US" altLang="zh-CN" dirty="0" smtClean="0"/>
          </a:p>
          <a:p>
            <a:r>
              <a:rPr lang="zh-CN" altLang="en-US" dirty="0" smtClean="0"/>
              <a:t>非物质生产领域的劳动的重要性日趋上升</a:t>
            </a:r>
            <a:endParaRPr lang="en-US" altLang="zh-CN" dirty="0" smtClean="0"/>
          </a:p>
          <a:p>
            <a:r>
              <a:rPr lang="zh-CN" altLang="en-US" dirty="0" smtClean="0"/>
              <a:t>参与价值创造的劳动的范围拓宽</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25</a:t>
            </a:fld>
            <a:endParaRPr lang="zh-CN" altLang="en-US"/>
          </a:p>
        </p:txBody>
      </p:sp>
    </p:spTree>
    <p:extLst>
      <p:ext uri="{BB962C8B-B14F-4D97-AF65-F5344CB8AC3E}">
        <p14:creationId xmlns:p14="http://schemas.microsoft.com/office/powerpoint/2010/main" val="12500052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对劳动和劳动价值论的新认识</a:t>
            </a:r>
            <a:endParaRPr lang="zh-CN" altLang="en-US" dirty="0"/>
          </a:p>
        </p:txBody>
      </p:sp>
      <p:sp>
        <p:nvSpPr>
          <p:cNvPr id="3" name="内容占位符 2"/>
          <p:cNvSpPr>
            <a:spLocks noGrp="1"/>
          </p:cNvSpPr>
          <p:nvPr>
            <p:ph idx="1"/>
          </p:nvPr>
        </p:nvSpPr>
        <p:spPr/>
        <p:txBody>
          <a:bodyPr/>
          <a:lstStyle/>
          <a:p>
            <a:r>
              <a:rPr lang="zh-CN" altLang="en-US" dirty="0" smtClean="0"/>
              <a:t>科技劳动和管理劳动在价值创造中的作用日益突出</a:t>
            </a:r>
            <a:endParaRPr lang="en-US" altLang="zh-CN" dirty="0" smtClean="0"/>
          </a:p>
          <a:p>
            <a:r>
              <a:rPr lang="zh-CN" altLang="en-US" dirty="0" smtClean="0"/>
              <a:t>部分服务劳动和精神劳动参与价值创造过程</a:t>
            </a:r>
            <a:endParaRPr lang="en-US" altLang="zh-CN" dirty="0" smtClean="0"/>
          </a:p>
          <a:p>
            <a:r>
              <a:rPr lang="zh-CN" altLang="en-US" dirty="0" smtClean="0"/>
              <a:t>劳动价值论适用范围的拓展增强了其解释力</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26</a:t>
            </a:fld>
            <a:endParaRPr lang="zh-CN" altLang="en-US"/>
          </a:p>
        </p:txBody>
      </p:sp>
    </p:spTree>
    <p:extLst>
      <p:ext uri="{BB962C8B-B14F-4D97-AF65-F5344CB8AC3E}">
        <p14:creationId xmlns:p14="http://schemas.microsoft.com/office/powerpoint/2010/main" val="31961364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几种与劳动价值论对立的观点</a:t>
            </a:r>
            <a:endParaRPr lang="zh-CN" altLang="en-US" dirty="0"/>
          </a:p>
        </p:txBody>
      </p:sp>
      <p:sp>
        <p:nvSpPr>
          <p:cNvPr id="3" name="内容占位符 2"/>
          <p:cNvSpPr>
            <a:spLocks noGrp="1"/>
          </p:cNvSpPr>
          <p:nvPr>
            <p:ph idx="1"/>
          </p:nvPr>
        </p:nvSpPr>
        <p:spPr/>
        <p:txBody>
          <a:bodyPr/>
          <a:lstStyle/>
          <a:p>
            <a:r>
              <a:rPr lang="zh-CN" altLang="en-US" dirty="0" smtClean="0"/>
              <a:t>生产费用论</a:t>
            </a:r>
            <a:endParaRPr lang="en-US" altLang="zh-CN" dirty="0" smtClean="0"/>
          </a:p>
          <a:p>
            <a:r>
              <a:rPr lang="zh-CN" altLang="en-US" dirty="0" smtClean="0"/>
              <a:t>要素价值论</a:t>
            </a:r>
            <a:endParaRPr lang="en-US" altLang="zh-CN" dirty="0" smtClean="0"/>
          </a:p>
          <a:p>
            <a:r>
              <a:rPr lang="zh-CN" altLang="en-US" dirty="0" smtClean="0"/>
              <a:t>自动化生产创造价值论</a:t>
            </a:r>
            <a:endParaRPr lang="en-US" altLang="zh-CN" dirty="0" smtClean="0"/>
          </a:p>
          <a:p>
            <a:r>
              <a:rPr lang="zh-CN" altLang="en-US" dirty="0" smtClean="0"/>
              <a:t>知识价值论</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27</a:t>
            </a:fld>
            <a:endParaRPr lang="zh-CN" altLang="en-US"/>
          </a:p>
        </p:txBody>
      </p:sp>
    </p:spTree>
    <p:extLst>
      <p:ext uri="{BB962C8B-B14F-4D97-AF65-F5344CB8AC3E}">
        <p14:creationId xmlns:p14="http://schemas.microsoft.com/office/powerpoint/2010/main" val="392058759"/>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2556</TotalTime>
  <Words>1445</Words>
  <Application>Microsoft Office PowerPoint</Application>
  <PresentationFormat>全屏显示(4:3)</PresentationFormat>
  <Paragraphs>182</Paragraphs>
  <Slides>27</Slides>
  <Notes>3</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27</vt:i4>
      </vt:variant>
    </vt:vector>
  </HeadingPairs>
  <TitlesOfParts>
    <vt:vector size="35" baseType="lpstr">
      <vt:lpstr>宋体</vt:lpstr>
      <vt:lpstr>微软雅黑</vt:lpstr>
      <vt:lpstr>Arial</vt:lpstr>
      <vt:lpstr>Calibri</vt:lpstr>
      <vt:lpstr>Calibri Light</vt:lpstr>
      <vt:lpstr>Times New Roman</vt:lpstr>
      <vt:lpstr>Wingdings</vt:lpstr>
      <vt:lpstr>Office 主题</vt:lpstr>
      <vt:lpstr>               第一章 商品</vt:lpstr>
      <vt:lpstr>第一章主要内容</vt:lpstr>
      <vt:lpstr>PowerPoint 演示文稿</vt:lpstr>
      <vt:lpstr>商品二因素</vt:lpstr>
      <vt:lpstr>商品两因素</vt:lpstr>
      <vt:lpstr>商品是使用价值和价值的统一</vt:lpstr>
      <vt:lpstr>商品使用价值和价值之间的矛盾</vt:lpstr>
      <vt:lpstr>劳动的二重性</vt:lpstr>
      <vt:lpstr>商品二重性和劳动二重性</vt:lpstr>
      <vt:lpstr>具体劳动和抽象劳动的关系</vt:lpstr>
      <vt:lpstr>私人劳动和社会劳动</vt:lpstr>
      <vt:lpstr>私人劳动转化为社会劳动的条件</vt:lpstr>
      <vt:lpstr>资本主义一切矛盾的总根源</vt:lpstr>
      <vt:lpstr>商品的拜物教性质</vt:lpstr>
      <vt:lpstr>PowerPoint 演示文稿</vt:lpstr>
      <vt:lpstr>社会必要劳动时间决定商品价值量</vt:lpstr>
      <vt:lpstr>关于社会必要劳动时间</vt:lpstr>
      <vt:lpstr>价值量</vt:lpstr>
      <vt:lpstr>劳动生产率和价值量</vt:lpstr>
      <vt:lpstr>社会供给量与需求量不相等时的价值量决定</vt:lpstr>
      <vt:lpstr>两种含义的社会必要劳动时间的辩证关系</vt:lpstr>
      <vt:lpstr>简单劳动和复杂劳动</vt:lpstr>
      <vt:lpstr>中国高薪行业（2023.5统计局数据）</vt:lpstr>
      <vt:lpstr>PowerPoint 演示文稿</vt:lpstr>
      <vt:lpstr>当代劳动形式的新变化</vt:lpstr>
      <vt:lpstr>对劳动和劳动价值论的新认识</vt:lpstr>
      <vt:lpstr>几种与劳动价值论对立的观点</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王成城</dc:creator>
  <cp:lastModifiedBy>JING JIANG</cp:lastModifiedBy>
  <cp:revision>60</cp:revision>
  <dcterms:created xsi:type="dcterms:W3CDTF">2013-11-29T11:59:20Z</dcterms:created>
  <dcterms:modified xsi:type="dcterms:W3CDTF">2023-10-10T09:24:37Z</dcterms:modified>
</cp:coreProperties>
</file>
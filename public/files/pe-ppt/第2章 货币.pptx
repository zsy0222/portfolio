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257" r:id="rId3"/>
    <p:sldId id="258" r:id="rId4"/>
    <p:sldId id="259" r:id="rId5"/>
    <p:sldId id="261" r:id="rId6"/>
    <p:sldId id="262" r:id="rId7"/>
    <p:sldId id="263" r:id="rId8"/>
    <p:sldId id="264" r:id="rId9"/>
    <p:sldId id="265" r:id="rId10"/>
    <p:sldId id="266" r:id="rId11"/>
    <p:sldId id="270" r:id="rId12"/>
    <p:sldId id="271" r:id="rId13"/>
    <p:sldId id="272" r:id="rId14"/>
    <p:sldId id="273" r:id="rId15"/>
    <p:sldId id="260" r:id="rId16"/>
    <p:sldId id="274" r:id="rId17"/>
    <p:sldId id="275" r:id="rId18"/>
    <p:sldId id="282" r:id="rId19"/>
    <p:sldId id="277" r:id="rId20"/>
    <p:sldId id="278" r:id="rId21"/>
    <p:sldId id="279" r:id="rId22"/>
    <p:sldId id="280" r:id="rId23"/>
    <p:sldId id="281"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67" d="100"/>
          <a:sy n="67" d="100"/>
        </p:scale>
        <p:origin x="1174"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2023/10/10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9015B3FA-5351-488E-9D4F-4B0D4DC84D34}" type="slidenum">
              <a:rPr lang="en-US" altLang="zh-CN">
                <a:latin typeface="Arial" panose="020B0604020202020204" pitchFamily="34" charset="0"/>
              </a:rPr>
              <a:pPr eaLnBrk="1" hangingPunct="1"/>
              <a:t>5</a:t>
            </a:fld>
            <a:endParaRPr lang="en-US" altLang="zh-CN">
              <a:latin typeface="Arial" panose="020B0604020202020204"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327022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DCA3EF17-15CD-45E0-8365-1C5258C21E84}" type="slidenum">
              <a:rPr lang="en-US" altLang="zh-CN">
                <a:latin typeface="Arial" panose="020B0604020202020204" pitchFamily="34" charset="0"/>
              </a:rPr>
              <a:pPr eaLnBrk="1" hangingPunct="1"/>
              <a:t>6</a:t>
            </a:fld>
            <a:endParaRPr lang="en-US" altLang="zh-CN">
              <a:latin typeface="Arial" panose="020B0604020202020204" pitchFamily="34"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1112181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B59BBD78-BE0B-404C-91B9-9757E33D475F}" type="slidenum">
              <a:rPr lang="en-US" altLang="zh-CN">
                <a:latin typeface="Arial" panose="020B0604020202020204" pitchFamily="34" charset="0"/>
              </a:rPr>
              <a:pPr eaLnBrk="1" hangingPunct="1"/>
              <a:t>7</a:t>
            </a:fld>
            <a:endParaRPr lang="en-US" altLang="zh-CN">
              <a:latin typeface="Arial" panose="020B0604020202020204" pitchFamily="3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4089404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F83EB570-DC3C-4A82-A888-FE664AB43A67}" type="slidenum">
              <a:rPr lang="en-US" altLang="zh-CN">
                <a:latin typeface="Arial" panose="020B0604020202020204" pitchFamily="34" charset="0"/>
              </a:rPr>
              <a:pPr eaLnBrk="1" hangingPunct="1"/>
              <a:t>8</a:t>
            </a:fld>
            <a:endParaRPr lang="en-US" altLang="zh-CN">
              <a:latin typeface="Arial" panose="020B0604020202020204" pitchFamily="34"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3912674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8B8E049B-6821-4E92-A889-708A969D6704}" type="slidenum">
              <a:rPr lang="en-US" altLang="zh-CN">
                <a:latin typeface="Arial" panose="020B0604020202020204" pitchFamily="34" charset="0"/>
              </a:rPr>
              <a:pPr eaLnBrk="1" hangingPunct="1"/>
              <a:t>9</a:t>
            </a:fld>
            <a:endParaRPr lang="en-US" altLang="zh-CN">
              <a:latin typeface="Arial" panose="020B060402020202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984808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3573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fld id="{3148F379-9F2D-413E-948F-A3FCBF28F93B}" type="slidenum">
              <a:rPr lang="en-US" altLang="zh-CN">
                <a:latin typeface="Arial" panose="020B0604020202020204" pitchFamily="34" charset="0"/>
              </a:rPr>
              <a:pPr eaLnBrk="1" hangingPunct="1"/>
              <a:t>18</a:t>
            </a:fld>
            <a:endParaRPr lang="en-US" altLang="zh-CN">
              <a:latin typeface="Arial" panose="020B060402020202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extLst>
      <p:ext uri="{BB962C8B-B14F-4D97-AF65-F5344CB8AC3E}">
        <p14:creationId xmlns:p14="http://schemas.microsoft.com/office/powerpoint/2010/main" val="2867164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161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3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27450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 </a:t>
            </a: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0CA13B1D-1647-4D7A-B705-D8ECA4C5C8D7}" type="datetime1">
              <a:rPr lang="zh-CN" altLang="en-US" smtClean="0"/>
              <a:t>2023/10/10</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9D6FAF08-4462-4599-B910-73DDEC86371B}" type="datetime1">
              <a:rPr lang="zh-CN" altLang="en-US" smtClean="0"/>
              <a:t>2023/10/10</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9D18A-A4E1-443A-B224-0EC77394A49E}" type="datetime1">
              <a:rPr lang="zh-CN" altLang="en-US" smtClean="0"/>
              <a:t>2023/10/10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南京大学商学院</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第二章 货币</a:t>
            </a:r>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第二章主要内容</a:t>
            </a:r>
          </a:p>
        </p:txBody>
      </p:sp>
      <p:sp>
        <p:nvSpPr>
          <p:cNvPr id="3" name="内容占位符 2"/>
          <p:cNvSpPr>
            <a:spLocks noGrp="1"/>
          </p:cNvSpPr>
          <p:nvPr>
            <p:ph idx="1"/>
          </p:nvPr>
        </p:nvSpPr>
        <p:spPr/>
        <p:txBody>
          <a:bodyPr/>
          <a:lstStyle/>
          <a:p>
            <a:r>
              <a:rPr lang="zh-CN" altLang="en-US" dirty="0"/>
              <a:t>第一节 货币的本质和职能</a:t>
            </a:r>
            <a:endParaRPr lang="en-US" altLang="zh-CN" dirty="0"/>
          </a:p>
          <a:p>
            <a:r>
              <a:rPr lang="zh-CN" altLang="en-US" dirty="0"/>
              <a:t>第二节 货币的形式</a:t>
            </a:r>
            <a:endParaRPr lang="en-US" altLang="zh-CN" dirty="0"/>
          </a:p>
          <a:p>
            <a:r>
              <a:rPr lang="zh-CN" altLang="en-US" dirty="0"/>
              <a:t>第三节 货币流通量及规律</a:t>
            </a:r>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en-US" altLang="zh-CN" dirty="0"/>
          </a:p>
          <a:p>
            <a:endParaRPr lang="en-US" altLang="zh-CN" dirty="0"/>
          </a:p>
          <a:p>
            <a:r>
              <a:rPr lang="zh-CN" altLang="en-US" dirty="0"/>
              <a:t>第一节 货币的本质和职能</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10F2143F-0457-4E80-A290-5DB1806D65E5}" type="slidenum">
              <a:rPr lang="zh-CN" altLang="en-US" smtClean="0"/>
              <a:t>3</a:t>
            </a:fld>
            <a:endParaRPr lang="zh-CN" altLang="en-US"/>
          </a:p>
        </p:txBody>
      </p:sp>
    </p:spTree>
    <p:extLst>
      <p:ext uri="{BB962C8B-B14F-4D97-AF65-F5344CB8AC3E}">
        <p14:creationId xmlns:p14="http://schemas.microsoft.com/office/powerpoint/2010/main" val="2897774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货币的起源和本质</a:t>
            </a:r>
          </a:p>
        </p:txBody>
      </p:sp>
      <p:sp>
        <p:nvSpPr>
          <p:cNvPr id="3" name="内容占位符 2"/>
          <p:cNvSpPr>
            <a:spLocks noGrp="1"/>
          </p:cNvSpPr>
          <p:nvPr>
            <p:ph idx="1"/>
          </p:nvPr>
        </p:nvSpPr>
        <p:spPr/>
        <p:txBody>
          <a:bodyPr/>
          <a:lstStyle/>
          <a:p>
            <a:r>
              <a:rPr lang="zh-CN" altLang="en-US" dirty="0"/>
              <a:t>商品交换发展的产物，是在商品交换的历史发展过程中，从商品世界中游离出来的稳定地充当一般等价物的一种特殊商品。</a:t>
            </a:r>
            <a:endParaRPr lang="en-US" altLang="zh-CN" dirty="0"/>
          </a:p>
          <a:p>
            <a:r>
              <a:rPr lang="zh-CN" altLang="en-US" sz="2200" dirty="0"/>
              <a:t>如何理解货币：</a:t>
            </a:r>
          </a:p>
          <a:p>
            <a:pPr>
              <a:lnSpc>
                <a:spcPct val="140000"/>
              </a:lnSpc>
              <a:buFont typeface="Wingdings" panose="05000000000000000000" pitchFamily="2" charset="2"/>
              <a:buNone/>
            </a:pPr>
            <a:r>
              <a:rPr lang="zh-CN" altLang="en-US" sz="2200" dirty="0"/>
              <a:t>      一般等价物（度量商品的价值的使用价值）</a:t>
            </a:r>
          </a:p>
          <a:p>
            <a:pPr>
              <a:lnSpc>
                <a:spcPct val="140000"/>
              </a:lnSpc>
              <a:buFont typeface="Wingdings" panose="05000000000000000000" pitchFamily="2" charset="2"/>
              <a:buNone/>
            </a:pPr>
            <a:r>
              <a:rPr lang="zh-CN" altLang="en-US" sz="2200" dirty="0"/>
              <a:t>      商品（货币也应符合商品的两重性）</a:t>
            </a:r>
          </a:p>
          <a:p>
            <a:pPr>
              <a:lnSpc>
                <a:spcPct val="140000"/>
              </a:lnSpc>
              <a:buFont typeface="Wingdings" panose="05000000000000000000" pitchFamily="2" charset="2"/>
              <a:buNone/>
            </a:pPr>
            <a:r>
              <a:rPr lang="zh-CN" altLang="en-US" sz="2200" dirty="0"/>
              <a:t>      特殊商品（其使用价值可以度量其他商品的价值）</a:t>
            </a:r>
          </a:p>
          <a:p>
            <a:pPr>
              <a:lnSpc>
                <a:spcPct val="140000"/>
              </a:lnSpc>
              <a:buFont typeface="Wingdings" panose="05000000000000000000" pitchFamily="2" charset="2"/>
              <a:buNone/>
            </a:pPr>
            <a:r>
              <a:rPr lang="zh-CN" altLang="en-US" sz="2200" dirty="0"/>
              <a:t>      稳定性（对其质材等提出特别的要求）</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1352021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rrowheads="1"/>
          </p:cNvSpPr>
          <p:nvPr>
            <p:ph type="title"/>
          </p:nvPr>
        </p:nvSpPr>
        <p:spPr/>
        <p:txBody>
          <a:bodyPr/>
          <a:lstStyle/>
          <a:p>
            <a:r>
              <a:rPr lang="zh-CN" altLang="en-US" dirty="0"/>
              <a:t>简单的、个别的或偶然的价值形式</a:t>
            </a:r>
          </a:p>
        </p:txBody>
      </p:sp>
      <p:sp>
        <p:nvSpPr>
          <p:cNvPr id="6147" name="Rectangle 3"/>
          <p:cNvSpPr>
            <a:spLocks noGrp="1" noChangeArrowheads="1"/>
          </p:cNvSpPr>
          <p:nvPr>
            <p:ph type="body" idx="1"/>
          </p:nvPr>
        </p:nvSpPr>
        <p:spPr/>
        <p:txBody>
          <a:bodyPr>
            <a:normAutofit lnSpcReduction="10000"/>
          </a:bodyPr>
          <a:lstStyle/>
          <a:p>
            <a:pPr>
              <a:buFont typeface="Wingdings" panose="05000000000000000000" pitchFamily="2" charset="2"/>
              <a:buNone/>
            </a:pPr>
            <a:r>
              <a:rPr lang="zh-CN" altLang="en-US" sz="2000" dirty="0"/>
              <a:t>商品交换的第一阶段：偶然的、简单的交换</a:t>
            </a:r>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r>
              <a:rPr lang="zh-CN" altLang="en-US" sz="2000" dirty="0"/>
              <a:t>    </a:t>
            </a:r>
          </a:p>
          <a:p>
            <a:pPr>
              <a:buFont typeface="Wingdings" panose="05000000000000000000" pitchFamily="2" charset="2"/>
              <a:buNone/>
            </a:pPr>
            <a:endParaRPr lang="zh-CN" altLang="en-US" sz="2000" dirty="0"/>
          </a:p>
          <a:p>
            <a:pPr>
              <a:buFont typeface="Wingdings" panose="05000000000000000000" pitchFamily="2" charset="2"/>
              <a:buNone/>
            </a:pPr>
            <a:r>
              <a:rPr lang="zh-CN" altLang="en-US" sz="2000" dirty="0"/>
              <a:t>   </a:t>
            </a:r>
          </a:p>
          <a:p>
            <a:pPr>
              <a:lnSpc>
                <a:spcPct val="120000"/>
              </a:lnSpc>
              <a:buFont typeface="Wingdings" panose="05000000000000000000" pitchFamily="2" charset="2"/>
              <a:buNone/>
            </a:pPr>
            <a:r>
              <a:rPr lang="zh-CN" altLang="en-US" sz="2000" dirty="0"/>
              <a:t>  思考：</a:t>
            </a:r>
          </a:p>
          <a:p>
            <a:pPr>
              <a:lnSpc>
                <a:spcPct val="120000"/>
              </a:lnSpc>
              <a:buFont typeface="Wingdings" panose="05000000000000000000" pitchFamily="2" charset="2"/>
              <a:buNone/>
            </a:pPr>
            <a:r>
              <a:rPr lang="zh-CN" altLang="en-US" sz="2000" dirty="0"/>
              <a:t>       </a:t>
            </a:r>
            <a:r>
              <a:rPr lang="en-US" altLang="zh-CN" sz="2000" dirty="0"/>
              <a:t>——</a:t>
            </a:r>
            <a:r>
              <a:rPr lang="zh-CN" altLang="en-US" sz="2000" dirty="0"/>
              <a:t>羊和石斧的地位是平等的吗？</a:t>
            </a:r>
          </a:p>
          <a:p>
            <a:pPr>
              <a:lnSpc>
                <a:spcPct val="120000"/>
              </a:lnSpc>
              <a:buFont typeface="Wingdings" panose="05000000000000000000" pitchFamily="2" charset="2"/>
              <a:buNone/>
            </a:pPr>
            <a:r>
              <a:rPr lang="zh-CN" altLang="en-US" sz="2000" dirty="0"/>
              <a:t>       </a:t>
            </a:r>
            <a:r>
              <a:rPr lang="en-US" altLang="zh-CN" sz="2000" dirty="0"/>
              <a:t>——</a:t>
            </a:r>
            <a:r>
              <a:rPr lang="zh-CN" altLang="en-US" sz="2000" dirty="0"/>
              <a:t>羊和石斧交换的等号说明了什么？</a:t>
            </a:r>
          </a:p>
          <a:p>
            <a:pPr>
              <a:lnSpc>
                <a:spcPct val="120000"/>
              </a:lnSpc>
              <a:buFont typeface="Wingdings" panose="05000000000000000000" pitchFamily="2" charset="2"/>
              <a:buNone/>
            </a:pPr>
            <a:r>
              <a:rPr lang="zh-CN" altLang="en-US" sz="2000" dirty="0"/>
              <a:t>       </a:t>
            </a:r>
            <a:r>
              <a:rPr lang="en-US" altLang="zh-CN" sz="2000" dirty="0"/>
              <a:t>——</a:t>
            </a:r>
            <a:r>
              <a:rPr lang="zh-CN" altLang="en-US" sz="2000" dirty="0"/>
              <a:t>为什么是羊和石斧的交换比例是</a:t>
            </a:r>
            <a:r>
              <a:rPr lang="en-US" altLang="zh-CN" sz="2000" dirty="0"/>
              <a:t>1</a:t>
            </a:r>
            <a:r>
              <a:rPr lang="zh-CN" altLang="en-US" sz="2000" dirty="0"/>
              <a:t>：</a:t>
            </a:r>
            <a:r>
              <a:rPr lang="en-US" altLang="zh-CN" sz="2000" dirty="0"/>
              <a:t>2</a:t>
            </a:r>
            <a:r>
              <a:rPr lang="zh-CN" altLang="en-US" sz="2000" dirty="0"/>
              <a:t>？</a:t>
            </a:r>
          </a:p>
          <a:p>
            <a:pPr>
              <a:lnSpc>
                <a:spcPct val="120000"/>
              </a:lnSpc>
              <a:buFont typeface="Wingdings" panose="05000000000000000000" pitchFamily="2" charset="2"/>
              <a:buNone/>
            </a:pPr>
            <a:r>
              <a:rPr lang="zh-CN" altLang="en-US" sz="2000" dirty="0"/>
              <a:t>       </a:t>
            </a:r>
            <a:r>
              <a:rPr lang="en-US" altLang="zh-CN" sz="2000" dirty="0"/>
              <a:t>——</a:t>
            </a:r>
            <a:r>
              <a:rPr lang="zh-CN" altLang="en-US" sz="2000" dirty="0"/>
              <a:t>这种交换是一种经常的行为吗？</a:t>
            </a:r>
          </a:p>
        </p:txBody>
      </p:sp>
      <p:sp>
        <p:nvSpPr>
          <p:cNvPr id="6148" name="Rectangle 4"/>
          <p:cNvSpPr>
            <a:spLocks noChangeArrowheads="1"/>
          </p:cNvSpPr>
          <p:nvPr/>
        </p:nvSpPr>
        <p:spPr bwMode="auto">
          <a:xfrm>
            <a:off x="1403350" y="2636838"/>
            <a:ext cx="2232025" cy="7921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只羊</a:t>
            </a:r>
          </a:p>
          <a:p>
            <a:pPr eaLnBrk="1" hangingPunct="1"/>
            <a:r>
              <a:rPr lang="en-US" altLang="zh-CN"/>
              <a:t>(</a:t>
            </a:r>
            <a:r>
              <a:rPr lang="zh-CN" altLang="en-US"/>
              <a:t>相对价值形式）</a:t>
            </a:r>
          </a:p>
        </p:txBody>
      </p:sp>
      <p:sp>
        <p:nvSpPr>
          <p:cNvPr id="6149" name="Line 5"/>
          <p:cNvSpPr>
            <a:spLocks noChangeShapeType="1"/>
          </p:cNvSpPr>
          <p:nvPr/>
        </p:nvSpPr>
        <p:spPr bwMode="auto">
          <a:xfrm>
            <a:off x="3779838" y="2924175"/>
            <a:ext cx="647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 name="Line 6"/>
          <p:cNvSpPr>
            <a:spLocks noChangeShapeType="1"/>
          </p:cNvSpPr>
          <p:nvPr/>
        </p:nvSpPr>
        <p:spPr bwMode="auto">
          <a:xfrm>
            <a:off x="3779838" y="3141663"/>
            <a:ext cx="647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1" name="Rectangle 7"/>
          <p:cNvSpPr>
            <a:spLocks noChangeArrowheads="1"/>
          </p:cNvSpPr>
          <p:nvPr/>
        </p:nvSpPr>
        <p:spPr bwMode="auto">
          <a:xfrm>
            <a:off x="4500563" y="2636838"/>
            <a:ext cx="2305050" cy="7921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2</a:t>
            </a:r>
            <a:r>
              <a:rPr lang="zh-CN" altLang="en-US"/>
              <a:t>把斧子</a:t>
            </a:r>
          </a:p>
          <a:p>
            <a:pPr eaLnBrk="1" hangingPunct="1"/>
            <a:r>
              <a:rPr lang="zh-CN" altLang="en-US"/>
              <a:t>（等价形式）</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5</a:t>
            </a:fld>
            <a:endParaRPr lang="zh-CN" altLang="en-US"/>
          </a:p>
        </p:txBody>
      </p:sp>
    </p:spTree>
    <p:extLst>
      <p:ext uri="{BB962C8B-B14F-4D97-AF65-F5344CB8AC3E}">
        <p14:creationId xmlns:p14="http://schemas.microsoft.com/office/powerpoint/2010/main" val="1939547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rrowheads="1"/>
          </p:cNvSpPr>
          <p:nvPr>
            <p:ph type="title"/>
          </p:nvPr>
        </p:nvSpPr>
        <p:spPr/>
        <p:txBody>
          <a:bodyPr/>
          <a:lstStyle/>
          <a:p>
            <a:r>
              <a:rPr lang="zh-CN" altLang="en-US" dirty="0"/>
              <a:t>简单的、个别的或偶然的价值形式</a:t>
            </a:r>
          </a:p>
        </p:txBody>
      </p:sp>
      <p:sp>
        <p:nvSpPr>
          <p:cNvPr id="7171" name="Rectangle 3"/>
          <p:cNvSpPr>
            <a:spLocks noGrp="1" noChangeArrowheads="1"/>
          </p:cNvSpPr>
          <p:nvPr>
            <p:ph type="body" idx="1"/>
          </p:nvPr>
        </p:nvSpPr>
        <p:spPr/>
        <p:txBody>
          <a:bodyPr/>
          <a:lstStyle/>
          <a:p>
            <a:pPr>
              <a:lnSpc>
                <a:spcPct val="145000"/>
              </a:lnSpc>
              <a:buFont typeface="Wingdings" panose="05000000000000000000" pitchFamily="2" charset="2"/>
              <a:buNone/>
            </a:pPr>
            <a:r>
              <a:rPr lang="en-US" altLang="zh-CN" sz="2000" dirty="0">
                <a:latin typeface="宋体" panose="02010600030101010101" pitchFamily="2" charset="-122"/>
              </a:rPr>
              <a:t>      </a:t>
            </a:r>
            <a:r>
              <a:rPr lang="zh-CN" altLang="en-US" sz="2000" dirty="0">
                <a:latin typeface="宋体" panose="02010600030101010101" pitchFamily="2" charset="-122"/>
              </a:rPr>
              <a:t>处于相对价值形式上的商品，在价值关系中起着主动的作用，是主动地要表现自己价值的商品。相对价值形式的考察要从质和量两个方面来进行。</a:t>
            </a:r>
          </a:p>
          <a:p>
            <a:pPr>
              <a:lnSpc>
                <a:spcPct val="145000"/>
              </a:lnSpc>
              <a:buFont typeface="Wingdings" panose="05000000000000000000" pitchFamily="2" charset="2"/>
              <a:buNone/>
            </a:pPr>
            <a:r>
              <a:rPr lang="zh-CN" altLang="en-US" sz="2000" dirty="0">
                <a:latin typeface="宋体" panose="02010600030101010101" pitchFamily="2" charset="-122"/>
              </a:rPr>
              <a:t>      处于等价形式上的商品，在价值关系中处于被动的地位，以其自己的商品体反映另一商品的价值。</a:t>
            </a:r>
            <a:endParaRPr lang="en-US" altLang="zh-CN" sz="2000" dirty="0">
              <a:latin typeface="宋体" panose="02010600030101010101" pitchFamily="2" charset="-122"/>
            </a:endParaRPr>
          </a:p>
          <a:p>
            <a:pPr>
              <a:lnSpc>
                <a:spcPct val="145000"/>
              </a:lnSpc>
              <a:buFont typeface="Wingdings" panose="05000000000000000000" pitchFamily="2" charset="2"/>
              <a:buNone/>
            </a:pPr>
            <a:endParaRPr lang="zh-CN" altLang="en-US" sz="2000" dirty="0">
              <a:latin typeface="宋体" panose="02010600030101010101" pitchFamily="2" charset="-122"/>
            </a:endParaRPr>
          </a:p>
        </p:txBody>
      </p:sp>
      <p:sp>
        <p:nvSpPr>
          <p:cNvPr id="2" name="灯片编号占位符 1"/>
          <p:cNvSpPr>
            <a:spLocks noGrp="1"/>
          </p:cNvSpPr>
          <p:nvPr>
            <p:ph type="sldNum" sz="quarter" idx="12"/>
          </p:nvPr>
        </p:nvSpPr>
        <p:spPr/>
        <p:txBody>
          <a:bodyPr/>
          <a:lstStyle/>
          <a:p>
            <a:fld id="{10F2143F-0457-4E80-A290-5DB1806D65E5}" type="slidenum">
              <a:rPr lang="zh-CN" altLang="en-US" smtClean="0"/>
              <a:t>6</a:t>
            </a:fld>
            <a:endParaRPr lang="zh-CN" altLang="en-US"/>
          </a:p>
        </p:txBody>
      </p:sp>
    </p:spTree>
    <p:extLst>
      <p:ext uri="{BB962C8B-B14F-4D97-AF65-F5344CB8AC3E}">
        <p14:creationId xmlns:p14="http://schemas.microsoft.com/office/powerpoint/2010/main" val="2641634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p:txBody>
          <a:bodyPr/>
          <a:lstStyle/>
          <a:p>
            <a:r>
              <a:rPr lang="zh-CN" altLang="en-US" dirty="0"/>
              <a:t>总和的或扩大价值形式</a:t>
            </a:r>
          </a:p>
        </p:txBody>
      </p:sp>
      <p:sp>
        <p:nvSpPr>
          <p:cNvPr id="8195" name="Rectangle 3"/>
          <p:cNvSpPr>
            <a:spLocks noGrp="1" noChangeArrowheads="1"/>
          </p:cNvSpPr>
          <p:nvPr>
            <p:ph type="body" idx="1"/>
          </p:nvPr>
        </p:nvSpPr>
        <p:spPr/>
        <p:txBody>
          <a:bodyPr>
            <a:normAutofit lnSpcReduction="10000"/>
          </a:bodyPr>
          <a:lstStyle/>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r>
              <a:rPr lang="zh-CN" altLang="en-US" sz="2000" dirty="0"/>
              <a:t>   思考：</a:t>
            </a:r>
          </a:p>
          <a:p>
            <a:pPr>
              <a:buFont typeface="Wingdings" panose="05000000000000000000" pitchFamily="2" charset="2"/>
              <a:buNone/>
            </a:pPr>
            <a:r>
              <a:rPr lang="zh-CN" altLang="en-US" sz="2000" dirty="0"/>
              <a:t>      </a:t>
            </a:r>
            <a:r>
              <a:rPr lang="en-US" altLang="zh-CN" sz="2000" dirty="0"/>
              <a:t>——</a:t>
            </a:r>
            <a:r>
              <a:rPr lang="zh-CN" altLang="en-US" sz="2000" dirty="0"/>
              <a:t>扩大的交换形式和偶然的交换形式相比有何进步之处？</a:t>
            </a:r>
          </a:p>
          <a:p>
            <a:pPr>
              <a:buFont typeface="Wingdings" panose="05000000000000000000" pitchFamily="2" charset="2"/>
              <a:buNone/>
            </a:pPr>
            <a:r>
              <a:rPr lang="zh-CN" altLang="en-US" sz="2000" dirty="0"/>
              <a:t>      </a:t>
            </a:r>
            <a:r>
              <a:rPr lang="en-US" altLang="zh-CN" sz="2000" dirty="0"/>
              <a:t>——</a:t>
            </a:r>
            <a:r>
              <a:rPr lang="zh-CN" altLang="en-US" sz="2000" dirty="0"/>
              <a:t>扩大的交换形式的局限性体现在什么地方？</a:t>
            </a:r>
          </a:p>
        </p:txBody>
      </p:sp>
      <p:sp>
        <p:nvSpPr>
          <p:cNvPr id="8196" name="Rectangle 4"/>
          <p:cNvSpPr>
            <a:spLocks noChangeArrowheads="1"/>
          </p:cNvSpPr>
          <p:nvPr/>
        </p:nvSpPr>
        <p:spPr bwMode="auto">
          <a:xfrm>
            <a:off x="1619250" y="2924175"/>
            <a:ext cx="1368425" cy="86518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只绵羊</a:t>
            </a:r>
          </a:p>
        </p:txBody>
      </p:sp>
      <p:sp>
        <p:nvSpPr>
          <p:cNvPr id="8197" name="AutoShape 5"/>
          <p:cNvSpPr>
            <a:spLocks/>
          </p:cNvSpPr>
          <p:nvPr/>
        </p:nvSpPr>
        <p:spPr bwMode="auto">
          <a:xfrm>
            <a:off x="3851275" y="2349500"/>
            <a:ext cx="433388" cy="2087563"/>
          </a:xfrm>
          <a:prstGeom prst="leftBrace">
            <a:avLst>
              <a:gd name="adj1" fmla="val 4014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198" name="Line 6"/>
          <p:cNvSpPr>
            <a:spLocks noChangeShapeType="1"/>
          </p:cNvSpPr>
          <p:nvPr/>
        </p:nvSpPr>
        <p:spPr bwMode="auto">
          <a:xfrm>
            <a:off x="3203575" y="3284538"/>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 name="Line 7"/>
          <p:cNvSpPr>
            <a:spLocks noChangeShapeType="1"/>
          </p:cNvSpPr>
          <p:nvPr/>
        </p:nvSpPr>
        <p:spPr bwMode="auto">
          <a:xfrm>
            <a:off x="3203575" y="3500438"/>
            <a:ext cx="43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 name="Rectangle 8"/>
          <p:cNvSpPr>
            <a:spLocks noChangeArrowheads="1"/>
          </p:cNvSpPr>
          <p:nvPr/>
        </p:nvSpPr>
        <p:spPr bwMode="auto">
          <a:xfrm>
            <a:off x="4356100" y="2205038"/>
            <a:ext cx="2016125"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2</a:t>
            </a:r>
            <a:r>
              <a:rPr lang="zh-CN" altLang="en-US"/>
              <a:t>把斧子</a:t>
            </a:r>
          </a:p>
        </p:txBody>
      </p:sp>
      <p:sp>
        <p:nvSpPr>
          <p:cNvPr id="8201" name="Rectangle 9"/>
          <p:cNvSpPr>
            <a:spLocks noChangeArrowheads="1"/>
          </p:cNvSpPr>
          <p:nvPr/>
        </p:nvSpPr>
        <p:spPr bwMode="auto">
          <a:xfrm>
            <a:off x="4356100" y="2708275"/>
            <a:ext cx="2016125" cy="3603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40</a:t>
            </a:r>
            <a:r>
              <a:rPr lang="zh-CN" altLang="en-US"/>
              <a:t>公斤小麦</a:t>
            </a:r>
          </a:p>
        </p:txBody>
      </p:sp>
      <p:sp>
        <p:nvSpPr>
          <p:cNvPr id="8202" name="Rectangle 10"/>
          <p:cNvSpPr>
            <a:spLocks noChangeArrowheads="1"/>
          </p:cNvSpPr>
          <p:nvPr/>
        </p:nvSpPr>
        <p:spPr bwMode="auto">
          <a:xfrm>
            <a:off x="4356100" y="3213100"/>
            <a:ext cx="2016125" cy="358775"/>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10</a:t>
            </a:r>
            <a:r>
              <a:rPr lang="zh-CN" altLang="en-US"/>
              <a:t>斤茶叶</a:t>
            </a:r>
          </a:p>
        </p:txBody>
      </p:sp>
      <p:sp>
        <p:nvSpPr>
          <p:cNvPr id="8203" name="Rectangle 11"/>
          <p:cNvSpPr>
            <a:spLocks noChangeArrowheads="1"/>
          </p:cNvSpPr>
          <p:nvPr/>
        </p:nvSpPr>
        <p:spPr bwMode="auto">
          <a:xfrm>
            <a:off x="4356100" y="3716338"/>
            <a:ext cx="2016125"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两黄金</a:t>
            </a:r>
          </a:p>
        </p:txBody>
      </p:sp>
      <p:sp>
        <p:nvSpPr>
          <p:cNvPr id="8204" name="Rectangle 12"/>
          <p:cNvSpPr>
            <a:spLocks noChangeArrowheads="1"/>
          </p:cNvSpPr>
          <p:nvPr/>
        </p:nvSpPr>
        <p:spPr bwMode="auto">
          <a:xfrm>
            <a:off x="4356100" y="4221163"/>
            <a:ext cx="2016125"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a:t>
            </a:r>
            <a:r>
              <a:rPr lang="zh-CN" altLang="en-US"/>
              <a:t>单位的其他商品</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7</a:t>
            </a:fld>
            <a:endParaRPr lang="zh-CN" altLang="en-US"/>
          </a:p>
        </p:txBody>
      </p:sp>
    </p:spTree>
    <p:extLst>
      <p:ext uri="{BB962C8B-B14F-4D97-AF65-F5344CB8AC3E}">
        <p14:creationId xmlns:p14="http://schemas.microsoft.com/office/powerpoint/2010/main" val="235692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rrowheads="1"/>
          </p:cNvSpPr>
          <p:nvPr>
            <p:ph type="title"/>
          </p:nvPr>
        </p:nvSpPr>
        <p:spPr>
          <a:xfrm>
            <a:off x="755650" y="763587"/>
            <a:ext cx="5616575" cy="576263"/>
          </a:xfrm>
        </p:spPr>
        <p:txBody>
          <a:bodyPr/>
          <a:lstStyle/>
          <a:p>
            <a:r>
              <a:rPr lang="zh-CN" altLang="en-US" dirty="0"/>
              <a:t>一般价值形式</a:t>
            </a:r>
          </a:p>
        </p:txBody>
      </p:sp>
      <p:sp>
        <p:nvSpPr>
          <p:cNvPr id="9219" name="Rectangle 3"/>
          <p:cNvSpPr>
            <a:spLocks noGrp="1" noChangeArrowheads="1"/>
          </p:cNvSpPr>
          <p:nvPr>
            <p:ph type="body" idx="1"/>
          </p:nvPr>
        </p:nvSpPr>
        <p:spPr>
          <a:xfrm>
            <a:off x="457200" y="1700213"/>
            <a:ext cx="8229600" cy="4425950"/>
          </a:xfrm>
        </p:spPr>
        <p:txBody>
          <a:bodyPr>
            <a:normAutofit fontScale="85000" lnSpcReduction="20000"/>
          </a:bodyPr>
          <a:lstStyle/>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en-US" altLang="zh-CN" sz="2000" dirty="0"/>
          </a:p>
          <a:p>
            <a:pPr>
              <a:buFont typeface="Wingdings" panose="05000000000000000000" pitchFamily="2" charset="2"/>
              <a:buNone/>
            </a:pPr>
            <a:r>
              <a:rPr lang="zh-CN" altLang="en-US" sz="2000" dirty="0"/>
              <a:t>思考：</a:t>
            </a:r>
          </a:p>
          <a:p>
            <a:pPr>
              <a:buFont typeface="Wingdings" panose="05000000000000000000" pitchFamily="2" charset="2"/>
              <a:buNone/>
            </a:pPr>
            <a:r>
              <a:rPr lang="zh-CN" altLang="en-US" sz="2000" dirty="0"/>
              <a:t>      </a:t>
            </a:r>
            <a:r>
              <a:rPr lang="en-US" altLang="zh-CN" sz="2000" dirty="0"/>
              <a:t>”</a:t>
            </a:r>
            <a:r>
              <a:rPr lang="zh-CN" altLang="en-US" sz="2000" dirty="0"/>
              <a:t>羊”成为其他一切商品的“一般等价物”，这对交换意味着什么？</a:t>
            </a:r>
          </a:p>
          <a:p>
            <a:pPr>
              <a:buFont typeface="Wingdings" panose="05000000000000000000" pitchFamily="2" charset="2"/>
              <a:buNone/>
            </a:pPr>
            <a:r>
              <a:rPr lang="zh-CN" altLang="en-US" sz="2000" dirty="0"/>
              <a:t>      一般等价物为何会有地区差异性和时间演化性？</a:t>
            </a:r>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en-US" altLang="zh-CN" sz="2000" dirty="0"/>
          </a:p>
        </p:txBody>
      </p:sp>
      <p:sp>
        <p:nvSpPr>
          <p:cNvPr id="9220" name="Rectangle 4"/>
          <p:cNvSpPr>
            <a:spLocks noChangeArrowheads="1"/>
          </p:cNvSpPr>
          <p:nvPr/>
        </p:nvSpPr>
        <p:spPr bwMode="auto">
          <a:xfrm>
            <a:off x="1619250" y="2420938"/>
            <a:ext cx="1944688"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把石斧</a:t>
            </a:r>
          </a:p>
        </p:txBody>
      </p:sp>
      <p:sp>
        <p:nvSpPr>
          <p:cNvPr id="9221" name="Rectangle 5"/>
          <p:cNvSpPr>
            <a:spLocks noChangeArrowheads="1"/>
          </p:cNvSpPr>
          <p:nvPr/>
        </p:nvSpPr>
        <p:spPr bwMode="auto">
          <a:xfrm>
            <a:off x="1619250" y="2924175"/>
            <a:ext cx="1944688" cy="3603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担米</a:t>
            </a:r>
          </a:p>
        </p:txBody>
      </p:sp>
      <p:sp>
        <p:nvSpPr>
          <p:cNvPr id="9222" name="Rectangle 6"/>
          <p:cNvSpPr>
            <a:spLocks noChangeArrowheads="1"/>
          </p:cNvSpPr>
          <p:nvPr/>
        </p:nvSpPr>
        <p:spPr bwMode="auto">
          <a:xfrm>
            <a:off x="1619250" y="3429000"/>
            <a:ext cx="1944688" cy="3603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10</a:t>
            </a:r>
            <a:r>
              <a:rPr lang="zh-CN" altLang="en-US"/>
              <a:t>斤茶叶</a:t>
            </a:r>
          </a:p>
        </p:txBody>
      </p:sp>
      <p:sp>
        <p:nvSpPr>
          <p:cNvPr id="9223" name="Rectangle 7"/>
          <p:cNvSpPr>
            <a:spLocks noChangeArrowheads="1"/>
          </p:cNvSpPr>
          <p:nvPr/>
        </p:nvSpPr>
        <p:spPr bwMode="auto">
          <a:xfrm>
            <a:off x="1619250" y="3933825"/>
            <a:ext cx="1944688" cy="358775"/>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两金</a:t>
            </a:r>
          </a:p>
        </p:txBody>
      </p:sp>
      <p:sp>
        <p:nvSpPr>
          <p:cNvPr id="9224" name="Rectangle 8"/>
          <p:cNvSpPr>
            <a:spLocks noChangeArrowheads="1"/>
          </p:cNvSpPr>
          <p:nvPr/>
        </p:nvSpPr>
        <p:spPr bwMode="auto">
          <a:xfrm>
            <a:off x="1619250" y="4437063"/>
            <a:ext cx="1944688"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a:t>
            </a:r>
            <a:r>
              <a:rPr lang="zh-CN" altLang="en-US"/>
              <a:t>单位的其他产品</a:t>
            </a:r>
          </a:p>
        </p:txBody>
      </p:sp>
      <p:sp>
        <p:nvSpPr>
          <p:cNvPr id="9225" name="AutoShape 9"/>
          <p:cNvSpPr>
            <a:spLocks/>
          </p:cNvSpPr>
          <p:nvPr/>
        </p:nvSpPr>
        <p:spPr bwMode="auto">
          <a:xfrm>
            <a:off x="3563938" y="2636838"/>
            <a:ext cx="360362" cy="2016125"/>
          </a:xfrm>
          <a:prstGeom prst="rightBrace">
            <a:avLst>
              <a:gd name="adj1" fmla="val 4662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226" name="Line 10"/>
          <p:cNvSpPr>
            <a:spLocks noChangeShapeType="1"/>
          </p:cNvSpPr>
          <p:nvPr/>
        </p:nvSpPr>
        <p:spPr bwMode="auto">
          <a:xfrm>
            <a:off x="4067175" y="3573463"/>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7" name="Line 11"/>
          <p:cNvSpPr>
            <a:spLocks noChangeShapeType="1"/>
          </p:cNvSpPr>
          <p:nvPr/>
        </p:nvSpPr>
        <p:spPr bwMode="auto">
          <a:xfrm>
            <a:off x="4067175" y="3789363"/>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8" name="Rectangle 12"/>
          <p:cNvSpPr>
            <a:spLocks noChangeArrowheads="1"/>
          </p:cNvSpPr>
          <p:nvPr/>
        </p:nvSpPr>
        <p:spPr bwMode="auto">
          <a:xfrm>
            <a:off x="4787900" y="3284538"/>
            <a:ext cx="2232025" cy="719137"/>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只绵羊</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3545364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p:txBody>
          <a:bodyPr/>
          <a:lstStyle/>
          <a:p>
            <a:r>
              <a:rPr lang="zh-CN" altLang="en-US" dirty="0"/>
              <a:t>货币形式</a:t>
            </a:r>
          </a:p>
        </p:txBody>
      </p:sp>
      <p:sp>
        <p:nvSpPr>
          <p:cNvPr id="10243" name="Rectangle 3"/>
          <p:cNvSpPr>
            <a:spLocks noGrp="1" noChangeArrowheads="1"/>
          </p:cNvSpPr>
          <p:nvPr>
            <p:ph type="body" idx="1"/>
          </p:nvPr>
        </p:nvSpPr>
        <p:spPr>
          <a:xfrm>
            <a:off x="457200" y="1700213"/>
            <a:ext cx="8229600" cy="4425950"/>
          </a:xfrm>
        </p:spPr>
        <p:txBody>
          <a:bodyPr>
            <a:normAutofit fontScale="92500" lnSpcReduction="20000"/>
          </a:bodyPr>
          <a:lstStyle/>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r>
              <a:rPr lang="zh-CN" altLang="en-US" sz="2000" dirty="0"/>
              <a:t>思考：</a:t>
            </a:r>
          </a:p>
          <a:p>
            <a:pPr>
              <a:buFont typeface="Wingdings" panose="05000000000000000000" pitchFamily="2" charset="2"/>
              <a:buNone/>
            </a:pPr>
            <a:r>
              <a:rPr lang="zh-CN" altLang="en-US" sz="2000" dirty="0"/>
              <a:t>      当充当一般等价物的商品固定逐渐稳定到一种商品上时，即出现了货</a:t>
            </a:r>
          </a:p>
          <a:p>
            <a:pPr>
              <a:buFont typeface="Wingdings" panose="05000000000000000000" pitchFamily="2" charset="2"/>
              <a:buNone/>
            </a:pPr>
            <a:r>
              <a:rPr lang="zh-CN" altLang="en-US" sz="2000" dirty="0"/>
              <a:t>币。问题在于货币为何会最终选择金和银？</a:t>
            </a:r>
          </a:p>
          <a:p>
            <a:pPr>
              <a:buFont typeface="Wingdings" panose="05000000000000000000" pitchFamily="2" charset="2"/>
              <a:buNone/>
            </a:pPr>
            <a:endParaRPr lang="zh-CN" altLang="en-US" sz="2000" dirty="0"/>
          </a:p>
          <a:p>
            <a:pPr>
              <a:buFont typeface="Wingdings" panose="05000000000000000000" pitchFamily="2" charset="2"/>
              <a:buNone/>
            </a:pPr>
            <a:endParaRPr lang="zh-CN" altLang="en-US" sz="2000" dirty="0"/>
          </a:p>
          <a:p>
            <a:pPr>
              <a:buFont typeface="Wingdings" panose="05000000000000000000" pitchFamily="2" charset="2"/>
              <a:buNone/>
            </a:pPr>
            <a:endParaRPr lang="en-US" altLang="zh-CN" sz="2000" dirty="0"/>
          </a:p>
        </p:txBody>
      </p:sp>
      <p:sp>
        <p:nvSpPr>
          <p:cNvPr id="10244" name="Rectangle 4"/>
          <p:cNvSpPr>
            <a:spLocks noChangeArrowheads="1"/>
          </p:cNvSpPr>
          <p:nvPr/>
        </p:nvSpPr>
        <p:spPr bwMode="auto">
          <a:xfrm>
            <a:off x="1619250" y="2420938"/>
            <a:ext cx="1944688"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把石斧</a:t>
            </a:r>
          </a:p>
        </p:txBody>
      </p:sp>
      <p:sp>
        <p:nvSpPr>
          <p:cNvPr id="10245" name="Rectangle 5"/>
          <p:cNvSpPr>
            <a:spLocks noChangeArrowheads="1"/>
          </p:cNvSpPr>
          <p:nvPr/>
        </p:nvSpPr>
        <p:spPr bwMode="auto">
          <a:xfrm>
            <a:off x="1619250" y="2924175"/>
            <a:ext cx="1944688" cy="3603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担米</a:t>
            </a:r>
          </a:p>
        </p:txBody>
      </p:sp>
      <p:sp>
        <p:nvSpPr>
          <p:cNvPr id="10246" name="Rectangle 6"/>
          <p:cNvSpPr>
            <a:spLocks noChangeArrowheads="1"/>
          </p:cNvSpPr>
          <p:nvPr/>
        </p:nvSpPr>
        <p:spPr bwMode="auto">
          <a:xfrm>
            <a:off x="1619250" y="3429000"/>
            <a:ext cx="1944688" cy="3603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10</a:t>
            </a:r>
            <a:r>
              <a:rPr lang="zh-CN" altLang="en-US"/>
              <a:t>斤茶叶</a:t>
            </a:r>
          </a:p>
        </p:txBody>
      </p:sp>
      <p:sp>
        <p:nvSpPr>
          <p:cNvPr id="10247" name="Rectangle 7"/>
          <p:cNvSpPr>
            <a:spLocks noChangeArrowheads="1"/>
          </p:cNvSpPr>
          <p:nvPr/>
        </p:nvSpPr>
        <p:spPr bwMode="auto">
          <a:xfrm>
            <a:off x="1619250" y="3933825"/>
            <a:ext cx="1944688" cy="358775"/>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2</a:t>
            </a:r>
            <a:r>
              <a:rPr lang="zh-CN" altLang="en-US"/>
              <a:t>只羊</a:t>
            </a:r>
          </a:p>
        </p:txBody>
      </p:sp>
      <p:sp>
        <p:nvSpPr>
          <p:cNvPr id="10248" name="Rectangle 8"/>
          <p:cNvSpPr>
            <a:spLocks noChangeArrowheads="1"/>
          </p:cNvSpPr>
          <p:nvPr/>
        </p:nvSpPr>
        <p:spPr bwMode="auto">
          <a:xfrm>
            <a:off x="1619250" y="4437063"/>
            <a:ext cx="1944688" cy="3603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X</a:t>
            </a:r>
            <a:r>
              <a:rPr lang="zh-CN" altLang="en-US"/>
              <a:t>单位的其他产品</a:t>
            </a:r>
          </a:p>
        </p:txBody>
      </p:sp>
      <p:sp>
        <p:nvSpPr>
          <p:cNvPr id="10249" name="AutoShape 9"/>
          <p:cNvSpPr>
            <a:spLocks/>
          </p:cNvSpPr>
          <p:nvPr/>
        </p:nvSpPr>
        <p:spPr bwMode="auto">
          <a:xfrm>
            <a:off x="3563938" y="2636838"/>
            <a:ext cx="360362" cy="2016125"/>
          </a:xfrm>
          <a:prstGeom prst="rightBrace">
            <a:avLst>
              <a:gd name="adj1" fmla="val 4662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50" name="Line 10"/>
          <p:cNvSpPr>
            <a:spLocks noChangeShapeType="1"/>
          </p:cNvSpPr>
          <p:nvPr/>
        </p:nvSpPr>
        <p:spPr bwMode="auto">
          <a:xfrm>
            <a:off x="4067175" y="3573463"/>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1" name="Line 11"/>
          <p:cNvSpPr>
            <a:spLocks noChangeShapeType="1"/>
          </p:cNvSpPr>
          <p:nvPr/>
        </p:nvSpPr>
        <p:spPr bwMode="auto">
          <a:xfrm>
            <a:off x="4067175" y="3789363"/>
            <a:ext cx="5762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52" name="Rectangle 12"/>
          <p:cNvSpPr>
            <a:spLocks noChangeArrowheads="1"/>
          </p:cNvSpPr>
          <p:nvPr/>
        </p:nvSpPr>
        <p:spPr bwMode="auto">
          <a:xfrm>
            <a:off x="4787900" y="3284538"/>
            <a:ext cx="2232025" cy="719137"/>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1</a:t>
            </a:r>
            <a:r>
              <a:rPr lang="zh-CN" altLang="en-US"/>
              <a:t>两金</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43244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p:txBody>
          <a:bodyPr/>
          <a:lstStyle/>
          <a:p>
            <a:r>
              <a:rPr lang="zh-CN" altLang="en-US" dirty="0"/>
              <a:t>货币形式</a:t>
            </a:r>
          </a:p>
        </p:txBody>
      </p:sp>
      <p:sp>
        <p:nvSpPr>
          <p:cNvPr id="11267" name="Rectangle 3"/>
          <p:cNvSpPr>
            <a:spLocks noGrp="1" noChangeArrowheads="1"/>
          </p:cNvSpPr>
          <p:nvPr>
            <p:ph type="body" idx="1"/>
          </p:nvPr>
        </p:nvSpPr>
        <p:spPr/>
        <p:txBody>
          <a:bodyPr/>
          <a:lstStyle/>
          <a:p>
            <a:pPr>
              <a:lnSpc>
                <a:spcPct val="145000"/>
              </a:lnSpc>
              <a:buFont typeface="Wingdings" panose="05000000000000000000" pitchFamily="2" charset="2"/>
              <a:buNone/>
            </a:pPr>
            <a:r>
              <a:rPr lang="en-US" altLang="zh-CN"/>
              <a:t>  </a:t>
            </a:r>
            <a:r>
              <a:rPr lang="zh-CN" altLang="en-US" sz="2000"/>
              <a:t>如何理解马克思的话“金银天然不是货币，但货币天然是金银”？</a:t>
            </a:r>
          </a:p>
          <a:p>
            <a:pPr>
              <a:lnSpc>
                <a:spcPct val="145000"/>
              </a:lnSpc>
              <a:buFont typeface="Wingdings" panose="05000000000000000000" pitchFamily="2" charset="2"/>
              <a:buNone/>
            </a:pPr>
            <a:r>
              <a:rPr lang="zh-CN" altLang="en-US" sz="2000"/>
              <a:t>   </a:t>
            </a:r>
            <a:r>
              <a:rPr lang="en-US" altLang="zh-CN" sz="2000"/>
              <a:t>——</a:t>
            </a:r>
            <a:r>
              <a:rPr lang="zh-CN" altLang="en-US" sz="2000"/>
              <a:t>在货币出现之前，作为自然和劳动产物的金银已经存在。</a:t>
            </a:r>
          </a:p>
          <a:p>
            <a:pPr>
              <a:lnSpc>
                <a:spcPct val="145000"/>
              </a:lnSpc>
              <a:buFont typeface="Wingdings" panose="05000000000000000000" pitchFamily="2" charset="2"/>
              <a:buNone/>
            </a:pPr>
            <a:r>
              <a:rPr lang="zh-CN" altLang="en-US" sz="2000"/>
              <a:t>   </a:t>
            </a:r>
            <a:r>
              <a:rPr lang="en-US" altLang="zh-CN" sz="2000"/>
              <a:t>——</a:t>
            </a:r>
            <a:r>
              <a:rPr lang="zh-CN" altLang="en-US" sz="2000"/>
              <a:t>用来充当一般等价物的商品最终固定在金银身上，说明在充当货币方面，仅因具有相对于其他商品的优势。</a:t>
            </a:r>
          </a:p>
          <a:p>
            <a:pPr>
              <a:lnSpc>
                <a:spcPct val="145000"/>
              </a:lnSpc>
              <a:buFont typeface="Wingdings" panose="05000000000000000000" pitchFamily="2" charset="2"/>
              <a:buNone/>
            </a:pPr>
            <a:r>
              <a:rPr lang="zh-CN" altLang="en-US" sz="2000"/>
              <a:t>      </a:t>
            </a:r>
            <a:r>
              <a:rPr lang="en-US" altLang="zh-CN" sz="2000"/>
              <a:t>A. </a:t>
            </a:r>
            <a:r>
              <a:rPr lang="zh-CN" altLang="en-US" sz="2000"/>
              <a:t>易于分割和合并；</a:t>
            </a:r>
          </a:p>
          <a:p>
            <a:pPr>
              <a:lnSpc>
                <a:spcPct val="145000"/>
              </a:lnSpc>
              <a:buFont typeface="Wingdings" panose="05000000000000000000" pitchFamily="2" charset="2"/>
              <a:buNone/>
            </a:pPr>
            <a:r>
              <a:rPr lang="zh-CN" altLang="en-US" sz="2000"/>
              <a:t>      </a:t>
            </a:r>
            <a:r>
              <a:rPr lang="en-US" altLang="zh-CN" sz="2000"/>
              <a:t>B.</a:t>
            </a:r>
            <a:r>
              <a:rPr lang="zh-CN" altLang="en-US" sz="2000"/>
              <a:t>价值较大，便于携带；</a:t>
            </a:r>
          </a:p>
          <a:p>
            <a:pPr>
              <a:lnSpc>
                <a:spcPct val="145000"/>
              </a:lnSpc>
              <a:buFont typeface="Wingdings" panose="05000000000000000000" pitchFamily="2" charset="2"/>
              <a:buNone/>
            </a:pPr>
            <a:r>
              <a:rPr lang="zh-CN" altLang="en-US" sz="2000"/>
              <a:t>      </a:t>
            </a:r>
            <a:r>
              <a:rPr lang="en-US" altLang="zh-CN" sz="2000"/>
              <a:t>C.</a:t>
            </a:r>
            <a:r>
              <a:rPr lang="zh-CN" altLang="en-US" sz="2000"/>
              <a:t>不易变质，容易保存。</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1669898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a:t>货币的职能：价值尺度</a:t>
            </a:r>
          </a:p>
        </p:txBody>
      </p:sp>
      <p:sp>
        <p:nvSpPr>
          <p:cNvPr id="15363" name="内容占位符 2"/>
          <p:cNvSpPr>
            <a:spLocks noGrp="1"/>
          </p:cNvSpPr>
          <p:nvPr>
            <p:ph idx="1"/>
          </p:nvPr>
        </p:nvSpPr>
        <p:spPr/>
        <p:txBody>
          <a:bodyPr>
            <a:normAutofit/>
          </a:bodyPr>
          <a:lstStyle/>
          <a:p>
            <a:r>
              <a:rPr lang="zh-CN" altLang="en-US" dirty="0"/>
              <a:t>价值尺度：</a:t>
            </a:r>
            <a:r>
              <a:rPr lang="zh-CN" altLang="en-US" dirty="0">
                <a:latin typeface="宋体" panose="02010600030101010101" pitchFamily="2" charset="-122"/>
              </a:rPr>
              <a:t>货币作为衡量其他一切商品的价值大小的尺度的职能。</a:t>
            </a:r>
            <a:endParaRPr lang="en-US" altLang="zh-CN" dirty="0">
              <a:latin typeface="宋体" panose="02010600030101010101" pitchFamily="2" charset="-122"/>
            </a:endParaRPr>
          </a:p>
          <a:p>
            <a:pPr lvl="1"/>
            <a:r>
              <a:rPr lang="zh-CN" altLang="en-US" dirty="0">
                <a:latin typeface="宋体" panose="02010600030101010101" pitchFamily="2" charset="-122"/>
              </a:rPr>
              <a:t>由于商品价值量是由生产商品时无差别的人类劳动的耗费所决定的，因此货币对商品价值的度量实际上间接度量的是劳动耗费量</a:t>
            </a:r>
            <a:endParaRPr lang="en-US" altLang="zh-CN" dirty="0">
              <a:latin typeface="宋体" panose="02010600030101010101" pitchFamily="2" charset="-122"/>
            </a:endParaRPr>
          </a:p>
          <a:p>
            <a:pPr lvl="1"/>
            <a:r>
              <a:rPr lang="zh-CN" altLang="en-US" sz="2000" dirty="0">
                <a:latin typeface="宋体" panose="02010600030101010101" pitchFamily="2" charset="-122"/>
              </a:rPr>
              <a:t>商品价值用货币表示即为价格。</a:t>
            </a:r>
            <a:endParaRPr lang="en-US" altLang="zh-CN" sz="2000" dirty="0">
              <a:latin typeface="宋体" panose="02010600030101010101" pitchFamily="2" charset="-122"/>
            </a:endParaRPr>
          </a:p>
          <a:p>
            <a:pPr lvl="1"/>
            <a:r>
              <a:rPr lang="zh-CN" altLang="en-US" sz="2000" dirty="0">
                <a:latin typeface="宋体" panose="02010600030101010101" pitchFamily="2" charset="-122"/>
              </a:rPr>
              <a:t>货币之所以能够执行价值尺度职能，首先是因为货币本身是商品，它也内涵着无差异人类劳动的耗费。</a:t>
            </a:r>
            <a:endParaRPr lang="en-US" altLang="zh-CN" sz="2000" dirty="0">
              <a:latin typeface="宋体" panose="02010600030101010101" pitchFamily="2" charset="-122"/>
            </a:endParaRPr>
          </a:p>
          <a:p>
            <a:pPr lvl="1"/>
            <a:r>
              <a:rPr lang="zh-CN" altLang="en-US" sz="2000" dirty="0">
                <a:latin typeface="宋体" panose="02010600030101010101" pitchFamily="2" charset="-122"/>
              </a:rPr>
              <a:t>货币在执行价值尺度的职能时，可以是想象的或观念上的货币</a:t>
            </a:r>
            <a:endParaRPr lang="en-US" altLang="zh-CN" sz="2000" dirty="0">
              <a:latin typeface="宋体" panose="02010600030101010101" pitchFamily="2" charset="-122"/>
            </a:endParaRPr>
          </a:p>
          <a:p>
            <a:pPr>
              <a:lnSpc>
                <a:spcPct val="145000"/>
              </a:lnSpc>
              <a:buFont typeface="Wingdings" panose="05000000000000000000" pitchFamily="2" charset="2"/>
              <a:buNone/>
            </a:pPr>
            <a:endParaRPr lang="zh-CN" altLang="en-US" sz="2000" dirty="0">
              <a:latin typeface="宋体" panose="02010600030101010101" pitchFamily="2" charset="-122"/>
            </a:endParaRPr>
          </a:p>
          <a:p>
            <a:pPr lvl="1"/>
            <a:endParaRPr lang="zh-CN" altLang="en-US" dirty="0"/>
          </a:p>
        </p:txBody>
      </p:sp>
      <p:sp>
        <p:nvSpPr>
          <p:cNvPr id="2" name="灯片编号占位符 1"/>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4002306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货币职能：流通手段</a:t>
            </a:r>
          </a:p>
        </p:txBody>
      </p:sp>
      <p:sp>
        <p:nvSpPr>
          <p:cNvPr id="16387" name="内容占位符 2"/>
          <p:cNvSpPr>
            <a:spLocks noGrp="1"/>
          </p:cNvSpPr>
          <p:nvPr>
            <p:ph idx="1"/>
          </p:nvPr>
        </p:nvSpPr>
        <p:spPr/>
        <p:txBody>
          <a:bodyPr>
            <a:normAutofit/>
          </a:bodyPr>
          <a:lstStyle/>
          <a:p>
            <a:r>
              <a:rPr lang="zh-CN" altLang="en-US" dirty="0"/>
              <a:t>流通手段：货币的充当商品交换的媒介的职能。</a:t>
            </a:r>
            <a:endParaRPr lang="en-US" altLang="zh-CN" dirty="0"/>
          </a:p>
          <a:p>
            <a:pPr lvl="1"/>
            <a:r>
              <a:rPr lang="zh-CN" altLang="en-US" dirty="0"/>
              <a:t>在货币出现之后，商品流通的基本公式是：商品</a:t>
            </a:r>
            <a:r>
              <a:rPr lang="en-US" altLang="zh-CN" dirty="0"/>
              <a:t>——</a:t>
            </a:r>
            <a:r>
              <a:rPr lang="zh-CN" altLang="en-US" dirty="0"/>
              <a:t>货币</a:t>
            </a:r>
            <a:r>
              <a:rPr lang="en-US" altLang="zh-CN" dirty="0"/>
              <a:t>——</a:t>
            </a:r>
            <a:r>
              <a:rPr lang="zh-CN" altLang="en-US" dirty="0"/>
              <a:t>商品</a:t>
            </a:r>
            <a:endParaRPr lang="en-US" altLang="zh-CN" dirty="0"/>
          </a:p>
          <a:p>
            <a:pPr lvl="1"/>
            <a:r>
              <a:rPr lang="zh-CN" altLang="en-US" dirty="0"/>
              <a:t>货币流通数量</a:t>
            </a:r>
            <a:r>
              <a:rPr lang="zh-CN" altLang="en-US" dirty="0">
                <a:sym typeface="Wingdings" panose="05000000000000000000" pitchFamily="2" charset="2"/>
              </a:rPr>
              <a:t>（货币数量论：</a:t>
            </a:r>
            <a:r>
              <a:rPr lang="en-US" altLang="zh-CN" dirty="0">
                <a:sym typeface="Wingdings" panose="05000000000000000000" pitchFamily="2" charset="2"/>
              </a:rPr>
              <a:t>MV=PQ    </a:t>
            </a:r>
            <a:r>
              <a:rPr lang="zh-CN" altLang="en-US" dirty="0">
                <a:sym typeface="Wingdings" panose="05000000000000000000" pitchFamily="2" charset="2"/>
              </a:rPr>
              <a:t>于是 </a:t>
            </a:r>
            <a:r>
              <a:rPr lang="en-US" altLang="zh-CN" dirty="0">
                <a:sym typeface="Wingdings" panose="05000000000000000000" pitchFamily="2" charset="2"/>
              </a:rPr>
              <a:t>M=PQ/V</a:t>
            </a:r>
            <a:r>
              <a:rPr lang="zh-CN" altLang="en-US" dirty="0">
                <a:sym typeface="Wingdings" panose="05000000000000000000" pitchFamily="2" charset="2"/>
              </a:rPr>
              <a:t>）</a:t>
            </a:r>
            <a:endParaRPr lang="en-US" altLang="zh-CN" dirty="0">
              <a:sym typeface="Wingdings" panose="05000000000000000000" pitchFamily="2" charset="2"/>
            </a:endParaRPr>
          </a:p>
          <a:p>
            <a:pPr lvl="2"/>
            <a:r>
              <a:rPr lang="zh-CN" altLang="en-US" dirty="0">
                <a:sym typeface="Wingdings" panose="05000000000000000000" pitchFamily="2" charset="2"/>
              </a:rPr>
              <a:t>货币数量取决于三个因素</a:t>
            </a:r>
            <a:endParaRPr lang="en-US" altLang="zh-CN" dirty="0">
              <a:sym typeface="Wingdings" panose="05000000000000000000" pitchFamily="2" charset="2"/>
            </a:endParaRPr>
          </a:p>
          <a:p>
            <a:pPr lvl="3"/>
            <a:r>
              <a:rPr lang="zh-CN" altLang="en-US" dirty="0">
                <a:sym typeface="Wingdings" panose="05000000000000000000" pitchFamily="2" charset="2"/>
              </a:rPr>
              <a:t>商品数量</a:t>
            </a:r>
            <a:endParaRPr lang="en-US" altLang="zh-CN" dirty="0">
              <a:sym typeface="Wingdings" panose="05000000000000000000" pitchFamily="2" charset="2"/>
            </a:endParaRPr>
          </a:p>
          <a:p>
            <a:pPr lvl="3"/>
            <a:r>
              <a:rPr lang="zh-CN" altLang="en-US" dirty="0">
                <a:sym typeface="Wingdings" panose="05000000000000000000" pitchFamily="2" charset="2"/>
              </a:rPr>
              <a:t>商品价格</a:t>
            </a:r>
            <a:endParaRPr lang="en-US" altLang="zh-CN" dirty="0">
              <a:sym typeface="Wingdings" panose="05000000000000000000" pitchFamily="2" charset="2"/>
            </a:endParaRPr>
          </a:p>
          <a:p>
            <a:pPr lvl="3"/>
            <a:r>
              <a:rPr lang="zh-CN" altLang="en-US" dirty="0">
                <a:sym typeface="Wingdings" panose="05000000000000000000" pitchFamily="2" charset="2"/>
              </a:rPr>
              <a:t>货币流通量</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2503006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dirty="0"/>
              <a:t>货币职能：贮藏手段</a:t>
            </a:r>
          </a:p>
        </p:txBody>
      </p:sp>
      <p:sp>
        <p:nvSpPr>
          <p:cNvPr id="17411" name="内容占位符 2"/>
          <p:cNvSpPr>
            <a:spLocks noGrp="1"/>
          </p:cNvSpPr>
          <p:nvPr>
            <p:ph idx="1"/>
          </p:nvPr>
        </p:nvSpPr>
        <p:spPr/>
        <p:txBody>
          <a:bodyPr>
            <a:normAutofit/>
          </a:bodyPr>
          <a:lstStyle/>
          <a:p>
            <a:r>
              <a:rPr lang="zh-CN" altLang="en-US" dirty="0"/>
              <a:t>贮藏手段：货币作为社会财富的一般代表而被贮藏起来的职能。换言之，只要商品所有者在出卖商品之后不立即使用货币购买需求的其他商品，则货币就会退出流通领域而体现出其贮藏手段的职能。</a:t>
            </a:r>
            <a:endParaRPr lang="en-US" altLang="zh-CN" dirty="0"/>
          </a:p>
          <a:p>
            <a:pPr lvl="1"/>
            <a:r>
              <a:rPr lang="zh-CN" altLang="en-US" dirty="0"/>
              <a:t>金属货币下，货币之所以能行驶贮藏手段职能，是因为金属货币本身具有价值。货币行使贮藏手段职能时，起着调节流通中货币量的“蓄水池”作用。</a:t>
            </a:r>
            <a:endParaRPr lang="en-US" altLang="zh-CN" dirty="0"/>
          </a:p>
          <a:p>
            <a:pPr lvl="1"/>
            <a:r>
              <a:rPr lang="zh-CN" altLang="en-US" dirty="0"/>
              <a:t>纸币制度下，执行部分贮藏手段职能</a:t>
            </a:r>
          </a:p>
          <a:p>
            <a:pPr lvl="1"/>
            <a:endParaRPr lang="en-US" altLang="zh-CN" dirty="0"/>
          </a:p>
        </p:txBody>
      </p:sp>
      <p:sp>
        <p:nvSpPr>
          <p:cNvPr id="2" name="灯片编号占位符 1"/>
          <p:cNvSpPr>
            <a:spLocks noGrp="1"/>
          </p:cNvSpPr>
          <p:nvPr>
            <p:ph type="sldNum" sz="quarter" idx="12"/>
          </p:nvPr>
        </p:nvSpPr>
        <p:spPr/>
        <p:txBody>
          <a:bodyPr/>
          <a:lstStyle/>
          <a:p>
            <a:fld id="{10F2143F-0457-4E80-A290-5DB1806D65E5}" type="slidenum">
              <a:rPr lang="zh-CN" altLang="en-US" smtClean="0"/>
              <a:t>13</a:t>
            </a:fld>
            <a:endParaRPr lang="zh-CN" altLang="en-US"/>
          </a:p>
        </p:txBody>
      </p:sp>
    </p:spTree>
    <p:extLst>
      <p:ext uri="{BB962C8B-B14F-4D97-AF65-F5344CB8AC3E}">
        <p14:creationId xmlns:p14="http://schemas.microsoft.com/office/powerpoint/2010/main" val="2888937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dirty="0"/>
              <a:t>货币的职能：支付手段</a:t>
            </a:r>
          </a:p>
        </p:txBody>
      </p:sp>
      <p:sp>
        <p:nvSpPr>
          <p:cNvPr id="19459" name="内容占位符 2"/>
          <p:cNvSpPr>
            <a:spLocks noGrp="1"/>
          </p:cNvSpPr>
          <p:nvPr>
            <p:ph idx="1"/>
          </p:nvPr>
        </p:nvSpPr>
        <p:spPr/>
        <p:txBody>
          <a:bodyPr>
            <a:normAutofit/>
          </a:bodyPr>
          <a:lstStyle/>
          <a:p>
            <a:r>
              <a:rPr lang="zh-CN" altLang="en-US" dirty="0"/>
              <a:t>支付手段：货币用来清偿债务或支付税赋、租金、利息、工资等的职能。</a:t>
            </a:r>
            <a:endParaRPr lang="en-US" altLang="zh-CN" dirty="0"/>
          </a:p>
          <a:p>
            <a:pPr lvl="1"/>
            <a:r>
              <a:rPr lang="zh-CN" altLang="en-US" dirty="0"/>
              <a:t>由商品的赊购赊销引起的：生产时间长短不同、季节性差异、销售时间差异</a:t>
            </a:r>
            <a:endParaRPr lang="en-US" altLang="zh-CN" dirty="0"/>
          </a:p>
          <a:p>
            <a:pPr lvl="1"/>
            <a:r>
              <a:rPr lang="zh-CN" altLang="en-US" dirty="0"/>
              <a:t>当货币用于偿还赊购商品时，商品的让渡与货款的支付在时间上已经分开，货币执行支付手段职能</a:t>
            </a:r>
            <a:r>
              <a:rPr lang="zh-CN" altLang="en-US" sz="1600" dirty="0"/>
              <a:t>      </a:t>
            </a:r>
            <a:endParaRPr lang="en-US" altLang="zh-CN" dirty="0"/>
          </a:p>
        </p:txBody>
      </p:sp>
    </p:spTree>
    <p:extLst>
      <p:ext uri="{BB962C8B-B14F-4D97-AF65-F5344CB8AC3E}">
        <p14:creationId xmlns:p14="http://schemas.microsoft.com/office/powerpoint/2010/main" val="2718014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货币职能：支付手段</a:t>
            </a:r>
          </a:p>
        </p:txBody>
      </p:sp>
      <p:sp>
        <p:nvSpPr>
          <p:cNvPr id="3" name="内容占位符 2"/>
          <p:cNvSpPr>
            <a:spLocks noGrp="1"/>
          </p:cNvSpPr>
          <p:nvPr>
            <p:ph idx="1"/>
          </p:nvPr>
        </p:nvSpPr>
        <p:spPr/>
        <p:txBody>
          <a:bodyPr/>
          <a:lstStyle/>
          <a:p>
            <a:r>
              <a:rPr lang="zh-CN" altLang="en-US" dirty="0"/>
              <a:t>作为支付手段职能必须满足的条件</a:t>
            </a:r>
            <a:endParaRPr lang="en-US" altLang="zh-CN" dirty="0"/>
          </a:p>
          <a:p>
            <a:pPr lvl="1"/>
            <a:r>
              <a:rPr lang="zh-CN" altLang="en-US" dirty="0"/>
              <a:t>货币的购买力不降低</a:t>
            </a:r>
            <a:endParaRPr lang="en-US" altLang="zh-CN" dirty="0"/>
          </a:p>
          <a:p>
            <a:pPr lvl="1"/>
            <a:r>
              <a:rPr lang="zh-CN" altLang="en-US" dirty="0"/>
              <a:t>买者应支付一定数量的利息</a:t>
            </a:r>
            <a:endParaRPr lang="en-US" altLang="zh-CN" dirty="0"/>
          </a:p>
          <a:p>
            <a:pPr lvl="1"/>
            <a:r>
              <a:rPr lang="zh-CN" altLang="en-US" dirty="0"/>
              <a:t>确保能到期偿还债务</a:t>
            </a:r>
            <a:endParaRPr lang="en-US" altLang="zh-CN" dirty="0"/>
          </a:p>
          <a:p>
            <a:r>
              <a:rPr lang="zh-CN" altLang="en-US" dirty="0"/>
              <a:t>货币支付职能的利弊</a:t>
            </a:r>
            <a:endParaRPr lang="en-US" altLang="zh-CN" dirty="0"/>
          </a:p>
          <a:p>
            <a:pPr lvl="1"/>
            <a:r>
              <a:rPr lang="zh-CN" altLang="en-US" dirty="0"/>
              <a:t>促进商品经济发展，突破了货币数量的局限性</a:t>
            </a:r>
            <a:endParaRPr lang="en-US" altLang="zh-CN" dirty="0"/>
          </a:p>
          <a:p>
            <a:pPr lvl="1"/>
            <a:r>
              <a:rPr lang="zh-CN" altLang="en-US" dirty="0"/>
              <a:t>扩大了商品经济的内在矛盾，债权债务链条变得越来越长</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15</a:t>
            </a:fld>
            <a:endParaRPr lang="zh-CN" altLang="en-US"/>
          </a:p>
        </p:txBody>
      </p:sp>
    </p:spTree>
    <p:extLst>
      <p:ext uri="{BB962C8B-B14F-4D97-AF65-F5344CB8AC3E}">
        <p14:creationId xmlns:p14="http://schemas.microsoft.com/office/powerpoint/2010/main" val="3369778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dirty="0"/>
              <a:t>货币职能：世界货币</a:t>
            </a:r>
          </a:p>
        </p:txBody>
      </p:sp>
      <p:sp>
        <p:nvSpPr>
          <p:cNvPr id="20483" name="内容占位符 2"/>
          <p:cNvSpPr>
            <a:spLocks noGrp="1"/>
          </p:cNvSpPr>
          <p:nvPr>
            <p:ph idx="1"/>
          </p:nvPr>
        </p:nvSpPr>
        <p:spPr/>
        <p:txBody>
          <a:bodyPr>
            <a:normAutofit/>
          </a:bodyPr>
          <a:lstStyle/>
          <a:p>
            <a:r>
              <a:rPr lang="zh-CN" altLang="en-US" dirty="0"/>
              <a:t>世界货币：</a:t>
            </a:r>
            <a:r>
              <a:rPr lang="zh-CN" altLang="en-US" dirty="0">
                <a:latin typeface="宋体" panose="02010600030101010101" pitchFamily="2" charset="-122"/>
              </a:rPr>
              <a:t>货币在世界市场充当一般等价物的职能</a:t>
            </a:r>
            <a:endParaRPr lang="en-US" altLang="zh-CN" dirty="0">
              <a:latin typeface="宋体" panose="02010600030101010101" pitchFamily="2" charset="-122"/>
            </a:endParaRPr>
          </a:p>
          <a:p>
            <a:pPr lvl="1"/>
            <a:r>
              <a:rPr lang="zh-CN" altLang="en-US" dirty="0">
                <a:latin typeface="宋体" panose="02010600030101010101" pitchFamily="2" charset="-122"/>
              </a:rPr>
              <a:t>作为国际支付手段，用来平衡国际贸易差额</a:t>
            </a:r>
            <a:endParaRPr lang="en-US" altLang="zh-CN" dirty="0">
              <a:latin typeface="宋体" panose="02010600030101010101" pitchFamily="2" charset="-122"/>
            </a:endParaRPr>
          </a:p>
          <a:p>
            <a:pPr lvl="1"/>
            <a:r>
              <a:rPr lang="zh-CN" altLang="en-US" dirty="0">
                <a:latin typeface="宋体" panose="02010600030101010101" pitchFamily="2" charset="-122"/>
              </a:rPr>
              <a:t>作为购买手段，用于从国外购买商品</a:t>
            </a:r>
            <a:endParaRPr lang="en-US" altLang="zh-CN" dirty="0">
              <a:latin typeface="宋体" panose="02010600030101010101" pitchFamily="2" charset="-122"/>
            </a:endParaRPr>
          </a:p>
          <a:p>
            <a:pPr lvl="1"/>
            <a:r>
              <a:rPr lang="zh-CN" altLang="en-US" dirty="0">
                <a:latin typeface="宋体" panose="02010600030101010101" pitchFamily="2" charset="-122"/>
              </a:rPr>
              <a:t>作为社会财富的代表，在国与国之间转移：资金援助、借款、战争赔款等</a:t>
            </a:r>
            <a:endParaRPr lang="en-US" altLang="zh-CN" dirty="0">
              <a:latin typeface="宋体" panose="02010600030101010101" pitchFamily="2" charset="-122"/>
            </a:endParaRPr>
          </a:p>
          <a:p>
            <a:r>
              <a:rPr lang="zh-CN" altLang="en-US" dirty="0">
                <a:latin typeface="宋体" panose="02010600030101010101" pitchFamily="2" charset="-122"/>
              </a:rPr>
              <a:t>货币充当世界货币职能的条件：不同国家对货币具有足够的信赖程度，即币值相对稳定。</a:t>
            </a:r>
            <a:endParaRPr lang="en-US" altLang="zh-CN" dirty="0">
              <a:latin typeface="宋体" panose="02010600030101010101" pitchFamily="2" charset="-122"/>
            </a:endParaRPr>
          </a:p>
          <a:p>
            <a:pPr lvl="1"/>
            <a:r>
              <a:rPr lang="zh-CN" altLang="en-US" sz="2000" dirty="0">
                <a:latin typeface="宋体" panose="02010600030101010101" pitchFamily="2" charset="-122"/>
              </a:rPr>
              <a:t>充当世界货币的货币形式：贵金属；美元、欧元等硬通货</a:t>
            </a:r>
          </a:p>
          <a:p>
            <a:pPr lvl="1"/>
            <a:endParaRPr lang="zh-CN" altLang="en-US" dirty="0"/>
          </a:p>
        </p:txBody>
      </p:sp>
    </p:spTree>
    <p:extLst>
      <p:ext uri="{BB962C8B-B14F-4D97-AF65-F5344CB8AC3E}">
        <p14:creationId xmlns:p14="http://schemas.microsoft.com/office/powerpoint/2010/main" val="3817330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第二节 货币的形式</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17</a:t>
            </a:fld>
            <a:endParaRPr lang="zh-CN" altLang="en-US"/>
          </a:p>
        </p:txBody>
      </p:sp>
    </p:spTree>
    <p:extLst>
      <p:ext uri="{BB962C8B-B14F-4D97-AF65-F5344CB8AC3E}">
        <p14:creationId xmlns:p14="http://schemas.microsoft.com/office/powerpoint/2010/main" val="1302108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rrowheads="1"/>
          </p:cNvSpPr>
          <p:nvPr>
            <p:ph type="title"/>
          </p:nvPr>
        </p:nvSpPr>
        <p:spPr/>
        <p:txBody>
          <a:bodyPr/>
          <a:lstStyle/>
          <a:p>
            <a:r>
              <a:rPr lang="zh-CN" altLang="en-US" dirty="0"/>
              <a:t>货币的形式</a:t>
            </a:r>
          </a:p>
        </p:txBody>
      </p:sp>
      <p:sp>
        <p:nvSpPr>
          <p:cNvPr id="21507" name="Rectangle 3"/>
          <p:cNvSpPr>
            <a:spLocks noGrp="1" noChangeArrowheads="1"/>
          </p:cNvSpPr>
          <p:nvPr>
            <p:ph type="body" idx="1"/>
          </p:nvPr>
        </p:nvSpPr>
        <p:spPr/>
        <p:txBody>
          <a:bodyPr/>
          <a:lstStyle/>
          <a:p>
            <a:pPr>
              <a:buFont typeface="Wingdings" panose="05000000000000000000" pitchFamily="2" charset="2"/>
              <a:buNone/>
            </a:pPr>
            <a:r>
              <a:rPr lang="en-US" altLang="zh-CN" b="1" dirty="0"/>
              <a:t> </a:t>
            </a:r>
            <a:endParaRPr lang="zh-CN" altLang="en-US" b="1" u="sng" dirty="0"/>
          </a:p>
          <a:p>
            <a:pPr>
              <a:buFont typeface="Wingdings" panose="05000000000000000000" pitchFamily="2" charset="2"/>
              <a:buNone/>
            </a:pPr>
            <a:r>
              <a:rPr lang="zh-CN" altLang="en-US" b="1" u="sng" dirty="0"/>
              <a:t>      </a:t>
            </a:r>
          </a:p>
        </p:txBody>
      </p:sp>
      <p:sp>
        <p:nvSpPr>
          <p:cNvPr id="21508" name="Rectangle 4"/>
          <p:cNvSpPr>
            <a:spLocks noChangeArrowheads="1"/>
          </p:cNvSpPr>
          <p:nvPr/>
        </p:nvSpPr>
        <p:spPr bwMode="auto">
          <a:xfrm>
            <a:off x="1042988" y="2708275"/>
            <a:ext cx="720725" cy="10080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金属</a:t>
            </a:r>
            <a:endParaRPr lang="en-US" altLang="zh-CN" dirty="0"/>
          </a:p>
          <a:p>
            <a:pPr eaLnBrk="1" hangingPunct="1"/>
            <a:r>
              <a:rPr lang="zh-CN" altLang="en-US" dirty="0"/>
              <a:t>货币</a:t>
            </a:r>
          </a:p>
        </p:txBody>
      </p:sp>
      <p:sp>
        <p:nvSpPr>
          <p:cNvPr id="21509" name="Line 5"/>
          <p:cNvSpPr>
            <a:spLocks noChangeShapeType="1"/>
          </p:cNvSpPr>
          <p:nvPr/>
        </p:nvSpPr>
        <p:spPr bwMode="auto">
          <a:xfrm>
            <a:off x="1763713" y="3213100"/>
            <a:ext cx="10080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0" name="Rectangle 6"/>
          <p:cNvSpPr>
            <a:spLocks noChangeArrowheads="1"/>
          </p:cNvSpPr>
          <p:nvPr/>
        </p:nvSpPr>
        <p:spPr bwMode="auto">
          <a:xfrm>
            <a:off x="2771775" y="2781300"/>
            <a:ext cx="863600" cy="7921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铸币</a:t>
            </a:r>
          </a:p>
        </p:txBody>
      </p:sp>
      <p:sp>
        <p:nvSpPr>
          <p:cNvPr id="21511" name="Line 7"/>
          <p:cNvSpPr>
            <a:spLocks noChangeShapeType="1"/>
          </p:cNvSpPr>
          <p:nvPr/>
        </p:nvSpPr>
        <p:spPr bwMode="auto">
          <a:xfrm>
            <a:off x="3635375" y="2997200"/>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2" name="Rectangle 8"/>
          <p:cNvSpPr>
            <a:spLocks noChangeArrowheads="1"/>
          </p:cNvSpPr>
          <p:nvPr/>
        </p:nvSpPr>
        <p:spPr bwMode="auto">
          <a:xfrm>
            <a:off x="4140200" y="2565400"/>
            <a:ext cx="3744913" cy="57626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按一定的成色和一定的重量铸造成</a:t>
            </a:r>
          </a:p>
          <a:p>
            <a:pPr eaLnBrk="1" hangingPunct="1"/>
            <a:r>
              <a:rPr lang="zh-CN" altLang="en-US"/>
              <a:t>某种形状的金属块</a:t>
            </a:r>
          </a:p>
        </p:txBody>
      </p:sp>
      <p:sp>
        <p:nvSpPr>
          <p:cNvPr id="21513" name="Line 9"/>
          <p:cNvSpPr>
            <a:spLocks noChangeShapeType="1"/>
          </p:cNvSpPr>
          <p:nvPr/>
        </p:nvSpPr>
        <p:spPr bwMode="auto">
          <a:xfrm flipV="1">
            <a:off x="2268538" y="2997200"/>
            <a:ext cx="0" cy="2159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4" name="Rectangle 10"/>
          <p:cNvSpPr>
            <a:spLocks noChangeArrowheads="1"/>
          </p:cNvSpPr>
          <p:nvPr/>
        </p:nvSpPr>
        <p:spPr bwMode="auto">
          <a:xfrm>
            <a:off x="1908175" y="2205038"/>
            <a:ext cx="719138" cy="7921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计量和</a:t>
            </a:r>
          </a:p>
          <a:p>
            <a:pPr eaLnBrk="1" hangingPunct="1"/>
            <a:r>
              <a:rPr lang="zh-CN" altLang="en-US" sz="1600"/>
              <a:t>检验</a:t>
            </a:r>
          </a:p>
          <a:p>
            <a:pPr eaLnBrk="1" hangingPunct="1"/>
            <a:r>
              <a:rPr lang="zh-CN" altLang="en-US" sz="1600"/>
              <a:t>的困难</a:t>
            </a:r>
          </a:p>
        </p:txBody>
      </p:sp>
      <p:sp>
        <p:nvSpPr>
          <p:cNvPr id="21515" name="Line 11"/>
          <p:cNvSpPr>
            <a:spLocks noChangeShapeType="1"/>
          </p:cNvSpPr>
          <p:nvPr/>
        </p:nvSpPr>
        <p:spPr bwMode="auto">
          <a:xfrm>
            <a:off x="3635375" y="3429000"/>
            <a:ext cx="33845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6" name="Line 12"/>
          <p:cNvSpPr>
            <a:spLocks noChangeShapeType="1"/>
          </p:cNvSpPr>
          <p:nvPr/>
        </p:nvSpPr>
        <p:spPr bwMode="auto">
          <a:xfrm>
            <a:off x="7019925" y="3429000"/>
            <a:ext cx="0"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7" name="Rectangle 13"/>
          <p:cNvSpPr>
            <a:spLocks noChangeArrowheads="1"/>
          </p:cNvSpPr>
          <p:nvPr/>
        </p:nvSpPr>
        <p:spPr bwMode="auto">
          <a:xfrm>
            <a:off x="6732588" y="3933825"/>
            <a:ext cx="719137" cy="1295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t>纸</a:t>
            </a:r>
            <a:br>
              <a:rPr lang="zh-CN" altLang="en-US"/>
            </a:br>
            <a:r>
              <a:rPr lang="zh-CN" altLang="en-US"/>
              <a:t>币</a:t>
            </a:r>
          </a:p>
        </p:txBody>
      </p:sp>
      <p:sp>
        <p:nvSpPr>
          <p:cNvPr id="21518" name="Line 14"/>
          <p:cNvSpPr>
            <a:spLocks noChangeShapeType="1"/>
          </p:cNvSpPr>
          <p:nvPr/>
        </p:nvSpPr>
        <p:spPr bwMode="auto">
          <a:xfrm flipH="1">
            <a:off x="5795963" y="5013325"/>
            <a:ext cx="9350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9" name="Rectangle 15"/>
          <p:cNvSpPr>
            <a:spLocks noChangeArrowheads="1"/>
          </p:cNvSpPr>
          <p:nvPr/>
        </p:nvSpPr>
        <p:spPr bwMode="auto">
          <a:xfrm>
            <a:off x="2411413" y="4724400"/>
            <a:ext cx="3384550" cy="649288"/>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a:t>国家发行的强制使用的价值符号，它</a:t>
            </a:r>
          </a:p>
          <a:p>
            <a:pPr eaLnBrk="1" hangingPunct="1"/>
            <a:r>
              <a:rPr lang="zh-CN" altLang="en-US" sz="1600"/>
              <a:t>按照其替代的金银执行流通手段职能</a:t>
            </a:r>
          </a:p>
        </p:txBody>
      </p:sp>
      <p:sp>
        <p:nvSpPr>
          <p:cNvPr id="21520" name="Line 17"/>
          <p:cNvSpPr>
            <a:spLocks noChangeShapeType="1"/>
          </p:cNvSpPr>
          <p:nvPr/>
        </p:nvSpPr>
        <p:spPr bwMode="auto">
          <a:xfrm flipH="1">
            <a:off x="1763713" y="4508500"/>
            <a:ext cx="49688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1" name="Rectangle 18"/>
          <p:cNvSpPr>
            <a:spLocks noChangeArrowheads="1"/>
          </p:cNvSpPr>
          <p:nvPr/>
        </p:nvSpPr>
        <p:spPr bwMode="auto">
          <a:xfrm>
            <a:off x="971550" y="4221163"/>
            <a:ext cx="792163" cy="1655762"/>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en-US" altLang="zh-CN" sz="1600"/>
          </a:p>
          <a:p>
            <a:pPr eaLnBrk="1" hangingPunct="1"/>
            <a:r>
              <a:rPr lang="zh-CN" altLang="en-US" sz="1600"/>
              <a:t>脱媒现</a:t>
            </a:r>
          </a:p>
          <a:p>
            <a:pPr eaLnBrk="1" hangingPunct="1"/>
            <a:r>
              <a:rPr lang="zh-CN" altLang="en-US" sz="1600"/>
              <a:t>象；电</a:t>
            </a:r>
          </a:p>
          <a:p>
            <a:pPr eaLnBrk="1" hangingPunct="1"/>
            <a:r>
              <a:rPr lang="zh-CN" altLang="en-US" sz="1600"/>
              <a:t>子货币</a:t>
            </a:r>
          </a:p>
          <a:p>
            <a:pPr eaLnBrk="1" hangingPunct="1"/>
            <a:r>
              <a:rPr lang="zh-CN" altLang="en-US" sz="1600"/>
              <a:t>及其他</a:t>
            </a:r>
          </a:p>
          <a:p>
            <a:pPr eaLnBrk="1" hangingPunct="1"/>
            <a:r>
              <a:rPr lang="zh-CN" altLang="en-US" sz="1600"/>
              <a:t>新型货</a:t>
            </a:r>
          </a:p>
          <a:p>
            <a:pPr eaLnBrk="1" hangingPunct="1"/>
            <a:r>
              <a:rPr lang="zh-CN" altLang="en-US" sz="1600"/>
              <a:t>币</a:t>
            </a:r>
          </a:p>
          <a:p>
            <a:pPr eaLnBrk="1" hangingPunct="1"/>
            <a:endParaRPr lang="en-US" altLang="zh-CN"/>
          </a:p>
        </p:txBody>
      </p:sp>
    </p:spTree>
    <p:extLst>
      <p:ext uri="{BB962C8B-B14F-4D97-AF65-F5344CB8AC3E}">
        <p14:creationId xmlns:p14="http://schemas.microsoft.com/office/powerpoint/2010/main" val="3127952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货币的形式</a:t>
            </a:r>
          </a:p>
        </p:txBody>
      </p:sp>
      <p:sp>
        <p:nvSpPr>
          <p:cNvPr id="3" name="内容占位符 2"/>
          <p:cNvSpPr>
            <a:spLocks noGrp="1"/>
          </p:cNvSpPr>
          <p:nvPr>
            <p:ph idx="1"/>
          </p:nvPr>
        </p:nvSpPr>
        <p:spPr/>
        <p:txBody>
          <a:bodyPr/>
          <a:lstStyle/>
          <a:p>
            <a:r>
              <a:rPr lang="zh-CN" altLang="en-US" dirty="0"/>
              <a:t>货币的形式经历了由金属货币向纸币、再向信用货币的演化过程</a:t>
            </a:r>
            <a:endParaRPr lang="en-US" altLang="zh-CN" dirty="0"/>
          </a:p>
          <a:p>
            <a:pPr lvl="1"/>
            <a:r>
              <a:rPr lang="zh-CN" altLang="en-US" dirty="0"/>
              <a:t>金属货币</a:t>
            </a:r>
            <a:endParaRPr lang="en-US" altLang="zh-CN" dirty="0"/>
          </a:p>
          <a:p>
            <a:pPr lvl="2"/>
            <a:r>
              <a:rPr lang="zh-CN" altLang="en-US" dirty="0"/>
              <a:t>贵金属（黄金或白银）货币：需要鉴定</a:t>
            </a:r>
            <a:endParaRPr lang="en-US" altLang="zh-CN" dirty="0"/>
          </a:p>
          <a:p>
            <a:pPr lvl="1"/>
            <a:r>
              <a:rPr lang="zh-CN" altLang="en-US" dirty="0"/>
              <a:t>铸币</a:t>
            </a:r>
            <a:endParaRPr lang="en-US" altLang="zh-CN" dirty="0"/>
          </a:p>
          <a:p>
            <a:pPr lvl="2"/>
            <a:r>
              <a:rPr lang="zh-CN" altLang="en-US" dirty="0"/>
              <a:t>私人铸币：商人信誉担保某种货币的重量和成色</a:t>
            </a:r>
            <a:endParaRPr lang="en-US" altLang="zh-CN" dirty="0"/>
          </a:p>
          <a:p>
            <a:pPr lvl="2"/>
            <a:r>
              <a:rPr lang="zh-CN" altLang="en-US" dirty="0"/>
              <a:t>国家铸币：由国家信用为担保</a:t>
            </a:r>
            <a:endParaRPr lang="en-US" altLang="zh-CN" dirty="0"/>
          </a:p>
          <a:p>
            <a:pPr lvl="2"/>
            <a:r>
              <a:rPr lang="zh-CN" altLang="en-US" dirty="0"/>
              <a:t>铸币流通阶段，出现辅币</a:t>
            </a:r>
            <a:endParaRPr lang="en-US" altLang="zh-CN" dirty="0"/>
          </a:p>
          <a:p>
            <a:pPr lvl="2"/>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19</a:t>
            </a:fld>
            <a:endParaRPr lang="zh-CN" altLang="en-US"/>
          </a:p>
        </p:txBody>
      </p:sp>
    </p:spTree>
    <p:extLst>
      <p:ext uri="{BB962C8B-B14F-4D97-AF65-F5344CB8AC3E}">
        <p14:creationId xmlns:p14="http://schemas.microsoft.com/office/powerpoint/2010/main" val="315672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p:txBody>
          <a:bodyPr/>
          <a:lstStyle/>
          <a:p>
            <a:r>
              <a:rPr lang="zh-CN" altLang="en-US" dirty="0"/>
              <a:t>古代的货币</a:t>
            </a:r>
          </a:p>
        </p:txBody>
      </p:sp>
      <p:sp>
        <p:nvSpPr>
          <p:cNvPr id="12291" name="Rectangle 3"/>
          <p:cNvSpPr>
            <a:spLocks noGrp="1" noChangeArrowheads="1"/>
          </p:cNvSpPr>
          <p:nvPr>
            <p:ph type="body" idx="1"/>
          </p:nvPr>
        </p:nvSpPr>
        <p:spPr/>
        <p:txBody>
          <a:bodyPr/>
          <a:lstStyle/>
          <a:p>
            <a:pPr>
              <a:buFont typeface="Wingdings" panose="05000000000000000000" pitchFamily="2" charset="2"/>
              <a:buNone/>
            </a:pPr>
            <a:r>
              <a:rPr lang="en-US" altLang="zh-CN"/>
              <a:t> </a:t>
            </a:r>
          </a:p>
        </p:txBody>
      </p:sp>
      <p:pic>
        <p:nvPicPr>
          <p:cNvPr id="12292" name="Picture 4" descr="布泉和货布"/>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484313"/>
            <a:ext cx="2881312"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5" descr="大清宝钞"/>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557338"/>
            <a:ext cx="2305050"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6" descr="河南扶沟古城出工的银布"/>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860800"/>
            <a:ext cx="3024187"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695" name="Rectangle 7"/>
          <p:cNvSpPr>
            <a:spLocks noRot="1" noChangeArrowheads="1"/>
          </p:cNvSpPr>
          <p:nvPr/>
        </p:nvSpPr>
        <p:spPr bwMode="auto">
          <a:xfrm>
            <a:off x="1476375" y="3213100"/>
            <a:ext cx="2552700" cy="6477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ea typeface="华文新魏" pitchFamily="2" charset="-122"/>
              </a:rPr>
              <a:t>      </a:t>
            </a:r>
            <a:r>
              <a:rPr lang="zh-CN" altLang="en-US" sz="2000">
                <a:effectLst>
                  <a:outerShdw blurRad="38100" dist="38100" dir="2700000" algn="tl">
                    <a:srgbClr val="000000"/>
                  </a:outerShdw>
                </a:effectLst>
                <a:ea typeface="华文新魏" pitchFamily="2" charset="-122"/>
              </a:rPr>
              <a:t>新莽布泉和货币</a:t>
            </a:r>
          </a:p>
        </p:txBody>
      </p:sp>
      <p:sp>
        <p:nvSpPr>
          <p:cNvPr id="242696" name="Rectangle 8"/>
          <p:cNvSpPr>
            <a:spLocks noChangeArrowheads="1"/>
          </p:cNvSpPr>
          <p:nvPr/>
        </p:nvSpPr>
        <p:spPr bwMode="auto">
          <a:xfrm>
            <a:off x="684213" y="5734050"/>
            <a:ext cx="3886200" cy="56515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ea typeface="华文新魏" pitchFamily="2" charset="-122"/>
              </a:rPr>
              <a:t>    </a:t>
            </a:r>
            <a:r>
              <a:rPr lang="zh-CN" altLang="en-US" sz="2000">
                <a:effectLst>
                  <a:outerShdw blurRad="38100" dist="38100" dir="2700000" algn="tl">
                    <a:srgbClr val="000000"/>
                  </a:outerShdw>
                </a:effectLst>
                <a:ea typeface="华文新魏" pitchFamily="2" charset="-122"/>
              </a:rPr>
              <a:t>河南扶沟古城出土的银币</a:t>
            </a:r>
          </a:p>
        </p:txBody>
      </p:sp>
      <p:sp>
        <p:nvSpPr>
          <p:cNvPr id="242697" name="Rectangle 9"/>
          <p:cNvSpPr>
            <a:spLocks noChangeArrowheads="1"/>
          </p:cNvSpPr>
          <p:nvPr/>
        </p:nvSpPr>
        <p:spPr bwMode="auto">
          <a:xfrm>
            <a:off x="5867400" y="5589588"/>
            <a:ext cx="1801813" cy="287337"/>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ea typeface="华文新魏" pitchFamily="2" charset="-122"/>
              </a:rPr>
              <a:t>     </a:t>
            </a:r>
            <a:r>
              <a:rPr lang="zh-CN" altLang="en-US" sz="2000">
                <a:effectLst>
                  <a:outerShdw blurRad="38100" dist="38100" dir="2700000" algn="tl">
                    <a:srgbClr val="000000"/>
                  </a:outerShdw>
                </a:effectLst>
                <a:ea typeface="华文新魏" pitchFamily="2" charset="-122"/>
              </a:rPr>
              <a:t>大清宝钞</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20</a:t>
            </a:fld>
            <a:endParaRPr lang="zh-CN" altLang="en-US"/>
          </a:p>
        </p:txBody>
      </p:sp>
    </p:spTree>
    <p:extLst>
      <p:ext uri="{BB962C8B-B14F-4D97-AF65-F5344CB8AC3E}">
        <p14:creationId xmlns:p14="http://schemas.microsoft.com/office/powerpoint/2010/main" val="236414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p:txBody>
          <a:bodyPr/>
          <a:lstStyle/>
          <a:p>
            <a:r>
              <a:rPr lang="zh-CN" altLang="en-US" dirty="0"/>
              <a:t>人民币</a:t>
            </a:r>
          </a:p>
        </p:txBody>
      </p:sp>
      <p:sp>
        <p:nvSpPr>
          <p:cNvPr id="13315" name="Rectangle 3"/>
          <p:cNvSpPr>
            <a:spLocks noGrp="1" noChangeArrowheads="1"/>
          </p:cNvSpPr>
          <p:nvPr>
            <p:ph type="body" idx="1"/>
          </p:nvPr>
        </p:nvSpPr>
        <p:spPr/>
        <p:txBody>
          <a:bodyPr/>
          <a:lstStyle/>
          <a:p>
            <a:pPr>
              <a:buFont typeface="Wingdings" panose="05000000000000000000" pitchFamily="2" charset="2"/>
              <a:buNone/>
            </a:pPr>
            <a:r>
              <a:rPr lang="en-US" altLang="zh-CN"/>
              <a:t> </a:t>
            </a:r>
          </a:p>
        </p:txBody>
      </p:sp>
      <p:pic>
        <p:nvPicPr>
          <p:cNvPr id="13316" name="Picture 4" descr="人民币1套"/>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650" y="1700213"/>
            <a:ext cx="223202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5" descr="人民币2套"/>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938" y="1700213"/>
            <a:ext cx="22320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6" descr="人民币3套"/>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00788" y="1700213"/>
            <a:ext cx="2232025"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7" descr="人民币4套"/>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4076700"/>
            <a:ext cx="2592388" cy="118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0" name="Picture 8" descr="人民币5套"/>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2725" y="4076700"/>
            <a:ext cx="245110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721" name="Rectangle 9"/>
          <p:cNvSpPr>
            <a:spLocks noRot="1" noChangeArrowheads="1"/>
          </p:cNvSpPr>
          <p:nvPr/>
        </p:nvSpPr>
        <p:spPr bwMode="auto">
          <a:xfrm>
            <a:off x="827088" y="2852738"/>
            <a:ext cx="1879600" cy="581025"/>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latin typeface="华文新魏" pitchFamily="2" charset="-122"/>
                <a:ea typeface="华文新魏" pitchFamily="2" charset="-122"/>
              </a:rPr>
              <a:t>      </a:t>
            </a:r>
            <a:r>
              <a:rPr lang="zh-CN" altLang="en-US" sz="2000">
                <a:effectLst>
                  <a:outerShdw blurRad="38100" dist="38100" dir="2700000" algn="tl">
                    <a:srgbClr val="000000"/>
                  </a:outerShdw>
                </a:effectLst>
                <a:latin typeface="华文新魏" pitchFamily="2" charset="-122"/>
                <a:ea typeface="华文新魏" pitchFamily="2" charset="-122"/>
              </a:rPr>
              <a:t>人民币</a:t>
            </a:r>
            <a:r>
              <a:rPr lang="en-US" altLang="zh-CN" sz="2000">
                <a:effectLst>
                  <a:outerShdw blurRad="38100" dist="38100" dir="2700000" algn="tl">
                    <a:srgbClr val="000000"/>
                  </a:outerShdw>
                </a:effectLst>
                <a:latin typeface="华文新魏" pitchFamily="2" charset="-122"/>
                <a:ea typeface="华文新魏" pitchFamily="2" charset="-122"/>
              </a:rPr>
              <a:t>1</a:t>
            </a:r>
            <a:r>
              <a:rPr lang="zh-CN" altLang="en-US" sz="2000">
                <a:effectLst>
                  <a:outerShdw blurRad="38100" dist="38100" dir="2700000" algn="tl">
                    <a:srgbClr val="000000"/>
                  </a:outerShdw>
                </a:effectLst>
                <a:latin typeface="华文新魏" pitchFamily="2" charset="-122"/>
                <a:ea typeface="华文新魏" pitchFamily="2" charset="-122"/>
              </a:rPr>
              <a:t>套</a:t>
            </a:r>
          </a:p>
        </p:txBody>
      </p:sp>
      <p:sp>
        <p:nvSpPr>
          <p:cNvPr id="243722" name="Rectangle 10"/>
          <p:cNvSpPr>
            <a:spLocks noChangeArrowheads="1"/>
          </p:cNvSpPr>
          <p:nvPr/>
        </p:nvSpPr>
        <p:spPr bwMode="auto">
          <a:xfrm>
            <a:off x="3492500" y="2852738"/>
            <a:ext cx="2459038" cy="504825"/>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latin typeface="华文新魏" pitchFamily="2" charset="-122"/>
                <a:ea typeface="华文新魏" pitchFamily="2" charset="-122"/>
              </a:rPr>
              <a:t>       </a:t>
            </a:r>
            <a:r>
              <a:rPr lang="zh-CN" altLang="en-US" sz="2000">
                <a:effectLst>
                  <a:outerShdw blurRad="38100" dist="38100" dir="2700000" algn="tl">
                    <a:srgbClr val="000000"/>
                  </a:outerShdw>
                </a:effectLst>
                <a:latin typeface="华文新魏" pitchFamily="2" charset="-122"/>
                <a:ea typeface="华文新魏" pitchFamily="2" charset="-122"/>
              </a:rPr>
              <a:t>人民币</a:t>
            </a:r>
            <a:r>
              <a:rPr lang="en-US" altLang="zh-CN" sz="2000">
                <a:effectLst>
                  <a:outerShdw blurRad="38100" dist="38100" dir="2700000" algn="tl">
                    <a:srgbClr val="000000"/>
                  </a:outerShdw>
                </a:effectLst>
                <a:latin typeface="华文新魏" pitchFamily="2" charset="-122"/>
                <a:ea typeface="华文新魏" pitchFamily="2" charset="-122"/>
              </a:rPr>
              <a:t>2</a:t>
            </a:r>
            <a:r>
              <a:rPr lang="zh-CN" altLang="en-US" sz="2000">
                <a:effectLst>
                  <a:outerShdw blurRad="38100" dist="38100" dir="2700000" algn="tl">
                    <a:srgbClr val="000000"/>
                  </a:outerShdw>
                </a:effectLst>
                <a:latin typeface="华文新魏" pitchFamily="2" charset="-122"/>
                <a:ea typeface="华文新魏" pitchFamily="2" charset="-122"/>
              </a:rPr>
              <a:t>套</a:t>
            </a:r>
          </a:p>
        </p:txBody>
      </p:sp>
      <p:sp>
        <p:nvSpPr>
          <p:cNvPr id="243723" name="Rectangle 11"/>
          <p:cNvSpPr>
            <a:spLocks noChangeArrowheads="1"/>
          </p:cNvSpPr>
          <p:nvPr/>
        </p:nvSpPr>
        <p:spPr bwMode="auto">
          <a:xfrm>
            <a:off x="6804025" y="2852738"/>
            <a:ext cx="1655763" cy="504825"/>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zh-CN" altLang="en-US" sz="2000">
                <a:effectLst>
                  <a:outerShdw blurRad="38100" dist="38100" dir="2700000" algn="tl">
                    <a:srgbClr val="000000"/>
                  </a:outerShdw>
                </a:effectLst>
                <a:latin typeface="华文新魏" pitchFamily="2" charset="-122"/>
                <a:ea typeface="华文新魏" pitchFamily="2" charset="-122"/>
              </a:rPr>
              <a:t>人民币</a:t>
            </a:r>
            <a:r>
              <a:rPr lang="en-US" altLang="zh-CN" sz="2000">
                <a:effectLst>
                  <a:outerShdw blurRad="38100" dist="38100" dir="2700000" algn="tl">
                    <a:srgbClr val="000000"/>
                  </a:outerShdw>
                </a:effectLst>
                <a:latin typeface="华文新魏" pitchFamily="2" charset="-122"/>
                <a:ea typeface="华文新魏" pitchFamily="2" charset="-122"/>
              </a:rPr>
              <a:t>3</a:t>
            </a:r>
            <a:r>
              <a:rPr lang="zh-CN" altLang="en-US" sz="2000">
                <a:effectLst>
                  <a:outerShdw blurRad="38100" dist="38100" dir="2700000" algn="tl">
                    <a:srgbClr val="000000"/>
                  </a:outerShdw>
                </a:effectLst>
                <a:latin typeface="华文新魏" pitchFamily="2" charset="-122"/>
                <a:ea typeface="华文新魏" pitchFamily="2" charset="-122"/>
              </a:rPr>
              <a:t>套</a:t>
            </a:r>
          </a:p>
        </p:txBody>
      </p:sp>
      <p:sp>
        <p:nvSpPr>
          <p:cNvPr id="243724" name="Rectangle 12"/>
          <p:cNvSpPr>
            <a:spLocks noChangeArrowheads="1"/>
          </p:cNvSpPr>
          <p:nvPr/>
        </p:nvSpPr>
        <p:spPr bwMode="auto">
          <a:xfrm>
            <a:off x="1403350" y="5373688"/>
            <a:ext cx="2314575" cy="566737"/>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latin typeface="华文新魏" pitchFamily="2" charset="-122"/>
                <a:ea typeface="华文新魏" pitchFamily="2" charset="-122"/>
              </a:rPr>
              <a:t>       </a:t>
            </a:r>
            <a:r>
              <a:rPr lang="zh-CN" altLang="en-US" sz="2000">
                <a:effectLst>
                  <a:outerShdw blurRad="38100" dist="38100" dir="2700000" algn="tl">
                    <a:srgbClr val="000000"/>
                  </a:outerShdw>
                </a:effectLst>
                <a:latin typeface="华文新魏" pitchFamily="2" charset="-122"/>
                <a:ea typeface="华文新魏" pitchFamily="2" charset="-122"/>
              </a:rPr>
              <a:t>人民币</a:t>
            </a:r>
            <a:r>
              <a:rPr lang="en-US" altLang="zh-CN" sz="2000">
                <a:effectLst>
                  <a:outerShdw blurRad="38100" dist="38100" dir="2700000" algn="tl">
                    <a:srgbClr val="000000"/>
                  </a:outerShdw>
                </a:effectLst>
                <a:latin typeface="华文新魏" pitchFamily="2" charset="-122"/>
                <a:ea typeface="华文新魏" pitchFamily="2" charset="-122"/>
              </a:rPr>
              <a:t>4</a:t>
            </a:r>
            <a:r>
              <a:rPr lang="zh-CN" altLang="en-US" sz="2000">
                <a:effectLst>
                  <a:outerShdw blurRad="38100" dist="38100" dir="2700000" algn="tl">
                    <a:srgbClr val="000000"/>
                  </a:outerShdw>
                </a:effectLst>
                <a:latin typeface="华文新魏" pitchFamily="2" charset="-122"/>
                <a:ea typeface="华文新魏" pitchFamily="2" charset="-122"/>
              </a:rPr>
              <a:t>套</a:t>
            </a:r>
          </a:p>
        </p:txBody>
      </p:sp>
      <p:sp>
        <p:nvSpPr>
          <p:cNvPr id="243725" name="Rectangle 13"/>
          <p:cNvSpPr>
            <a:spLocks noChangeArrowheads="1"/>
          </p:cNvSpPr>
          <p:nvPr/>
        </p:nvSpPr>
        <p:spPr bwMode="auto">
          <a:xfrm>
            <a:off x="5292725" y="5373688"/>
            <a:ext cx="2459038" cy="431800"/>
          </a:xfrm>
          <a:prstGeom prst="rect">
            <a:avLst/>
          </a:prstGeom>
          <a:noFill/>
          <a:ln w="9525">
            <a:noFill/>
            <a:miter lim="800000"/>
            <a:headEnd/>
            <a:tailEnd/>
          </a:ln>
          <a:effectLst/>
        </p:spPr>
        <p:txBody>
          <a:bodyPr/>
          <a:lstStyle/>
          <a:p>
            <a:pPr marL="342900" indent="-342900">
              <a:spcBef>
                <a:spcPct val="20000"/>
              </a:spcBef>
              <a:buClr>
                <a:schemeClr val="hlink"/>
              </a:buClr>
              <a:buSzPct val="70000"/>
              <a:buFont typeface="Wingdings" pitchFamily="2" charset="2"/>
              <a:buNone/>
              <a:defRPr/>
            </a:pPr>
            <a:r>
              <a:rPr lang="en-US" altLang="zh-CN" sz="2000">
                <a:effectLst>
                  <a:outerShdw blurRad="38100" dist="38100" dir="2700000" algn="tl">
                    <a:srgbClr val="000000"/>
                  </a:outerShdw>
                </a:effectLst>
                <a:latin typeface="华文新魏" pitchFamily="2" charset="-122"/>
                <a:ea typeface="华文新魏" pitchFamily="2" charset="-122"/>
              </a:rPr>
              <a:t>          </a:t>
            </a:r>
            <a:r>
              <a:rPr lang="zh-CN" altLang="en-US" sz="2000">
                <a:effectLst>
                  <a:outerShdw blurRad="38100" dist="38100" dir="2700000" algn="tl">
                    <a:srgbClr val="000000"/>
                  </a:outerShdw>
                </a:effectLst>
                <a:latin typeface="华文新魏" pitchFamily="2" charset="-122"/>
                <a:ea typeface="华文新魏" pitchFamily="2" charset="-122"/>
              </a:rPr>
              <a:t>人民币</a:t>
            </a:r>
            <a:r>
              <a:rPr lang="en-US" altLang="zh-CN" sz="2000">
                <a:effectLst>
                  <a:outerShdw blurRad="38100" dist="38100" dir="2700000" algn="tl">
                    <a:srgbClr val="000000"/>
                  </a:outerShdw>
                </a:effectLst>
                <a:latin typeface="华文新魏" pitchFamily="2" charset="-122"/>
                <a:ea typeface="华文新魏" pitchFamily="2" charset="-122"/>
              </a:rPr>
              <a:t>5</a:t>
            </a:r>
            <a:r>
              <a:rPr lang="zh-CN" altLang="en-US" sz="2000">
                <a:effectLst>
                  <a:outerShdw blurRad="38100" dist="38100" dir="2700000" algn="tl">
                    <a:srgbClr val="000000"/>
                  </a:outerShdw>
                </a:effectLst>
                <a:latin typeface="华文新魏" pitchFamily="2" charset="-122"/>
                <a:ea typeface="华文新魏" pitchFamily="2" charset="-122"/>
              </a:rPr>
              <a:t>套</a:t>
            </a:r>
          </a:p>
        </p:txBody>
      </p:sp>
      <p:sp>
        <p:nvSpPr>
          <p:cNvPr id="2" name="灯片编号占位符 1"/>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2379213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r>
              <a:rPr lang="zh-CN" altLang="en-US" dirty="0"/>
              <a:t>人民币</a:t>
            </a:r>
          </a:p>
        </p:txBody>
      </p:sp>
      <p:pic>
        <p:nvPicPr>
          <p:cNvPr id="14339" name="Picture 4" descr="0508301734371"/>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1042988" y="1628775"/>
            <a:ext cx="7561262" cy="4392613"/>
          </a:xfrm>
          <a:noFill/>
        </p:spPr>
      </p:pic>
      <p:sp>
        <p:nvSpPr>
          <p:cNvPr id="2" name="灯片编号占位符 1"/>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2847574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纸币</a:t>
            </a:r>
          </a:p>
        </p:txBody>
      </p:sp>
      <p:sp>
        <p:nvSpPr>
          <p:cNvPr id="3" name="内容占位符 2"/>
          <p:cNvSpPr>
            <a:spLocks noGrp="1"/>
          </p:cNvSpPr>
          <p:nvPr>
            <p:ph idx="1"/>
          </p:nvPr>
        </p:nvSpPr>
        <p:spPr/>
        <p:txBody>
          <a:bodyPr/>
          <a:lstStyle/>
          <a:p>
            <a:r>
              <a:rPr lang="zh-CN" altLang="en-US" dirty="0"/>
              <a:t>纸币：由国家发行并依靠国家权力强制发挥货币职能的纸质货币符号</a:t>
            </a:r>
            <a:endParaRPr lang="en-US" altLang="zh-CN" dirty="0"/>
          </a:p>
          <a:p>
            <a:pPr lvl="1"/>
            <a:r>
              <a:rPr lang="zh-CN" altLang="en-US" dirty="0"/>
              <a:t>纸币之所以能够成为货币符号并被社会普遍接受，依靠的是国家强制力和信誉</a:t>
            </a:r>
            <a:endParaRPr lang="en-US" altLang="zh-CN" dirty="0"/>
          </a:p>
          <a:p>
            <a:pPr lvl="1"/>
            <a:r>
              <a:rPr lang="zh-CN" altLang="en-US" dirty="0"/>
              <a:t>只要能在商品交换中被人们普遍接受，这种货币就能流通和用于支付</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1136209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信用货币</a:t>
            </a:r>
          </a:p>
        </p:txBody>
      </p:sp>
      <p:sp>
        <p:nvSpPr>
          <p:cNvPr id="3" name="内容占位符 2"/>
          <p:cNvSpPr>
            <a:spLocks noGrp="1"/>
          </p:cNvSpPr>
          <p:nvPr>
            <p:ph idx="1"/>
          </p:nvPr>
        </p:nvSpPr>
        <p:spPr/>
        <p:txBody>
          <a:bodyPr/>
          <a:lstStyle/>
          <a:p>
            <a:r>
              <a:rPr lang="zh-CN" altLang="en-US" dirty="0"/>
              <a:t>信用货币包括银行券、支票存款、电子货币等形式</a:t>
            </a:r>
            <a:endParaRPr lang="en-US" altLang="zh-CN" dirty="0"/>
          </a:p>
          <a:p>
            <a:pPr lvl="1"/>
            <a:r>
              <a:rPr lang="zh-CN" altLang="en-US" dirty="0"/>
              <a:t>银行券：银行发行的一种债务凭证，银行券纸币化，成为信用货币的主要形式</a:t>
            </a:r>
            <a:endParaRPr lang="en-US" altLang="zh-CN" dirty="0"/>
          </a:p>
          <a:p>
            <a:pPr lvl="1"/>
            <a:r>
              <a:rPr lang="zh-CN" altLang="en-US" dirty="0"/>
              <a:t>支票存款：存款人能以支票即期提取、支付的存款</a:t>
            </a:r>
            <a:endParaRPr lang="en-US" altLang="zh-CN" dirty="0"/>
          </a:p>
          <a:p>
            <a:pPr lvl="1"/>
            <a:r>
              <a:rPr lang="zh-CN" altLang="en-US" dirty="0"/>
              <a:t>电子货币：储值卡等</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24</a:t>
            </a:fld>
            <a:endParaRPr lang="zh-CN" altLang="en-US"/>
          </a:p>
        </p:txBody>
      </p:sp>
    </p:spTree>
    <p:extLst>
      <p:ext uri="{BB962C8B-B14F-4D97-AF65-F5344CB8AC3E}">
        <p14:creationId xmlns:p14="http://schemas.microsoft.com/office/powerpoint/2010/main" val="424058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货币层次：国际货币基金组织（</a:t>
            </a:r>
            <a:r>
              <a:rPr lang="en-US" altLang="zh-CN" dirty="0"/>
              <a:t>IMF</a:t>
            </a:r>
            <a:r>
              <a:rPr lang="zh-CN" altLang="en-US" dirty="0"/>
              <a:t>）</a:t>
            </a:r>
          </a:p>
        </p:txBody>
      </p:sp>
      <p:sp>
        <p:nvSpPr>
          <p:cNvPr id="3" name="内容占位符 2"/>
          <p:cNvSpPr>
            <a:spLocks noGrp="1"/>
          </p:cNvSpPr>
          <p:nvPr>
            <p:ph idx="1"/>
          </p:nvPr>
        </p:nvSpPr>
        <p:spPr/>
        <p:txBody>
          <a:bodyPr>
            <a:normAutofit/>
          </a:bodyPr>
          <a:lstStyle/>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0</a:t>
            </a:r>
            <a:r>
              <a:rPr lang="zh-CN" altLang="en-US" dirty="0"/>
              <a:t>：现金，本币流通中现金</a:t>
            </a:r>
            <a:endParaRPr lang="en-US" altLang="zh-CN" dirty="0"/>
          </a:p>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zh-CN" altLang="en-US" dirty="0"/>
              <a:t>：狭义货币，</a:t>
            </a: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0</a:t>
            </a:r>
            <a:r>
              <a:rPr lang="en-US" altLang="zh-CN" dirty="0"/>
              <a:t>+</a:t>
            </a:r>
            <a:r>
              <a:rPr lang="zh-CN" altLang="en-US" dirty="0"/>
              <a:t>金融机构的活期存款（可转让本币存款和在国内可直接支付的外币存款）</a:t>
            </a:r>
            <a:endParaRPr lang="en-US" altLang="zh-CN" dirty="0"/>
          </a:p>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2</a:t>
            </a:r>
            <a:r>
              <a:rPr lang="zh-CN" altLang="en-US" dirty="0"/>
              <a:t>：狭义货币和准货币，</a:t>
            </a: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en-US" altLang="zh-CN" dirty="0"/>
              <a:t>+</a:t>
            </a:r>
            <a:r>
              <a:rPr lang="zh-CN" altLang="en-US" dirty="0"/>
              <a:t>一定期限内（</a:t>
            </a:r>
            <a:r>
              <a:rPr lang="en-US" altLang="zh-CN" dirty="0"/>
              <a:t>3-12</a:t>
            </a:r>
            <a:r>
              <a:rPr lang="zh-CN" altLang="en-US" dirty="0"/>
              <a:t>个月）单位定期存款和储蓄存款</a:t>
            </a:r>
            <a:r>
              <a:rPr lang="en-US" altLang="zh-CN" dirty="0"/>
              <a:t>+</a:t>
            </a:r>
            <a:r>
              <a:rPr lang="zh-CN" altLang="en-US" dirty="0"/>
              <a:t>外汇存款</a:t>
            </a:r>
            <a:r>
              <a:rPr lang="en-US" altLang="zh-CN" dirty="0"/>
              <a:t>+</a:t>
            </a:r>
            <a:r>
              <a:rPr lang="zh-CN" altLang="en-US" dirty="0"/>
              <a:t>大额可转让定期存单</a:t>
            </a:r>
            <a:endParaRPr lang="en-US" altLang="zh-CN" dirty="0"/>
          </a:p>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3</a:t>
            </a:r>
            <a:r>
              <a:rPr lang="zh-CN" altLang="en-US" dirty="0"/>
              <a:t>：广义货币，</a:t>
            </a: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2</a:t>
            </a:r>
            <a:r>
              <a:rPr lang="en-US" altLang="zh-CN" dirty="0"/>
              <a:t>+</a:t>
            </a:r>
            <a:r>
              <a:rPr lang="zh-CN" altLang="en-US" dirty="0"/>
              <a:t>外汇定期存款</a:t>
            </a:r>
            <a:r>
              <a:rPr lang="en-US" altLang="zh-CN" dirty="0"/>
              <a:t>+</a:t>
            </a:r>
            <a:r>
              <a:rPr lang="zh-CN" altLang="en-US" dirty="0"/>
              <a:t>商业票据</a:t>
            </a:r>
            <a:r>
              <a:rPr lang="en-US" altLang="zh-CN" dirty="0"/>
              <a:t>+</a:t>
            </a:r>
            <a:r>
              <a:rPr lang="zh-CN" altLang="en-US" dirty="0"/>
              <a:t>互助金存款</a:t>
            </a:r>
            <a:r>
              <a:rPr lang="en-US" altLang="zh-CN" dirty="0"/>
              <a:t>+</a:t>
            </a:r>
            <a:r>
              <a:rPr lang="zh-CN" altLang="en-US" dirty="0"/>
              <a:t>旅行支票</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25</a:t>
            </a:fld>
            <a:endParaRPr lang="zh-CN" altLang="en-US"/>
          </a:p>
        </p:txBody>
      </p:sp>
    </p:spTree>
    <p:extLst>
      <p:ext uri="{BB962C8B-B14F-4D97-AF65-F5344CB8AC3E}">
        <p14:creationId xmlns:p14="http://schemas.microsoft.com/office/powerpoint/2010/main" val="1120019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货币层次：中国</a:t>
            </a:r>
          </a:p>
        </p:txBody>
      </p:sp>
      <p:sp>
        <p:nvSpPr>
          <p:cNvPr id="3" name="内容占位符 2"/>
          <p:cNvSpPr>
            <a:spLocks noGrp="1"/>
          </p:cNvSpPr>
          <p:nvPr>
            <p:ph idx="1"/>
          </p:nvPr>
        </p:nvSpPr>
        <p:spPr/>
        <p:txBody>
          <a:bodyPr/>
          <a:lstStyle/>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0</a:t>
            </a:r>
            <a:r>
              <a:rPr lang="zh-CN" altLang="en-US" dirty="0"/>
              <a:t>：流通中现金</a:t>
            </a:r>
            <a:endParaRPr lang="en-US" altLang="zh-CN" dirty="0"/>
          </a:p>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zh-CN" altLang="en-US" dirty="0"/>
              <a:t>：狭义货币，</a:t>
            </a: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0</a:t>
            </a:r>
            <a:r>
              <a:rPr lang="en-US" altLang="zh-CN" dirty="0"/>
              <a:t>+</a:t>
            </a:r>
            <a:r>
              <a:rPr lang="zh-CN" altLang="en-US" dirty="0"/>
              <a:t>能开支票进行支付的单位活期存款</a:t>
            </a:r>
            <a:endParaRPr lang="en-US" altLang="zh-CN" dirty="0"/>
          </a:p>
          <a:p>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2</a:t>
            </a:r>
            <a:r>
              <a:rPr lang="zh-CN" altLang="en-US" dirty="0"/>
              <a:t>：广义货币，</a:t>
            </a:r>
            <a:r>
              <a:rPr lang="en-US" altLang="zh-CN" dirty="0">
                <a:latin typeface="Times New Roman" panose="02020603050405020304" pitchFamily="18" charset="0"/>
                <a:cs typeface="Times New Roman" panose="02020603050405020304" pitchFamily="18" charset="0"/>
              </a:rPr>
              <a:t>M</a:t>
            </a:r>
            <a:r>
              <a:rPr lang="en-US" altLang="zh-CN" baseline="-25000" dirty="0">
                <a:latin typeface="Times New Roman" panose="02020603050405020304" pitchFamily="18" charset="0"/>
                <a:cs typeface="Times New Roman" panose="02020603050405020304" pitchFamily="18" charset="0"/>
              </a:rPr>
              <a:t>1</a:t>
            </a:r>
            <a:r>
              <a:rPr lang="en-US" altLang="zh-CN" dirty="0"/>
              <a:t>+</a:t>
            </a:r>
            <a:r>
              <a:rPr lang="zh-CN" altLang="en-US" dirty="0"/>
              <a:t>准货币（居民储蓄存款、单位定期存款、信托存款、委托存款、财政预算外存款、证券公司客户保证金等存款）</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26</a:t>
            </a:fld>
            <a:endParaRPr lang="zh-CN" altLang="en-US"/>
          </a:p>
        </p:txBody>
      </p:sp>
    </p:spTree>
    <p:extLst>
      <p:ext uri="{BB962C8B-B14F-4D97-AF65-F5344CB8AC3E}">
        <p14:creationId xmlns:p14="http://schemas.microsoft.com/office/powerpoint/2010/main" val="816204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第三节 货币流通量及规律</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27</a:t>
            </a:fld>
            <a:endParaRPr lang="zh-CN" altLang="en-US"/>
          </a:p>
        </p:txBody>
      </p:sp>
    </p:spTree>
    <p:extLst>
      <p:ext uri="{BB962C8B-B14F-4D97-AF65-F5344CB8AC3E}">
        <p14:creationId xmlns:p14="http://schemas.microsoft.com/office/powerpoint/2010/main" val="1747383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货币和商品流通</a:t>
            </a:r>
          </a:p>
        </p:txBody>
      </p:sp>
      <p:sp>
        <p:nvSpPr>
          <p:cNvPr id="3" name="内容占位符 2"/>
          <p:cNvSpPr>
            <a:spLocks noGrp="1"/>
          </p:cNvSpPr>
          <p:nvPr>
            <p:ph idx="1"/>
          </p:nvPr>
        </p:nvSpPr>
        <p:spPr/>
        <p:txBody>
          <a:bodyPr/>
          <a:lstStyle/>
          <a:p>
            <a:r>
              <a:rPr lang="zh-CN" altLang="en-US" dirty="0"/>
              <a:t>商品流通就是以货币为媒介的商品交换 </a:t>
            </a:r>
            <a:r>
              <a:rPr lang="en-US" altLang="zh-CN" dirty="0"/>
              <a:t>W-G-W</a:t>
            </a:r>
          </a:p>
          <a:p>
            <a:r>
              <a:rPr lang="zh-CN" altLang="en-US" dirty="0"/>
              <a:t>货币流通：货币不断作为流通手段和支付手段在买者和卖者之间运动  </a:t>
            </a:r>
            <a:r>
              <a:rPr lang="en-US" altLang="zh-CN" dirty="0"/>
              <a:t>G-W-G</a:t>
            </a:r>
            <a:r>
              <a:rPr lang="zh-CN" altLang="en-US" dirty="0"/>
              <a:t>，是商品价值形态变化的结果和表现</a:t>
            </a:r>
            <a:endParaRPr lang="en-US" altLang="zh-CN" dirty="0"/>
          </a:p>
          <a:p>
            <a:r>
              <a:rPr lang="zh-CN" altLang="en-US" dirty="0"/>
              <a:t>货币流通以商品流通为基础，并且服务于商品流通</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28</a:t>
            </a:fld>
            <a:endParaRPr lang="zh-CN" altLang="en-US"/>
          </a:p>
        </p:txBody>
      </p:sp>
    </p:spTree>
    <p:extLst>
      <p:ext uri="{BB962C8B-B14F-4D97-AF65-F5344CB8AC3E}">
        <p14:creationId xmlns:p14="http://schemas.microsoft.com/office/powerpoint/2010/main" val="2046875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货币流通规律</a:t>
            </a:r>
          </a:p>
        </p:txBody>
      </p:sp>
      <p:sp>
        <p:nvSpPr>
          <p:cNvPr id="3" name="内容占位符 2"/>
          <p:cNvSpPr>
            <a:spLocks noGrp="1"/>
          </p:cNvSpPr>
          <p:nvPr>
            <p:ph idx="1"/>
          </p:nvPr>
        </p:nvSpPr>
        <p:spPr/>
        <p:txBody>
          <a:bodyPr>
            <a:normAutofit fontScale="92500" lnSpcReduction="10000"/>
          </a:bodyPr>
          <a:lstStyle/>
          <a:p>
            <a:r>
              <a:rPr lang="zh-CN" altLang="en-US" dirty="0"/>
              <a:t>货币流通规律即货币流通与商品流通相适应的规律</a:t>
            </a:r>
            <a:endParaRPr lang="en-US" altLang="zh-CN" dirty="0"/>
          </a:p>
          <a:p>
            <a:pPr lvl="1"/>
            <a:r>
              <a:rPr lang="zh-CN" altLang="en-US" dirty="0"/>
              <a:t>流通中的货币量必须满足商品流通的需要</a:t>
            </a:r>
            <a:endParaRPr lang="en-US" altLang="zh-CN" dirty="0"/>
          </a:p>
          <a:p>
            <a:r>
              <a:rPr lang="zh-CN" altLang="en-US" dirty="0"/>
              <a:t>货币作为流通手段，其数量是由全部商品价格总额和货币流通速度两个因素决定的</a:t>
            </a:r>
            <a:endParaRPr lang="en-US" altLang="zh-CN" dirty="0"/>
          </a:p>
          <a:p>
            <a:pPr lvl="1"/>
            <a:r>
              <a:rPr lang="zh-CN" altLang="en-US" dirty="0"/>
              <a:t>货币量</a:t>
            </a:r>
            <a:r>
              <a:rPr lang="en-US" altLang="zh-CN" dirty="0"/>
              <a:t>=</a:t>
            </a:r>
            <a:r>
              <a:rPr lang="zh-CN" altLang="en-US" dirty="0"/>
              <a:t>流通中的商品价格总额</a:t>
            </a:r>
            <a:r>
              <a:rPr lang="en-US" altLang="zh-CN" dirty="0"/>
              <a:t>/</a:t>
            </a:r>
            <a:r>
              <a:rPr lang="zh-CN" altLang="en-US" dirty="0"/>
              <a:t>流通速度</a:t>
            </a:r>
            <a:endParaRPr lang="en-US" altLang="zh-CN" dirty="0"/>
          </a:p>
          <a:p>
            <a:r>
              <a:rPr lang="zh-CN" altLang="en-US" dirty="0"/>
              <a:t>执行支付手段的货币也影响货币流通数量</a:t>
            </a:r>
            <a:endParaRPr lang="en-US" altLang="zh-CN" dirty="0"/>
          </a:p>
          <a:p>
            <a:pPr lvl="1"/>
            <a:r>
              <a:rPr lang="zh-CN" altLang="en-US" dirty="0"/>
              <a:t>货币量</a:t>
            </a:r>
            <a:r>
              <a:rPr lang="en-US" altLang="zh-CN" dirty="0"/>
              <a:t>=</a:t>
            </a:r>
            <a:r>
              <a:rPr lang="zh-CN" altLang="en-US" dirty="0"/>
              <a:t>（流通中商品价格总额</a:t>
            </a:r>
            <a:r>
              <a:rPr lang="en-US" altLang="zh-CN" dirty="0"/>
              <a:t>-</a:t>
            </a:r>
            <a:r>
              <a:rPr lang="zh-CN" altLang="en-US" dirty="0"/>
              <a:t>赊销商品价格总额</a:t>
            </a:r>
            <a:r>
              <a:rPr lang="en-US" altLang="zh-CN" dirty="0"/>
              <a:t>+</a:t>
            </a:r>
            <a:r>
              <a:rPr lang="zh-CN" altLang="en-US" dirty="0"/>
              <a:t>到期支付总额</a:t>
            </a:r>
            <a:r>
              <a:rPr lang="en-US" altLang="zh-CN" dirty="0"/>
              <a:t>-</a:t>
            </a:r>
            <a:r>
              <a:rPr lang="zh-CN" altLang="en-US" dirty="0"/>
              <a:t>相互抵消支总额）</a:t>
            </a:r>
            <a:r>
              <a:rPr lang="en-US" altLang="zh-CN" dirty="0"/>
              <a:t>/</a:t>
            </a:r>
            <a:r>
              <a:rPr lang="zh-CN" altLang="en-US" dirty="0"/>
              <a:t>流通速度</a:t>
            </a:r>
            <a:endParaRPr lang="en-US" altLang="zh-CN" dirty="0"/>
          </a:p>
          <a:p>
            <a:r>
              <a:rPr lang="zh-CN" altLang="en-US" dirty="0"/>
              <a:t>货币执行贮藏手段影响货币流通数量</a:t>
            </a:r>
            <a:endParaRPr lang="en-US" altLang="zh-CN" dirty="0"/>
          </a:p>
          <a:p>
            <a:pPr lvl="1"/>
            <a:r>
              <a:rPr lang="zh-CN" altLang="en-US" dirty="0"/>
              <a:t>流通中货币量超过货币需求量时，货币退出流通（金属货币）</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29</a:t>
            </a:fld>
            <a:endParaRPr lang="zh-CN" altLang="en-US"/>
          </a:p>
        </p:txBody>
      </p:sp>
    </p:spTree>
    <p:extLst>
      <p:ext uri="{BB962C8B-B14F-4D97-AF65-F5344CB8AC3E}">
        <p14:creationId xmlns:p14="http://schemas.microsoft.com/office/powerpoint/2010/main" val="30269912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纸币流通规律</a:t>
            </a:r>
          </a:p>
        </p:txBody>
      </p:sp>
      <p:sp>
        <p:nvSpPr>
          <p:cNvPr id="3" name="内容占位符 2"/>
          <p:cNvSpPr>
            <a:spLocks noGrp="1"/>
          </p:cNvSpPr>
          <p:nvPr>
            <p:ph idx="1"/>
          </p:nvPr>
        </p:nvSpPr>
        <p:spPr/>
        <p:txBody>
          <a:bodyPr/>
          <a:lstStyle/>
          <a:p>
            <a:r>
              <a:rPr lang="zh-CN" altLang="en-US" dirty="0"/>
              <a:t>单位纸币代表的金属货币量</a:t>
            </a:r>
            <a:r>
              <a:rPr lang="en-US" altLang="zh-CN" dirty="0"/>
              <a:t>=</a:t>
            </a:r>
            <a:r>
              <a:rPr lang="zh-CN" altLang="en-US" dirty="0"/>
              <a:t>流通中必要的金属货币量</a:t>
            </a:r>
            <a:r>
              <a:rPr lang="en-US" altLang="zh-CN" dirty="0"/>
              <a:t>/</a:t>
            </a:r>
            <a:r>
              <a:rPr lang="zh-CN" altLang="en-US" dirty="0"/>
              <a:t>流通中纸币总额</a:t>
            </a:r>
            <a:endParaRPr lang="en-US" altLang="zh-CN" dirty="0"/>
          </a:p>
          <a:p>
            <a:r>
              <a:rPr lang="zh-CN" altLang="en-US" dirty="0"/>
              <a:t>纸币发行量必须限于流通中所需要的金属货币量</a:t>
            </a:r>
            <a:endParaRPr lang="en-US" altLang="zh-CN" dirty="0"/>
          </a:p>
          <a:p>
            <a:pPr lvl="1"/>
            <a:r>
              <a:rPr lang="zh-CN" altLang="en-US" dirty="0"/>
              <a:t>纸币发行量和流通中所需要的金属货币量相等，单位纸币代表单位金属货币</a:t>
            </a:r>
            <a:endParaRPr lang="en-US" altLang="zh-CN" dirty="0"/>
          </a:p>
          <a:p>
            <a:pPr lvl="1"/>
            <a:r>
              <a:rPr lang="zh-CN" altLang="en-US" dirty="0"/>
              <a:t>纸币发行超过流通中所需要的金属货币量，单位纸币贬值，商品价格上涨，通货膨胀</a:t>
            </a:r>
            <a:endParaRPr lang="en-US" altLang="zh-CN" dirty="0"/>
          </a:p>
          <a:p>
            <a:pPr lvl="1"/>
            <a:r>
              <a:rPr lang="zh-CN" altLang="en-US" dirty="0"/>
              <a:t>纸币发行超过流通中所需要的金属货币量，单位纸币升值，商品价格下降，通货紧缩</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30</a:t>
            </a:fld>
            <a:endParaRPr lang="zh-CN" altLang="en-US"/>
          </a:p>
        </p:txBody>
      </p:sp>
    </p:spTree>
    <p:extLst>
      <p:ext uri="{BB962C8B-B14F-4D97-AF65-F5344CB8AC3E}">
        <p14:creationId xmlns:p14="http://schemas.microsoft.com/office/powerpoint/2010/main" val="180118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通货膨胀</a:t>
            </a:r>
          </a:p>
        </p:txBody>
      </p:sp>
      <p:sp>
        <p:nvSpPr>
          <p:cNvPr id="3" name="内容占位符 2"/>
          <p:cNvSpPr>
            <a:spLocks noGrp="1"/>
          </p:cNvSpPr>
          <p:nvPr>
            <p:ph idx="1"/>
          </p:nvPr>
        </p:nvSpPr>
        <p:spPr/>
        <p:txBody>
          <a:bodyPr/>
          <a:lstStyle/>
          <a:p>
            <a:r>
              <a:rPr lang="zh-CN" altLang="en-US" dirty="0"/>
              <a:t>通货膨胀：指由于货币发行量超过流通中实际需要的货币量而引起的物价总水平持续上涨的经济现象</a:t>
            </a:r>
            <a:endParaRPr lang="en-US" altLang="zh-CN" dirty="0"/>
          </a:p>
          <a:p>
            <a:r>
              <a:rPr lang="zh-CN" altLang="en-US" dirty="0"/>
              <a:t>通货紧缩：指一般物价水平持续下降的经济现象</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31</a:t>
            </a:fld>
            <a:endParaRPr lang="zh-CN" altLang="en-US"/>
          </a:p>
        </p:txBody>
      </p:sp>
    </p:spTree>
    <p:extLst>
      <p:ext uri="{BB962C8B-B14F-4D97-AF65-F5344CB8AC3E}">
        <p14:creationId xmlns:p14="http://schemas.microsoft.com/office/powerpoint/2010/main" val="1506545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通货膨胀的衡量</a:t>
            </a:r>
            <a:r>
              <a:rPr lang="en-US" altLang="zh-CN" dirty="0"/>
              <a:t>CPI</a:t>
            </a:r>
            <a:endParaRPr lang="zh-CN" altLang="en-US" dirty="0"/>
          </a:p>
        </p:txBody>
      </p:sp>
      <p:sp>
        <p:nvSpPr>
          <p:cNvPr id="3" name="内容占位符 2"/>
          <p:cNvSpPr>
            <a:spLocks noGrp="1"/>
          </p:cNvSpPr>
          <p:nvPr>
            <p:ph idx="1"/>
          </p:nvPr>
        </p:nvSpPr>
        <p:spPr/>
        <p:txBody>
          <a:bodyPr>
            <a:normAutofit lnSpcReduction="10000"/>
          </a:bodyPr>
          <a:lstStyle/>
          <a:p>
            <a:pPr lvl="1" fontAlgn="base">
              <a:lnSpc>
                <a:spcPct val="130000"/>
              </a:lnSpc>
              <a:spcBef>
                <a:spcPct val="0"/>
              </a:spcBef>
              <a:spcAft>
                <a:spcPts val="1000"/>
              </a:spcAft>
              <a:defRPr/>
            </a:pPr>
            <a:r>
              <a:rPr lang="zh-CN" altLang="zh-CN" sz="2400" dirty="0">
                <a:solidFill>
                  <a:srgbClr val="404040"/>
                </a:solidFill>
                <a:latin typeface="Arial" panose="020B0604020202020204" pitchFamily="34" charset="0"/>
                <a:sym typeface="微软雅黑" panose="020B0503020204020204" pitchFamily="34" charset="-122"/>
              </a:rPr>
              <a:t>在特定时段内度量一组代表性消费商品及服务项目的价格水平随时间而变动的相对数</a:t>
            </a:r>
            <a:endParaRPr lang="zh-CN" altLang="zh-CN" sz="1600" dirty="0">
              <a:solidFill>
                <a:srgbClr val="404040"/>
              </a:solidFill>
              <a:latin typeface="Arial" panose="020B0604020202020204" pitchFamily="34" charset="0"/>
            </a:endParaRPr>
          </a:p>
          <a:p>
            <a:pPr lvl="2" fontAlgn="base">
              <a:lnSpc>
                <a:spcPct val="130000"/>
              </a:lnSpc>
              <a:spcBef>
                <a:spcPct val="0"/>
              </a:spcBef>
              <a:spcAft>
                <a:spcPts val="1000"/>
              </a:spcAft>
              <a:defRPr/>
            </a:pPr>
            <a:r>
              <a:rPr lang="zh-CN" altLang="zh-CN" dirty="0">
                <a:solidFill>
                  <a:srgbClr val="404040"/>
                </a:solidFill>
                <a:latin typeface="Arial" panose="020B0604020202020204" pitchFamily="34" charset="0"/>
              </a:rPr>
              <a:t>社会产品和服务项目的最终价格</a:t>
            </a:r>
          </a:p>
          <a:p>
            <a:pPr lvl="2" fontAlgn="base">
              <a:lnSpc>
                <a:spcPct val="130000"/>
              </a:lnSpc>
              <a:spcBef>
                <a:spcPct val="0"/>
              </a:spcBef>
              <a:spcAft>
                <a:spcPts val="1000"/>
              </a:spcAft>
              <a:defRPr/>
            </a:pPr>
            <a:r>
              <a:rPr lang="zh-CN" altLang="zh-CN" dirty="0">
                <a:solidFill>
                  <a:srgbClr val="404040"/>
                </a:solidFill>
                <a:latin typeface="Arial" panose="020B0604020202020204" pitchFamily="34" charset="0"/>
                <a:sym typeface="微软雅黑" panose="020B0503020204020204" pitchFamily="34" charset="-122"/>
              </a:rPr>
              <a:t>涵盖全国城乡居民生活消费的食品烟酒、衣着、居住、生活用品及服务、交通和通信、教育文化和娱乐、医疗保健、其他用品和服务等 8大类、 262个基本分类的商品与服务价格。</a:t>
            </a:r>
          </a:p>
          <a:p>
            <a:pPr lvl="2" fontAlgn="base">
              <a:lnSpc>
                <a:spcPct val="130000"/>
              </a:lnSpc>
              <a:spcBef>
                <a:spcPct val="0"/>
              </a:spcBef>
              <a:spcAft>
                <a:spcPts val="1000"/>
              </a:spcAft>
              <a:defRPr/>
            </a:pPr>
            <a:r>
              <a:rPr lang="zh-CN" altLang="zh-CN" dirty="0">
                <a:solidFill>
                  <a:srgbClr val="404040"/>
                </a:solidFill>
                <a:latin typeface="Arial" panose="020B0604020202020204" pitchFamily="34" charset="0"/>
                <a:sym typeface="微软雅黑" panose="020B0503020204020204" pitchFamily="34" charset="-122"/>
              </a:rPr>
              <a:t>权重，两年修正一次</a:t>
            </a:r>
          </a:p>
          <a:p>
            <a:pPr lvl="2" fontAlgn="base">
              <a:lnSpc>
                <a:spcPct val="130000"/>
              </a:lnSpc>
              <a:spcBef>
                <a:spcPct val="0"/>
              </a:spcBef>
              <a:spcAft>
                <a:spcPts val="1000"/>
              </a:spcAft>
              <a:defRPr/>
            </a:pPr>
            <a:r>
              <a:rPr lang="zh-CN" altLang="zh-CN" dirty="0">
                <a:solidFill>
                  <a:srgbClr val="404040"/>
                </a:solidFill>
                <a:latin typeface="Arial" panose="020B0604020202020204" pitchFamily="34" charset="0"/>
                <a:sym typeface="微软雅黑" panose="020B0503020204020204" pitchFamily="34" charset="-122"/>
              </a:rPr>
              <a:t>抽样调查：商场（店）、超市、农贸市场、服务网点和互联网电商等</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32</a:t>
            </a:fld>
            <a:endParaRPr lang="zh-CN" altLang="en-US"/>
          </a:p>
        </p:txBody>
      </p:sp>
    </p:spTree>
    <p:extLst>
      <p:ext uri="{BB962C8B-B14F-4D97-AF65-F5344CB8AC3E}">
        <p14:creationId xmlns:p14="http://schemas.microsoft.com/office/powerpoint/2010/main" val="58909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329103" cy="778931"/>
          </a:xfrm>
        </p:spPr>
        <p:txBody>
          <a:bodyPr>
            <a:normAutofit/>
          </a:bodyPr>
          <a:lstStyle/>
          <a:p>
            <a:r>
              <a:rPr lang="zh-CN" altLang="en-US" dirty="0"/>
              <a:t>通货膨胀的经典案例：一战后的德国</a:t>
            </a:r>
          </a:p>
        </p:txBody>
      </p:sp>
      <p:sp>
        <p:nvSpPr>
          <p:cNvPr id="3" name="内容占位符 2"/>
          <p:cNvSpPr>
            <a:spLocks noGrp="1"/>
          </p:cNvSpPr>
          <p:nvPr>
            <p:ph idx="1"/>
          </p:nvPr>
        </p:nvSpPr>
        <p:spPr/>
        <p:txBody>
          <a:bodyPr>
            <a:normAutofit lnSpcReduction="10000"/>
          </a:bodyPr>
          <a:lstStyle/>
          <a:p>
            <a:pPr marL="285750" indent="-285750">
              <a:buSzPct val="50000"/>
              <a:buFont typeface="Wingdings" panose="05000000000000000000" charset="0"/>
              <a:buChar char=""/>
            </a:pPr>
            <a:r>
              <a:rPr lang="zh-CN" altLang="en-US" sz="2200" dirty="0">
                <a:solidFill>
                  <a:schemeClr val="bg2">
                    <a:lumMod val="25000"/>
                  </a:schemeClr>
                </a:solidFill>
                <a:cs typeface="+mn-ea"/>
                <a:sym typeface="+mn-lt"/>
              </a:rPr>
              <a:t>在一战结束时，协约国要求德国支付巨额赔款。战后的德国政府面对巨额赔款苦不堪言，于是通过大量发行货币的方式来筹集赔款。使得从</a:t>
            </a:r>
            <a:r>
              <a:rPr lang="en-US" altLang="zh-CN" sz="2200" dirty="0">
                <a:solidFill>
                  <a:schemeClr val="bg2">
                    <a:lumMod val="25000"/>
                  </a:schemeClr>
                </a:solidFill>
                <a:cs typeface="+mn-ea"/>
                <a:sym typeface="+mn-lt"/>
              </a:rPr>
              <a:t>1922</a:t>
            </a:r>
            <a:r>
              <a:rPr lang="zh-CN" altLang="en-US" sz="2200" dirty="0">
                <a:solidFill>
                  <a:schemeClr val="bg2">
                    <a:lumMod val="25000"/>
                  </a:schemeClr>
                </a:solidFill>
                <a:cs typeface="+mn-ea"/>
                <a:sym typeface="+mn-lt"/>
              </a:rPr>
              <a:t>年</a:t>
            </a:r>
            <a:r>
              <a:rPr lang="en-US" altLang="zh-CN" sz="2200" dirty="0">
                <a:solidFill>
                  <a:schemeClr val="bg2">
                    <a:lumMod val="25000"/>
                  </a:schemeClr>
                </a:solidFill>
                <a:cs typeface="+mn-ea"/>
                <a:sym typeface="+mn-lt"/>
              </a:rPr>
              <a:t>1</a:t>
            </a:r>
            <a:r>
              <a:rPr lang="zh-CN" altLang="en-US" sz="2200" dirty="0">
                <a:solidFill>
                  <a:schemeClr val="bg2">
                    <a:lumMod val="25000"/>
                  </a:schemeClr>
                </a:solidFill>
                <a:cs typeface="+mn-ea"/>
                <a:sym typeface="+mn-lt"/>
              </a:rPr>
              <a:t>月开始到</a:t>
            </a:r>
            <a:r>
              <a:rPr lang="en-US" altLang="zh-CN" sz="2200" dirty="0">
                <a:solidFill>
                  <a:schemeClr val="bg2">
                    <a:lumMod val="25000"/>
                  </a:schemeClr>
                </a:solidFill>
                <a:cs typeface="+mn-ea"/>
                <a:sym typeface="+mn-lt"/>
              </a:rPr>
              <a:t>1924</a:t>
            </a:r>
            <a:r>
              <a:rPr lang="zh-CN" altLang="en-US" sz="2200" dirty="0">
                <a:solidFill>
                  <a:schemeClr val="bg2">
                    <a:lumMod val="25000"/>
                  </a:schemeClr>
                </a:solidFill>
                <a:cs typeface="+mn-ea"/>
                <a:sym typeface="+mn-lt"/>
              </a:rPr>
              <a:t>年底德国的货币和物价都以惊人的速度飙升。</a:t>
            </a:r>
          </a:p>
          <a:p>
            <a:pPr marL="285750" indent="-285750">
              <a:buSzPct val="50000"/>
              <a:buFont typeface="Wingdings" panose="05000000000000000000" charset="0"/>
              <a:buChar char=""/>
            </a:pPr>
            <a:r>
              <a:rPr lang="en-US" altLang="zh-CN" sz="2200" dirty="0">
                <a:solidFill>
                  <a:schemeClr val="bg2">
                    <a:lumMod val="25000"/>
                  </a:schemeClr>
                </a:solidFill>
                <a:cs typeface="+mn-ea"/>
                <a:sym typeface="+mn-lt"/>
              </a:rPr>
              <a:t>1923</a:t>
            </a:r>
            <a:r>
              <a:rPr lang="zh-CN" altLang="en-US" sz="2200" dirty="0">
                <a:solidFill>
                  <a:schemeClr val="bg2">
                    <a:lumMod val="25000"/>
                  </a:schemeClr>
                </a:solidFill>
                <a:cs typeface="+mn-ea"/>
                <a:sym typeface="+mn-lt"/>
              </a:rPr>
              <a:t>年年初，马克币值一度达到</a:t>
            </a:r>
            <a:r>
              <a:rPr lang="en-US" altLang="zh-CN" sz="2200" dirty="0">
                <a:solidFill>
                  <a:srgbClr val="0070C0"/>
                </a:solidFill>
                <a:cs typeface="+mn-ea"/>
                <a:sym typeface="+mn-lt"/>
              </a:rPr>
              <a:t>2.38</a:t>
            </a:r>
            <a:r>
              <a:rPr lang="zh-CN" altLang="en-US" sz="2200" dirty="0">
                <a:solidFill>
                  <a:srgbClr val="0070C0"/>
                </a:solidFill>
                <a:cs typeface="+mn-ea"/>
                <a:sym typeface="+mn-lt"/>
              </a:rPr>
              <a:t>美元</a:t>
            </a:r>
            <a:r>
              <a:rPr lang="zh-CN" altLang="en-US" sz="2200" dirty="0">
                <a:solidFill>
                  <a:schemeClr val="bg2">
                    <a:lumMod val="25000"/>
                  </a:schemeClr>
                </a:solidFill>
                <a:cs typeface="+mn-ea"/>
                <a:sym typeface="+mn-lt"/>
              </a:rPr>
              <a:t>，但是同年夏季， 一个美国人能以</a:t>
            </a:r>
            <a:r>
              <a:rPr lang="en-US" altLang="zh-CN" sz="2200" dirty="0">
                <a:solidFill>
                  <a:srgbClr val="0070C0"/>
                </a:solidFill>
                <a:cs typeface="+mn-ea"/>
                <a:sym typeface="+mn-lt"/>
              </a:rPr>
              <a:t>7</a:t>
            </a:r>
            <a:r>
              <a:rPr lang="zh-CN" altLang="en-US" sz="2200" dirty="0">
                <a:solidFill>
                  <a:srgbClr val="0070C0"/>
                </a:solidFill>
                <a:cs typeface="+mn-ea"/>
                <a:sym typeface="+mn-lt"/>
              </a:rPr>
              <a:t>美元兑换到</a:t>
            </a:r>
            <a:r>
              <a:rPr lang="en-US" altLang="zh-CN" sz="2200" dirty="0">
                <a:solidFill>
                  <a:srgbClr val="0070C0"/>
                </a:solidFill>
                <a:cs typeface="+mn-ea"/>
                <a:sym typeface="+mn-lt"/>
              </a:rPr>
              <a:t>40</a:t>
            </a:r>
            <a:r>
              <a:rPr lang="zh-CN" altLang="en-US" sz="2200" dirty="0">
                <a:solidFill>
                  <a:srgbClr val="0070C0"/>
                </a:solidFill>
                <a:cs typeface="+mn-ea"/>
                <a:sym typeface="+mn-lt"/>
              </a:rPr>
              <a:t>亿马克</a:t>
            </a:r>
            <a:r>
              <a:rPr lang="zh-CN" altLang="en-US" sz="2200" dirty="0">
                <a:solidFill>
                  <a:schemeClr val="bg2">
                    <a:lumMod val="25000"/>
                  </a:schemeClr>
                </a:solidFill>
                <a:cs typeface="+mn-ea"/>
                <a:sym typeface="+mn-lt"/>
              </a:rPr>
              <a:t>。</a:t>
            </a:r>
          </a:p>
          <a:p>
            <a:pPr marL="285750" indent="-285750">
              <a:buSzPct val="50000"/>
              <a:buFont typeface="Wingdings" panose="05000000000000000000" charset="0"/>
              <a:buChar char=""/>
            </a:pPr>
            <a:r>
              <a:rPr lang="en-US" altLang="zh-CN" sz="2200" dirty="0">
                <a:solidFill>
                  <a:schemeClr val="bg2">
                    <a:lumMod val="25000"/>
                  </a:schemeClr>
                </a:solidFill>
                <a:cs typeface="+mn-ea"/>
                <a:sym typeface="+mn-lt"/>
              </a:rPr>
              <a:t>1923</a:t>
            </a:r>
            <a:r>
              <a:rPr lang="zh-CN" altLang="en-US" sz="2200" dirty="0">
                <a:solidFill>
                  <a:schemeClr val="bg2">
                    <a:lumMod val="25000"/>
                  </a:schemeClr>
                </a:solidFill>
                <a:cs typeface="+mn-ea"/>
                <a:sym typeface="+mn-lt"/>
              </a:rPr>
              <a:t>年，德国的通货膨胀率每月上升</a:t>
            </a:r>
            <a:r>
              <a:rPr lang="en-US" altLang="zh-CN" sz="2200" dirty="0">
                <a:solidFill>
                  <a:srgbClr val="0070C0"/>
                </a:solidFill>
                <a:cs typeface="+mn-ea"/>
                <a:sym typeface="+mn-lt"/>
              </a:rPr>
              <a:t>2500%</a:t>
            </a:r>
            <a:r>
              <a:rPr lang="zh-CN" altLang="en-US" sz="2200" dirty="0">
                <a:solidFill>
                  <a:schemeClr val="bg2">
                    <a:lumMod val="25000"/>
                  </a:schemeClr>
                </a:solidFill>
                <a:cs typeface="+mn-ea"/>
                <a:sym typeface="+mn-lt"/>
              </a:rPr>
              <a:t>。当时，</a:t>
            </a:r>
            <a:r>
              <a:rPr lang="zh-CN" altLang="en-US" sz="2200" dirty="0">
                <a:solidFill>
                  <a:srgbClr val="0070C0"/>
                </a:solidFill>
                <a:cs typeface="+mn-ea"/>
                <a:sym typeface="+mn-lt"/>
              </a:rPr>
              <a:t>工人们的工资一天要分两次发，傍晚一只面包的价格等于早上一幢房屋的价格。</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33</a:t>
            </a:fld>
            <a:endParaRPr lang="zh-CN" altLang="en-US"/>
          </a:p>
        </p:txBody>
      </p:sp>
    </p:spTree>
    <p:extLst>
      <p:ext uri="{BB962C8B-B14F-4D97-AF65-F5344CB8AC3E}">
        <p14:creationId xmlns:p14="http://schemas.microsoft.com/office/powerpoint/2010/main" val="1890881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通货膨胀的经典案例：一战后的德国</a:t>
            </a:r>
          </a:p>
        </p:txBody>
      </p:sp>
      <p:sp>
        <p:nvSpPr>
          <p:cNvPr id="3" name="内容占位符 2"/>
          <p:cNvSpPr>
            <a:spLocks noGrp="1"/>
          </p:cNvSpPr>
          <p:nvPr>
            <p:ph idx="1"/>
          </p:nvPr>
        </p:nvSpPr>
        <p:spPr/>
        <p:txBody>
          <a:bodyPr>
            <a:noAutofit/>
          </a:bodyPr>
          <a:lstStyle/>
          <a:p>
            <a:pPr marL="0" indent="0"/>
            <a:r>
              <a:rPr lang="zh-CN" altLang="en-US" sz="1600" dirty="0">
                <a:solidFill>
                  <a:schemeClr val="bg2">
                    <a:lumMod val="25000"/>
                  </a:schemeClr>
                </a:solidFill>
                <a:cs typeface="+mn-ea"/>
                <a:sym typeface="+mn-lt"/>
              </a:rPr>
              <a:t>一份报纸的价格：</a:t>
            </a:r>
          </a:p>
          <a:p>
            <a:pPr marL="0" indent="0"/>
            <a:r>
              <a:rPr lang="en-US" altLang="zh-CN" sz="1600" dirty="0">
                <a:solidFill>
                  <a:schemeClr val="bg2">
                    <a:lumMod val="25000"/>
                  </a:schemeClr>
                </a:solidFill>
                <a:cs typeface="+mn-ea"/>
                <a:sym typeface="+mn-lt"/>
              </a:rPr>
              <a:t>1921</a:t>
            </a:r>
            <a:r>
              <a:rPr lang="zh-CN" altLang="en-US" sz="1600" dirty="0">
                <a:solidFill>
                  <a:schemeClr val="bg2">
                    <a:lumMod val="25000"/>
                  </a:schemeClr>
                </a:solidFill>
                <a:cs typeface="+mn-ea"/>
                <a:sym typeface="+mn-lt"/>
              </a:rPr>
              <a:t>年</a:t>
            </a:r>
            <a:r>
              <a:rPr lang="en-US" altLang="zh-CN" sz="1600" dirty="0">
                <a:solidFill>
                  <a:schemeClr val="bg2">
                    <a:lumMod val="25000"/>
                  </a:schemeClr>
                </a:solidFill>
                <a:cs typeface="+mn-ea"/>
                <a:sym typeface="+mn-lt"/>
              </a:rPr>
              <a:t>1</a:t>
            </a:r>
            <a:r>
              <a:rPr lang="zh-CN" altLang="en-US" sz="1600" dirty="0">
                <a:solidFill>
                  <a:schemeClr val="bg2">
                    <a:lumMod val="25000"/>
                  </a:schemeClr>
                </a:solidFill>
                <a:cs typeface="+mn-ea"/>
                <a:sym typeface="+mn-lt"/>
              </a:rPr>
              <a:t>月         </a:t>
            </a:r>
            <a:r>
              <a:rPr lang="en-US" altLang="zh-CN" sz="1600" dirty="0">
                <a:solidFill>
                  <a:schemeClr val="bg2">
                    <a:lumMod val="25000"/>
                  </a:schemeClr>
                </a:solidFill>
                <a:cs typeface="+mn-ea"/>
                <a:sym typeface="+mn-lt"/>
              </a:rPr>
              <a:t>0.3</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1922</a:t>
            </a:r>
            <a:r>
              <a:rPr lang="zh-CN" altLang="en-US" sz="1600" dirty="0">
                <a:solidFill>
                  <a:schemeClr val="bg2">
                    <a:lumMod val="25000"/>
                  </a:schemeClr>
                </a:solidFill>
                <a:cs typeface="+mn-ea"/>
                <a:sym typeface="+mn-lt"/>
              </a:rPr>
              <a:t>年</a:t>
            </a:r>
            <a:r>
              <a:rPr lang="en-US" altLang="zh-CN" sz="1600" dirty="0">
                <a:solidFill>
                  <a:schemeClr val="bg2">
                    <a:lumMod val="25000"/>
                  </a:schemeClr>
                </a:solidFill>
                <a:cs typeface="+mn-ea"/>
                <a:sym typeface="+mn-lt"/>
              </a:rPr>
              <a:t>5</a:t>
            </a:r>
            <a:r>
              <a:rPr lang="zh-CN" altLang="en-US" sz="1600" dirty="0">
                <a:solidFill>
                  <a:schemeClr val="bg2">
                    <a:lumMod val="25000"/>
                  </a:schemeClr>
                </a:solidFill>
                <a:cs typeface="+mn-ea"/>
                <a:sym typeface="+mn-lt"/>
              </a:rPr>
              <a:t>月         </a:t>
            </a:r>
            <a:r>
              <a:rPr lang="en-US" altLang="zh-CN" sz="1600" dirty="0">
                <a:solidFill>
                  <a:schemeClr val="bg2">
                    <a:lumMod val="25000"/>
                  </a:schemeClr>
                </a:solidFill>
                <a:cs typeface="+mn-ea"/>
                <a:sym typeface="+mn-lt"/>
              </a:rPr>
              <a:t>1</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1922</a:t>
            </a:r>
            <a:r>
              <a:rPr lang="zh-CN" altLang="en-US" sz="1600" dirty="0">
                <a:solidFill>
                  <a:schemeClr val="bg2">
                    <a:lumMod val="25000"/>
                  </a:schemeClr>
                </a:solidFill>
                <a:cs typeface="+mn-ea"/>
                <a:sym typeface="+mn-lt"/>
              </a:rPr>
              <a:t>年</a:t>
            </a:r>
            <a:r>
              <a:rPr lang="en-US" altLang="zh-CN" sz="1600" dirty="0">
                <a:solidFill>
                  <a:schemeClr val="bg2">
                    <a:lumMod val="25000"/>
                  </a:schemeClr>
                </a:solidFill>
                <a:cs typeface="+mn-ea"/>
                <a:sym typeface="+mn-lt"/>
              </a:rPr>
              <a:t>10</a:t>
            </a:r>
            <a:r>
              <a:rPr lang="zh-CN" altLang="en-US" sz="1600" dirty="0">
                <a:solidFill>
                  <a:schemeClr val="bg2">
                    <a:lumMod val="25000"/>
                  </a:schemeClr>
                </a:solidFill>
                <a:cs typeface="+mn-ea"/>
                <a:sym typeface="+mn-lt"/>
              </a:rPr>
              <a:t>月       </a:t>
            </a:r>
            <a:r>
              <a:rPr lang="en-US" altLang="zh-CN" sz="1600" dirty="0">
                <a:solidFill>
                  <a:schemeClr val="bg2">
                    <a:lumMod val="25000"/>
                  </a:schemeClr>
                </a:solidFill>
                <a:cs typeface="+mn-ea"/>
                <a:sym typeface="+mn-lt"/>
              </a:rPr>
              <a:t>8</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1923</a:t>
            </a:r>
            <a:r>
              <a:rPr lang="zh-CN" altLang="en-US" sz="1600" dirty="0">
                <a:solidFill>
                  <a:schemeClr val="bg2">
                    <a:lumMod val="25000"/>
                  </a:schemeClr>
                </a:solidFill>
                <a:cs typeface="+mn-ea"/>
                <a:sym typeface="+mn-lt"/>
              </a:rPr>
              <a:t>年</a:t>
            </a:r>
          </a:p>
          <a:p>
            <a:pPr marL="0" indent="0"/>
            <a:r>
              <a:rPr lang="en-US" altLang="zh-CN" sz="1600" dirty="0">
                <a:solidFill>
                  <a:schemeClr val="bg2">
                    <a:lumMod val="25000"/>
                  </a:schemeClr>
                </a:solidFill>
                <a:cs typeface="+mn-ea"/>
                <a:sym typeface="+mn-lt"/>
              </a:rPr>
              <a:t>2</a:t>
            </a:r>
            <a:r>
              <a:rPr lang="zh-CN" altLang="en-US" sz="1600" dirty="0">
                <a:solidFill>
                  <a:schemeClr val="bg2">
                    <a:lumMod val="25000"/>
                  </a:schemeClr>
                </a:solidFill>
                <a:cs typeface="+mn-ea"/>
                <a:sym typeface="+mn-lt"/>
              </a:rPr>
              <a:t>月                     </a:t>
            </a:r>
            <a:r>
              <a:rPr lang="en-US" altLang="zh-CN" sz="1600" dirty="0">
                <a:solidFill>
                  <a:schemeClr val="bg2">
                    <a:lumMod val="25000"/>
                  </a:schemeClr>
                </a:solidFill>
                <a:cs typeface="+mn-ea"/>
                <a:sym typeface="+mn-lt"/>
              </a:rPr>
              <a:t>100</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9</a:t>
            </a:r>
            <a:r>
              <a:rPr lang="zh-CN" altLang="en-US" sz="1600" dirty="0">
                <a:solidFill>
                  <a:schemeClr val="bg2">
                    <a:lumMod val="25000"/>
                  </a:schemeClr>
                </a:solidFill>
                <a:cs typeface="+mn-ea"/>
                <a:sym typeface="+mn-lt"/>
              </a:rPr>
              <a:t>月                     </a:t>
            </a:r>
            <a:r>
              <a:rPr lang="en-US" altLang="zh-CN" sz="1600" dirty="0">
                <a:solidFill>
                  <a:schemeClr val="bg2">
                    <a:lumMod val="25000"/>
                  </a:schemeClr>
                </a:solidFill>
                <a:cs typeface="+mn-ea"/>
                <a:sym typeface="+mn-lt"/>
              </a:rPr>
              <a:t>1000</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10</a:t>
            </a:r>
            <a:r>
              <a:rPr lang="zh-CN" altLang="en-US" sz="1600" dirty="0">
                <a:solidFill>
                  <a:schemeClr val="bg2">
                    <a:lumMod val="25000"/>
                  </a:schemeClr>
                </a:solidFill>
                <a:cs typeface="+mn-ea"/>
                <a:sym typeface="+mn-lt"/>
              </a:rPr>
              <a:t>月</a:t>
            </a:r>
            <a:r>
              <a:rPr lang="en-US" altLang="zh-CN" sz="1600" dirty="0">
                <a:solidFill>
                  <a:schemeClr val="bg2">
                    <a:lumMod val="25000"/>
                  </a:schemeClr>
                </a:solidFill>
                <a:cs typeface="+mn-ea"/>
                <a:sym typeface="+mn-lt"/>
              </a:rPr>
              <a:t>1</a:t>
            </a:r>
            <a:r>
              <a:rPr lang="zh-CN" altLang="en-US" sz="1600" dirty="0">
                <a:solidFill>
                  <a:schemeClr val="bg2">
                    <a:lumMod val="25000"/>
                  </a:schemeClr>
                </a:solidFill>
                <a:cs typeface="+mn-ea"/>
                <a:sym typeface="+mn-lt"/>
              </a:rPr>
              <a:t>日              </a:t>
            </a:r>
            <a:r>
              <a:rPr lang="en-US" altLang="zh-CN" sz="1600" dirty="0">
                <a:solidFill>
                  <a:schemeClr val="bg2">
                    <a:lumMod val="25000"/>
                  </a:schemeClr>
                </a:solidFill>
                <a:cs typeface="+mn-ea"/>
                <a:sym typeface="+mn-lt"/>
              </a:rPr>
              <a:t>2000</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10</a:t>
            </a:r>
            <a:r>
              <a:rPr lang="zh-CN" altLang="en-US" sz="1600" dirty="0">
                <a:solidFill>
                  <a:schemeClr val="bg2">
                    <a:lumMod val="25000"/>
                  </a:schemeClr>
                </a:solidFill>
                <a:cs typeface="+mn-ea"/>
                <a:sym typeface="+mn-lt"/>
              </a:rPr>
              <a:t>月</a:t>
            </a:r>
            <a:r>
              <a:rPr lang="en-US" altLang="zh-CN" sz="1600" dirty="0">
                <a:solidFill>
                  <a:schemeClr val="bg2">
                    <a:lumMod val="25000"/>
                  </a:schemeClr>
                </a:solidFill>
                <a:cs typeface="+mn-ea"/>
                <a:sym typeface="+mn-lt"/>
              </a:rPr>
              <a:t>15</a:t>
            </a:r>
            <a:r>
              <a:rPr lang="zh-CN" altLang="en-US" sz="1600" dirty="0">
                <a:solidFill>
                  <a:schemeClr val="bg2">
                    <a:lumMod val="25000"/>
                  </a:schemeClr>
                </a:solidFill>
                <a:cs typeface="+mn-ea"/>
                <a:sym typeface="+mn-lt"/>
              </a:rPr>
              <a:t>日            </a:t>
            </a:r>
            <a:r>
              <a:rPr lang="en-US" altLang="zh-CN" sz="1600" dirty="0">
                <a:solidFill>
                  <a:schemeClr val="bg2">
                    <a:lumMod val="25000"/>
                  </a:schemeClr>
                </a:solidFill>
                <a:cs typeface="+mn-ea"/>
                <a:sym typeface="+mn-lt"/>
              </a:rPr>
              <a:t>120</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10</a:t>
            </a:r>
            <a:r>
              <a:rPr lang="zh-CN" altLang="en-US" sz="1600" dirty="0">
                <a:solidFill>
                  <a:schemeClr val="bg2">
                    <a:lumMod val="25000"/>
                  </a:schemeClr>
                </a:solidFill>
                <a:cs typeface="+mn-ea"/>
                <a:sym typeface="+mn-lt"/>
              </a:rPr>
              <a:t>月</a:t>
            </a:r>
            <a:r>
              <a:rPr lang="en-US" altLang="zh-CN" sz="1600" dirty="0">
                <a:solidFill>
                  <a:schemeClr val="bg2">
                    <a:lumMod val="25000"/>
                  </a:schemeClr>
                </a:solidFill>
                <a:cs typeface="+mn-ea"/>
                <a:sym typeface="+mn-lt"/>
              </a:rPr>
              <a:t>29</a:t>
            </a:r>
            <a:r>
              <a:rPr lang="zh-CN" altLang="en-US" sz="1600" dirty="0">
                <a:solidFill>
                  <a:schemeClr val="bg2">
                    <a:lumMod val="25000"/>
                  </a:schemeClr>
                </a:solidFill>
                <a:cs typeface="+mn-ea"/>
                <a:sym typeface="+mn-lt"/>
              </a:rPr>
              <a:t>入            </a:t>
            </a:r>
            <a:r>
              <a:rPr lang="en-US" altLang="zh-CN" sz="1600" dirty="0">
                <a:solidFill>
                  <a:schemeClr val="bg2">
                    <a:lumMod val="25000"/>
                  </a:schemeClr>
                </a:solidFill>
                <a:cs typeface="+mn-ea"/>
                <a:sym typeface="+mn-lt"/>
              </a:rPr>
              <a:t>1</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11</a:t>
            </a:r>
            <a:r>
              <a:rPr lang="zh-CN" altLang="en-US" sz="1600" dirty="0">
                <a:solidFill>
                  <a:schemeClr val="bg2">
                    <a:lumMod val="25000"/>
                  </a:schemeClr>
                </a:solidFill>
                <a:cs typeface="+mn-ea"/>
                <a:sym typeface="+mn-lt"/>
              </a:rPr>
              <a:t>月</a:t>
            </a:r>
            <a:r>
              <a:rPr lang="en-US" altLang="zh-CN" sz="1600" dirty="0">
                <a:solidFill>
                  <a:schemeClr val="bg2">
                    <a:lumMod val="25000"/>
                  </a:schemeClr>
                </a:solidFill>
                <a:cs typeface="+mn-ea"/>
                <a:sym typeface="+mn-lt"/>
              </a:rPr>
              <a:t>9</a:t>
            </a:r>
            <a:r>
              <a:rPr lang="zh-CN" altLang="en-US" sz="1600" dirty="0">
                <a:solidFill>
                  <a:schemeClr val="bg2">
                    <a:lumMod val="25000"/>
                  </a:schemeClr>
                </a:solidFill>
                <a:cs typeface="+mn-ea"/>
                <a:sym typeface="+mn-lt"/>
              </a:rPr>
              <a:t>日               </a:t>
            </a:r>
            <a:r>
              <a:rPr lang="en-US" altLang="zh-CN" sz="1600" dirty="0">
                <a:solidFill>
                  <a:schemeClr val="bg2">
                    <a:lumMod val="25000"/>
                  </a:schemeClr>
                </a:solidFill>
                <a:cs typeface="+mn-ea"/>
                <a:sym typeface="+mn-lt"/>
              </a:rPr>
              <a:t>5</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马克</a:t>
            </a:r>
          </a:p>
          <a:p>
            <a:pPr marL="0" indent="0"/>
            <a:r>
              <a:rPr lang="en-US" altLang="zh-CN" sz="1600" dirty="0">
                <a:solidFill>
                  <a:schemeClr val="bg2">
                    <a:lumMod val="25000"/>
                  </a:schemeClr>
                </a:solidFill>
                <a:cs typeface="+mn-ea"/>
                <a:sym typeface="+mn-lt"/>
              </a:rPr>
              <a:t>11</a:t>
            </a:r>
            <a:r>
              <a:rPr lang="zh-CN" altLang="en-US" sz="1600" dirty="0">
                <a:solidFill>
                  <a:schemeClr val="bg2">
                    <a:lumMod val="25000"/>
                  </a:schemeClr>
                </a:solidFill>
                <a:cs typeface="+mn-ea"/>
                <a:sym typeface="+mn-lt"/>
              </a:rPr>
              <a:t>月</a:t>
            </a:r>
            <a:r>
              <a:rPr lang="en-US" altLang="zh-CN" sz="1600" dirty="0">
                <a:solidFill>
                  <a:schemeClr val="bg2">
                    <a:lumMod val="25000"/>
                  </a:schemeClr>
                </a:solidFill>
                <a:cs typeface="+mn-ea"/>
                <a:sym typeface="+mn-lt"/>
              </a:rPr>
              <a:t>17</a:t>
            </a:r>
            <a:r>
              <a:rPr lang="zh-CN" altLang="en-US" sz="1600" dirty="0">
                <a:solidFill>
                  <a:schemeClr val="bg2">
                    <a:lumMod val="25000"/>
                  </a:schemeClr>
                </a:solidFill>
                <a:cs typeface="+mn-ea"/>
                <a:sym typeface="+mn-lt"/>
              </a:rPr>
              <a:t>日             </a:t>
            </a:r>
            <a:r>
              <a:rPr lang="en-US" altLang="zh-CN" sz="1600" dirty="0">
                <a:solidFill>
                  <a:schemeClr val="bg2">
                    <a:lumMod val="25000"/>
                  </a:schemeClr>
                </a:solidFill>
                <a:cs typeface="+mn-ea"/>
                <a:sym typeface="+mn-lt"/>
              </a:rPr>
              <a:t>70</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a:t>
            </a:r>
            <a:r>
              <a:rPr lang="en-US" altLang="zh-CN" sz="1600" dirty="0">
                <a:solidFill>
                  <a:schemeClr val="bg2">
                    <a:lumMod val="25000"/>
                  </a:schemeClr>
                </a:solidFill>
                <a:cs typeface="+mn-ea"/>
                <a:sym typeface="+mn-lt"/>
              </a:rPr>
              <a:t>000</a:t>
            </a:r>
            <a:r>
              <a:rPr lang="zh-CN" altLang="en-US" sz="1600" dirty="0">
                <a:solidFill>
                  <a:schemeClr val="bg2">
                    <a:lumMod val="25000"/>
                  </a:schemeClr>
                </a:solidFill>
                <a:cs typeface="+mn-ea"/>
                <a:sym typeface="+mn-lt"/>
              </a:rPr>
              <a:t>马克</a:t>
            </a:r>
            <a:endParaRPr lang="zh-CN" altLang="en-US" sz="1600" dirty="0">
              <a:cs typeface="+mn-ea"/>
              <a:sym typeface="+mn-lt"/>
            </a:endParaRP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34</a:t>
            </a:fld>
            <a:endParaRPr lang="zh-CN" altLang="en-US"/>
          </a:p>
        </p:txBody>
      </p:sp>
      <p:pic>
        <p:nvPicPr>
          <p:cNvPr id="5" name="图片 4"/>
          <p:cNvPicPr>
            <a:picLocks noChangeAspect="1"/>
          </p:cNvPicPr>
          <p:nvPr/>
        </p:nvPicPr>
        <p:blipFill>
          <a:blip r:embed="rId2"/>
          <a:stretch>
            <a:fillRect/>
          </a:stretch>
        </p:blipFill>
        <p:spPr>
          <a:xfrm>
            <a:off x="4572000" y="2073506"/>
            <a:ext cx="2509520" cy="1490345"/>
          </a:xfrm>
          <a:prstGeom prst="rect">
            <a:avLst/>
          </a:prstGeom>
        </p:spPr>
      </p:pic>
    </p:spTree>
    <p:extLst>
      <p:ext uri="{BB962C8B-B14F-4D97-AF65-F5344CB8AC3E}">
        <p14:creationId xmlns:p14="http://schemas.microsoft.com/office/powerpoint/2010/main" val="2255268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通货膨胀的经典案例：津巴布韦</a:t>
            </a:r>
          </a:p>
        </p:txBody>
      </p:sp>
      <p:sp>
        <p:nvSpPr>
          <p:cNvPr id="3" name="内容占位符 2"/>
          <p:cNvSpPr>
            <a:spLocks noGrp="1"/>
          </p:cNvSpPr>
          <p:nvPr>
            <p:ph idx="1"/>
          </p:nvPr>
        </p:nvSpPr>
        <p:spPr/>
        <p:txBody>
          <a:bodyPr/>
          <a:lstStyle/>
          <a:p>
            <a:r>
              <a:rPr lang="en-US" altLang="zh-CN" dirty="0">
                <a:solidFill>
                  <a:schemeClr val="bg2">
                    <a:lumMod val="25000"/>
                  </a:schemeClr>
                </a:solidFill>
                <a:cs typeface="+mn-ea"/>
                <a:sym typeface="+mn-lt"/>
              </a:rPr>
              <a:t>2000</a:t>
            </a:r>
            <a:r>
              <a:rPr lang="zh-CN" altLang="en-US" dirty="0">
                <a:solidFill>
                  <a:schemeClr val="bg2">
                    <a:lumMod val="25000"/>
                  </a:schemeClr>
                </a:solidFill>
                <a:cs typeface="+mn-ea"/>
                <a:sym typeface="+mn-lt"/>
              </a:rPr>
              <a:t>年，总统穆加贝开始大力推行“土地改革”政策，强行收回白人农场主的土地，将之分配给无地或少地的黑人。此举大大破坏了津巴布韦原有的经济体系，引发了粮食危机，该国的农业、旅游业和采矿业随之一落千丈。</a:t>
            </a:r>
          </a:p>
          <a:p>
            <a:r>
              <a:rPr lang="zh-CN" altLang="en-US" dirty="0">
                <a:solidFill>
                  <a:schemeClr val="bg2">
                    <a:lumMod val="25000"/>
                  </a:schemeClr>
                </a:solidFill>
                <a:cs typeface="+mn-ea"/>
                <a:sym typeface="+mn-lt"/>
              </a:rPr>
              <a:t>随后，美欧相继宣布对津巴布韦实施一系列制裁措施。西方的经济制裁使得津巴布韦国内经济每况愈下。</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35</a:t>
            </a:fld>
            <a:endParaRPr lang="zh-CN" altLang="en-US"/>
          </a:p>
        </p:txBody>
      </p:sp>
    </p:spTree>
    <p:extLst>
      <p:ext uri="{BB962C8B-B14F-4D97-AF65-F5344CB8AC3E}">
        <p14:creationId xmlns:p14="http://schemas.microsoft.com/office/powerpoint/2010/main" val="3665806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通货膨胀的经典案例：津巴布韦</a:t>
            </a:r>
          </a:p>
        </p:txBody>
      </p:sp>
      <p:sp>
        <p:nvSpPr>
          <p:cNvPr id="3" name="内容占位符 2"/>
          <p:cNvSpPr>
            <a:spLocks noGrp="1"/>
          </p:cNvSpPr>
          <p:nvPr>
            <p:ph idx="1"/>
          </p:nvPr>
        </p:nvSpPr>
        <p:spPr/>
        <p:txBody>
          <a:bodyPr>
            <a:normAutofit fontScale="92500" lnSpcReduction="20000"/>
          </a:bodyPr>
          <a:lstStyle/>
          <a:p>
            <a:r>
              <a:rPr lang="zh-CN" altLang="en-US" dirty="0">
                <a:solidFill>
                  <a:schemeClr val="bg2">
                    <a:lumMod val="25000"/>
                  </a:schemeClr>
                </a:solidFill>
                <a:latin typeface="+mn-ea"/>
                <a:cs typeface="+mn-ea"/>
                <a:sym typeface="+mn-lt"/>
              </a:rPr>
              <a:t>到</a:t>
            </a:r>
            <a:r>
              <a:rPr lang="en-US" altLang="zh-CN" dirty="0">
                <a:solidFill>
                  <a:schemeClr val="bg2">
                    <a:lumMod val="25000"/>
                  </a:schemeClr>
                </a:solidFill>
                <a:latin typeface="+mn-ea"/>
                <a:cs typeface="+mn-ea"/>
                <a:sym typeface="+mn-lt"/>
              </a:rPr>
              <a:t>2006</a:t>
            </a:r>
            <a:r>
              <a:rPr lang="zh-CN" altLang="en-US" dirty="0">
                <a:solidFill>
                  <a:schemeClr val="bg2">
                    <a:lumMod val="25000"/>
                  </a:schemeClr>
                </a:solidFill>
                <a:latin typeface="+mn-ea"/>
                <a:cs typeface="+mn-ea"/>
                <a:sym typeface="+mn-lt"/>
              </a:rPr>
              <a:t>年，津巴布韦的年通胀率为</a:t>
            </a:r>
            <a:r>
              <a:rPr lang="en-US" altLang="zh-CN" b="1" dirty="0">
                <a:solidFill>
                  <a:srgbClr val="0070C0"/>
                </a:solidFill>
                <a:latin typeface="+mn-ea"/>
                <a:cs typeface="+mn-ea"/>
                <a:sym typeface="+mn-lt"/>
              </a:rPr>
              <a:t>1042.9%</a:t>
            </a:r>
            <a:r>
              <a:rPr lang="zh-CN" altLang="en-US" dirty="0">
                <a:solidFill>
                  <a:schemeClr val="bg2">
                    <a:lumMod val="25000"/>
                  </a:schemeClr>
                </a:solidFill>
                <a:latin typeface="+mn-ea"/>
                <a:cs typeface="+mn-ea"/>
                <a:sym typeface="+mn-lt"/>
              </a:rPr>
              <a:t>，</a:t>
            </a:r>
            <a:r>
              <a:rPr lang="en-US" altLang="zh-CN" dirty="0">
                <a:solidFill>
                  <a:schemeClr val="bg2">
                    <a:lumMod val="25000"/>
                  </a:schemeClr>
                </a:solidFill>
                <a:latin typeface="+mn-ea"/>
                <a:cs typeface="+mn-ea"/>
                <a:sym typeface="+mn-lt"/>
              </a:rPr>
              <a:t>2007</a:t>
            </a:r>
            <a:r>
              <a:rPr lang="zh-CN" altLang="en-US" dirty="0">
                <a:solidFill>
                  <a:schemeClr val="bg2">
                    <a:lumMod val="25000"/>
                  </a:schemeClr>
                </a:solidFill>
                <a:latin typeface="+mn-ea"/>
                <a:cs typeface="+mn-ea"/>
                <a:sym typeface="+mn-lt"/>
              </a:rPr>
              <a:t>年则冲到</a:t>
            </a:r>
            <a:r>
              <a:rPr lang="en-US" altLang="zh-CN" b="1" dirty="0">
                <a:solidFill>
                  <a:srgbClr val="0070C0"/>
                </a:solidFill>
                <a:latin typeface="+mn-ea"/>
                <a:cs typeface="+mn-ea"/>
                <a:sym typeface="+mn-lt"/>
              </a:rPr>
              <a:t>10000%</a:t>
            </a:r>
            <a:r>
              <a:rPr lang="zh-CN" altLang="en-US" b="1" dirty="0">
                <a:solidFill>
                  <a:srgbClr val="0070C0"/>
                </a:solidFill>
                <a:latin typeface="+mn-ea"/>
                <a:cs typeface="+mn-ea"/>
                <a:sym typeface="+mn-lt"/>
              </a:rPr>
              <a:t>以上</a:t>
            </a:r>
            <a:r>
              <a:rPr lang="zh-CN" altLang="en-US" dirty="0">
                <a:solidFill>
                  <a:schemeClr val="bg2">
                    <a:lumMod val="25000"/>
                  </a:schemeClr>
                </a:solidFill>
                <a:latin typeface="+mn-ea"/>
                <a:cs typeface="+mn-ea"/>
                <a:sym typeface="+mn-lt"/>
              </a:rPr>
              <a:t>。到了</a:t>
            </a:r>
            <a:r>
              <a:rPr lang="en-US" altLang="zh-CN" dirty="0">
                <a:solidFill>
                  <a:schemeClr val="bg2">
                    <a:lumMod val="25000"/>
                  </a:schemeClr>
                </a:solidFill>
                <a:latin typeface="+mn-ea"/>
                <a:cs typeface="+mn-ea"/>
                <a:sym typeface="+mn-lt"/>
              </a:rPr>
              <a:t>2008</a:t>
            </a:r>
            <a:r>
              <a:rPr lang="zh-CN" altLang="en-US" dirty="0">
                <a:solidFill>
                  <a:schemeClr val="bg2">
                    <a:lumMod val="25000"/>
                  </a:schemeClr>
                </a:solidFill>
                <a:latin typeface="+mn-ea"/>
                <a:cs typeface="+mn-ea"/>
                <a:sym typeface="+mn-lt"/>
              </a:rPr>
              <a:t>年</a:t>
            </a:r>
            <a:r>
              <a:rPr lang="en-US" altLang="zh-CN" dirty="0">
                <a:solidFill>
                  <a:schemeClr val="bg2">
                    <a:lumMod val="25000"/>
                  </a:schemeClr>
                </a:solidFill>
                <a:latin typeface="+mn-ea"/>
                <a:cs typeface="+mn-ea"/>
                <a:sym typeface="+mn-lt"/>
              </a:rPr>
              <a:t>6</a:t>
            </a:r>
            <a:r>
              <a:rPr lang="zh-CN" altLang="en-US" dirty="0">
                <a:solidFill>
                  <a:schemeClr val="bg2">
                    <a:lumMod val="25000"/>
                  </a:schemeClr>
                </a:solidFill>
                <a:latin typeface="+mn-ea"/>
                <a:cs typeface="+mn-ea"/>
                <a:sym typeface="+mn-lt"/>
              </a:rPr>
              <a:t>月末，津巴布韦货币的汇率已跌至</a:t>
            </a:r>
            <a:r>
              <a:rPr lang="en-US" altLang="zh-CN" b="1" dirty="0">
                <a:solidFill>
                  <a:srgbClr val="0070C0"/>
                </a:solidFill>
                <a:latin typeface="+mn-ea"/>
                <a:cs typeface="+mn-ea"/>
                <a:sym typeface="+mn-lt"/>
              </a:rPr>
              <a:t>1</a:t>
            </a:r>
            <a:r>
              <a:rPr lang="zh-CN" altLang="en-US" b="1" dirty="0">
                <a:solidFill>
                  <a:srgbClr val="0070C0"/>
                </a:solidFill>
                <a:latin typeface="+mn-ea"/>
                <a:cs typeface="+mn-ea"/>
                <a:sym typeface="+mn-lt"/>
              </a:rPr>
              <a:t>美元兑</a:t>
            </a:r>
            <a:r>
              <a:rPr lang="en-US" altLang="zh-CN" b="1" dirty="0">
                <a:solidFill>
                  <a:srgbClr val="0070C0"/>
                </a:solidFill>
                <a:latin typeface="+mn-ea"/>
                <a:cs typeface="+mn-ea"/>
                <a:sym typeface="+mn-lt"/>
              </a:rPr>
              <a:t>1000</a:t>
            </a:r>
            <a:r>
              <a:rPr lang="zh-CN" altLang="en-US" b="1" dirty="0">
                <a:solidFill>
                  <a:srgbClr val="0070C0"/>
                </a:solidFill>
                <a:latin typeface="+mn-ea"/>
                <a:cs typeface="+mn-ea"/>
                <a:sym typeface="+mn-lt"/>
              </a:rPr>
              <a:t>亿津巴布韦元</a:t>
            </a:r>
            <a:r>
              <a:rPr lang="zh-CN" altLang="en-US" dirty="0">
                <a:solidFill>
                  <a:schemeClr val="bg2">
                    <a:lumMod val="25000"/>
                  </a:schemeClr>
                </a:solidFill>
                <a:latin typeface="+mn-ea"/>
                <a:cs typeface="+mn-ea"/>
                <a:sym typeface="+mn-lt"/>
              </a:rPr>
              <a:t>，</a:t>
            </a:r>
            <a:r>
              <a:rPr lang="zh-CN" altLang="en-US" b="1" dirty="0">
                <a:solidFill>
                  <a:srgbClr val="0070C0"/>
                </a:solidFill>
                <a:latin typeface="+mn-ea"/>
                <a:cs typeface="+mn-ea"/>
                <a:sym typeface="+mn-lt"/>
              </a:rPr>
              <a:t>而厚厚一沓纸币凑够的</a:t>
            </a:r>
            <a:r>
              <a:rPr lang="en-US" altLang="zh-CN" b="1" dirty="0">
                <a:solidFill>
                  <a:srgbClr val="0070C0"/>
                </a:solidFill>
                <a:latin typeface="+mn-ea"/>
                <a:cs typeface="+mn-ea"/>
                <a:sym typeface="+mn-lt"/>
              </a:rPr>
              <a:t>1000</a:t>
            </a:r>
            <a:r>
              <a:rPr lang="zh-CN" altLang="en-US" b="1" dirty="0">
                <a:solidFill>
                  <a:srgbClr val="0070C0"/>
                </a:solidFill>
                <a:latin typeface="+mn-ea"/>
                <a:cs typeface="+mn-ea"/>
                <a:sym typeface="+mn-lt"/>
              </a:rPr>
              <a:t>亿却只能买到一个面包</a:t>
            </a:r>
            <a:r>
              <a:rPr lang="zh-CN" altLang="en-US" dirty="0">
                <a:solidFill>
                  <a:srgbClr val="0070C0"/>
                </a:solidFill>
                <a:latin typeface="+mn-ea"/>
                <a:cs typeface="+mn-ea"/>
                <a:sym typeface="+mn-lt"/>
              </a:rPr>
              <a:t>。</a:t>
            </a:r>
          </a:p>
          <a:p>
            <a:r>
              <a:rPr lang="en-US" altLang="zh-CN" dirty="0">
                <a:solidFill>
                  <a:schemeClr val="bg2">
                    <a:lumMod val="25000"/>
                  </a:schemeClr>
                </a:solidFill>
                <a:latin typeface="+mn-ea"/>
                <a:cs typeface="+mn-ea"/>
                <a:sym typeface="+mn-lt"/>
              </a:rPr>
              <a:t>2008</a:t>
            </a:r>
            <a:r>
              <a:rPr lang="zh-CN" altLang="en-US" dirty="0">
                <a:solidFill>
                  <a:schemeClr val="bg2">
                    <a:lumMod val="25000"/>
                  </a:schemeClr>
                </a:solidFill>
                <a:latin typeface="+mn-ea"/>
                <a:cs typeface="+mn-ea"/>
                <a:sym typeface="+mn-lt"/>
              </a:rPr>
              <a:t>年，津巴布韦政府多次推出大面值纸币，从年初的</a:t>
            </a:r>
            <a:r>
              <a:rPr lang="en-US" altLang="zh-CN" dirty="0">
                <a:solidFill>
                  <a:srgbClr val="0070C0"/>
                </a:solidFill>
                <a:latin typeface="+mn-ea"/>
                <a:cs typeface="+mn-ea"/>
                <a:sym typeface="+mn-lt"/>
              </a:rPr>
              <a:t>1000</a:t>
            </a:r>
            <a:r>
              <a:rPr lang="zh-CN" altLang="en-US" dirty="0">
                <a:solidFill>
                  <a:srgbClr val="0070C0"/>
                </a:solidFill>
                <a:latin typeface="+mn-ea"/>
                <a:cs typeface="+mn-ea"/>
                <a:sym typeface="+mn-lt"/>
              </a:rPr>
              <a:t>万面额到</a:t>
            </a:r>
            <a:r>
              <a:rPr lang="en-US" altLang="zh-CN" dirty="0">
                <a:solidFill>
                  <a:srgbClr val="0070C0"/>
                </a:solidFill>
                <a:latin typeface="+mn-ea"/>
                <a:cs typeface="+mn-ea"/>
                <a:sym typeface="+mn-lt"/>
              </a:rPr>
              <a:t>5000</a:t>
            </a:r>
            <a:r>
              <a:rPr lang="zh-CN" altLang="en-US" dirty="0">
                <a:solidFill>
                  <a:srgbClr val="0070C0"/>
                </a:solidFill>
                <a:latin typeface="+mn-ea"/>
                <a:cs typeface="+mn-ea"/>
                <a:sym typeface="+mn-lt"/>
              </a:rPr>
              <a:t>万、</a:t>
            </a:r>
            <a:r>
              <a:rPr lang="en-US" altLang="zh-CN" dirty="0">
                <a:solidFill>
                  <a:srgbClr val="0070C0"/>
                </a:solidFill>
                <a:latin typeface="+mn-ea"/>
                <a:cs typeface="+mn-ea"/>
                <a:sym typeface="+mn-lt"/>
              </a:rPr>
              <a:t>2.5</a:t>
            </a:r>
            <a:r>
              <a:rPr lang="zh-CN" altLang="en-US" dirty="0">
                <a:solidFill>
                  <a:srgbClr val="0070C0"/>
                </a:solidFill>
                <a:latin typeface="+mn-ea"/>
                <a:cs typeface="+mn-ea"/>
                <a:sym typeface="+mn-lt"/>
              </a:rPr>
              <a:t>亿</a:t>
            </a:r>
            <a:r>
              <a:rPr lang="zh-CN" altLang="en-US" dirty="0">
                <a:solidFill>
                  <a:schemeClr val="bg2">
                    <a:lumMod val="25000"/>
                  </a:schemeClr>
                </a:solidFill>
                <a:latin typeface="+mn-ea"/>
                <a:cs typeface="+mn-ea"/>
                <a:sym typeface="+mn-lt"/>
              </a:rPr>
              <a:t>。到了</a:t>
            </a:r>
            <a:r>
              <a:rPr lang="en-US" altLang="zh-CN" dirty="0">
                <a:solidFill>
                  <a:schemeClr val="bg2">
                    <a:lumMod val="25000"/>
                  </a:schemeClr>
                </a:solidFill>
                <a:latin typeface="+mn-ea"/>
                <a:cs typeface="+mn-ea"/>
                <a:sym typeface="+mn-lt"/>
              </a:rPr>
              <a:t>8</a:t>
            </a:r>
            <a:r>
              <a:rPr lang="zh-CN" altLang="en-US" dirty="0">
                <a:solidFill>
                  <a:schemeClr val="bg2">
                    <a:lumMod val="25000"/>
                  </a:schemeClr>
                </a:solidFill>
                <a:latin typeface="+mn-ea"/>
                <a:cs typeface="+mn-ea"/>
                <a:sym typeface="+mn-lt"/>
              </a:rPr>
              <a:t>月，政府开始发行第三代津元，</a:t>
            </a:r>
            <a:r>
              <a:rPr lang="zh-CN" altLang="en-US" b="1" dirty="0">
                <a:solidFill>
                  <a:srgbClr val="0070C0"/>
                </a:solidFill>
                <a:latin typeface="+mn-ea"/>
                <a:cs typeface="+mn-ea"/>
                <a:sym typeface="+mn-lt"/>
              </a:rPr>
              <a:t>新货币的</a:t>
            </a:r>
            <a:r>
              <a:rPr lang="en-US" altLang="zh-CN" b="1" dirty="0">
                <a:solidFill>
                  <a:srgbClr val="0070C0"/>
                </a:solidFill>
                <a:latin typeface="+mn-ea"/>
                <a:cs typeface="+mn-ea"/>
                <a:sym typeface="+mn-lt"/>
              </a:rPr>
              <a:t>1</a:t>
            </a:r>
            <a:r>
              <a:rPr lang="zh-CN" altLang="en-US" b="1" dirty="0">
                <a:solidFill>
                  <a:srgbClr val="0070C0"/>
                </a:solidFill>
                <a:latin typeface="+mn-ea"/>
                <a:cs typeface="+mn-ea"/>
                <a:sym typeface="+mn-lt"/>
              </a:rPr>
              <a:t>元相等于上一代的</a:t>
            </a:r>
            <a:r>
              <a:rPr lang="en-US" altLang="zh-CN" b="1" dirty="0">
                <a:solidFill>
                  <a:srgbClr val="0070C0"/>
                </a:solidFill>
                <a:latin typeface="+mn-ea"/>
                <a:cs typeface="+mn-ea"/>
                <a:sym typeface="+mn-lt"/>
              </a:rPr>
              <a:t>100</a:t>
            </a:r>
            <a:r>
              <a:rPr lang="zh-CN" altLang="en-US" b="1" dirty="0">
                <a:solidFill>
                  <a:srgbClr val="0070C0"/>
                </a:solidFill>
                <a:latin typeface="+mn-ea"/>
                <a:cs typeface="+mn-ea"/>
                <a:sym typeface="+mn-lt"/>
              </a:rPr>
              <a:t>亿津元</a:t>
            </a:r>
            <a:r>
              <a:rPr lang="zh-CN" altLang="en-US" dirty="0">
                <a:solidFill>
                  <a:schemeClr val="bg2">
                    <a:lumMod val="25000"/>
                  </a:schemeClr>
                </a:solidFill>
                <a:latin typeface="+mn-ea"/>
                <a:cs typeface="+mn-ea"/>
                <a:sym typeface="+mn-lt"/>
              </a:rPr>
              <a:t>。但这一举措并未见效，</a:t>
            </a:r>
            <a:r>
              <a:rPr lang="en-US" altLang="zh-CN" dirty="0">
                <a:solidFill>
                  <a:schemeClr val="bg2">
                    <a:lumMod val="25000"/>
                  </a:schemeClr>
                </a:solidFill>
                <a:latin typeface="+mn-ea"/>
                <a:cs typeface="+mn-ea"/>
                <a:sym typeface="+mn-lt"/>
              </a:rPr>
              <a:t>2008</a:t>
            </a:r>
            <a:r>
              <a:rPr lang="zh-CN" altLang="en-US" dirty="0">
                <a:solidFill>
                  <a:schemeClr val="bg2">
                    <a:lumMod val="25000"/>
                  </a:schemeClr>
                </a:solidFill>
                <a:latin typeface="+mn-ea"/>
                <a:cs typeface="+mn-ea"/>
                <a:sym typeface="+mn-lt"/>
              </a:rPr>
              <a:t>年</a:t>
            </a:r>
            <a:r>
              <a:rPr lang="en-US" altLang="zh-CN" dirty="0">
                <a:solidFill>
                  <a:schemeClr val="bg2">
                    <a:lumMod val="25000"/>
                  </a:schemeClr>
                </a:solidFill>
                <a:latin typeface="+mn-ea"/>
                <a:cs typeface="+mn-ea"/>
                <a:sym typeface="+mn-lt"/>
              </a:rPr>
              <a:t>12</a:t>
            </a:r>
            <a:r>
              <a:rPr lang="zh-CN" altLang="en-US" dirty="0">
                <a:solidFill>
                  <a:schemeClr val="bg2">
                    <a:lumMod val="25000"/>
                  </a:schemeClr>
                </a:solidFill>
                <a:latin typeface="+mn-ea"/>
                <a:cs typeface="+mn-ea"/>
                <a:sym typeface="+mn-lt"/>
              </a:rPr>
              <a:t>月</a:t>
            </a:r>
            <a:r>
              <a:rPr lang="en-US" altLang="zh-CN" dirty="0">
                <a:solidFill>
                  <a:schemeClr val="bg2">
                    <a:lumMod val="25000"/>
                  </a:schemeClr>
                </a:solidFill>
                <a:latin typeface="+mn-ea"/>
                <a:cs typeface="+mn-ea"/>
                <a:sym typeface="+mn-lt"/>
              </a:rPr>
              <a:t>4</a:t>
            </a:r>
            <a:r>
              <a:rPr lang="zh-CN" altLang="en-US" dirty="0">
                <a:solidFill>
                  <a:schemeClr val="bg2">
                    <a:lumMod val="25000"/>
                  </a:schemeClr>
                </a:solidFill>
                <a:latin typeface="+mn-ea"/>
                <a:cs typeface="+mn-ea"/>
                <a:sym typeface="+mn-lt"/>
              </a:rPr>
              <a:t>日，政府推出了新版面额为</a:t>
            </a:r>
            <a:r>
              <a:rPr lang="en-US" altLang="zh-CN" dirty="0">
                <a:solidFill>
                  <a:srgbClr val="0070C0"/>
                </a:solidFill>
                <a:latin typeface="+mn-ea"/>
                <a:cs typeface="+mn-ea"/>
                <a:sym typeface="+mn-lt"/>
              </a:rPr>
              <a:t>1000</a:t>
            </a:r>
            <a:r>
              <a:rPr lang="zh-CN" altLang="en-US" dirty="0">
                <a:solidFill>
                  <a:srgbClr val="0070C0"/>
                </a:solidFill>
                <a:latin typeface="+mn-ea"/>
                <a:cs typeface="+mn-ea"/>
                <a:sym typeface="+mn-lt"/>
              </a:rPr>
              <a:t>万、</a:t>
            </a:r>
            <a:r>
              <a:rPr lang="en-US" altLang="zh-CN" dirty="0">
                <a:solidFill>
                  <a:srgbClr val="0070C0"/>
                </a:solidFill>
                <a:latin typeface="+mn-ea"/>
                <a:cs typeface="+mn-ea"/>
                <a:sym typeface="+mn-lt"/>
              </a:rPr>
              <a:t>5000</a:t>
            </a:r>
            <a:r>
              <a:rPr lang="zh-CN" altLang="en-US" dirty="0">
                <a:solidFill>
                  <a:srgbClr val="0070C0"/>
                </a:solidFill>
                <a:latin typeface="+mn-ea"/>
                <a:cs typeface="+mn-ea"/>
                <a:sym typeface="+mn-lt"/>
              </a:rPr>
              <a:t>万和</a:t>
            </a:r>
            <a:r>
              <a:rPr lang="en-US" altLang="zh-CN" dirty="0">
                <a:solidFill>
                  <a:srgbClr val="0070C0"/>
                </a:solidFill>
                <a:latin typeface="+mn-ea"/>
                <a:cs typeface="+mn-ea"/>
                <a:sym typeface="+mn-lt"/>
              </a:rPr>
              <a:t>1</a:t>
            </a:r>
            <a:r>
              <a:rPr lang="zh-CN" altLang="en-US" dirty="0">
                <a:solidFill>
                  <a:srgbClr val="0070C0"/>
                </a:solidFill>
                <a:latin typeface="+mn-ea"/>
                <a:cs typeface="+mn-ea"/>
                <a:sym typeface="+mn-lt"/>
              </a:rPr>
              <a:t>亿津元</a:t>
            </a:r>
            <a:r>
              <a:rPr lang="zh-CN" altLang="en-US" dirty="0">
                <a:solidFill>
                  <a:schemeClr val="bg2">
                    <a:lumMod val="25000"/>
                  </a:schemeClr>
                </a:solidFill>
                <a:latin typeface="+mn-ea"/>
                <a:cs typeface="+mn-ea"/>
                <a:sym typeface="+mn-lt"/>
              </a:rPr>
              <a:t>三种新钞；</a:t>
            </a:r>
            <a:r>
              <a:rPr lang="en-US" altLang="zh-CN" dirty="0">
                <a:solidFill>
                  <a:schemeClr val="bg2">
                    <a:lumMod val="25000"/>
                  </a:schemeClr>
                </a:solidFill>
                <a:latin typeface="+mn-ea"/>
                <a:cs typeface="+mn-ea"/>
                <a:sym typeface="+mn-lt"/>
              </a:rPr>
              <a:t>12</a:t>
            </a:r>
            <a:r>
              <a:rPr lang="zh-CN" altLang="en-US" dirty="0">
                <a:solidFill>
                  <a:schemeClr val="bg2">
                    <a:lumMod val="25000"/>
                  </a:schemeClr>
                </a:solidFill>
                <a:latin typeface="+mn-ea"/>
                <a:cs typeface="+mn-ea"/>
                <a:sym typeface="+mn-lt"/>
              </a:rPr>
              <a:t>月</a:t>
            </a:r>
            <a:r>
              <a:rPr lang="en-US" altLang="zh-CN" dirty="0">
                <a:solidFill>
                  <a:schemeClr val="bg2">
                    <a:lumMod val="25000"/>
                  </a:schemeClr>
                </a:solidFill>
                <a:latin typeface="+mn-ea"/>
                <a:cs typeface="+mn-ea"/>
                <a:sym typeface="+mn-lt"/>
              </a:rPr>
              <a:t>12</a:t>
            </a:r>
            <a:r>
              <a:rPr lang="zh-CN" altLang="en-US" dirty="0">
                <a:solidFill>
                  <a:schemeClr val="bg2">
                    <a:lumMod val="25000"/>
                  </a:schemeClr>
                </a:solidFill>
                <a:latin typeface="+mn-ea"/>
                <a:cs typeface="+mn-ea"/>
                <a:sym typeface="+mn-lt"/>
              </a:rPr>
              <a:t>日，推出面额</a:t>
            </a:r>
            <a:r>
              <a:rPr lang="en-US" altLang="zh-CN" dirty="0">
                <a:solidFill>
                  <a:srgbClr val="0070C0"/>
                </a:solidFill>
                <a:latin typeface="+mn-ea"/>
                <a:cs typeface="+mn-ea"/>
                <a:sym typeface="+mn-lt"/>
              </a:rPr>
              <a:t>5</a:t>
            </a:r>
            <a:r>
              <a:rPr lang="zh-CN" altLang="en-US" dirty="0">
                <a:solidFill>
                  <a:srgbClr val="0070C0"/>
                </a:solidFill>
                <a:latin typeface="+mn-ea"/>
                <a:cs typeface="+mn-ea"/>
                <a:sym typeface="+mn-lt"/>
              </a:rPr>
              <a:t>亿</a:t>
            </a:r>
            <a:r>
              <a:rPr lang="zh-CN" altLang="en-US" dirty="0">
                <a:solidFill>
                  <a:schemeClr val="bg2">
                    <a:lumMod val="25000"/>
                  </a:schemeClr>
                </a:solidFill>
                <a:latin typeface="+mn-ea"/>
                <a:cs typeface="+mn-ea"/>
                <a:sym typeface="+mn-lt"/>
              </a:rPr>
              <a:t>的钞票；</a:t>
            </a:r>
            <a:r>
              <a:rPr lang="en-US" altLang="zh-CN" dirty="0">
                <a:solidFill>
                  <a:schemeClr val="bg2">
                    <a:lumMod val="25000"/>
                  </a:schemeClr>
                </a:solidFill>
                <a:latin typeface="+mn-ea"/>
                <a:cs typeface="+mn-ea"/>
                <a:sym typeface="+mn-lt"/>
              </a:rPr>
              <a:t>12</a:t>
            </a:r>
            <a:r>
              <a:rPr lang="zh-CN" altLang="en-US" dirty="0">
                <a:solidFill>
                  <a:schemeClr val="bg2">
                    <a:lumMod val="25000"/>
                  </a:schemeClr>
                </a:solidFill>
                <a:latin typeface="+mn-ea"/>
                <a:cs typeface="+mn-ea"/>
                <a:sym typeface="+mn-lt"/>
              </a:rPr>
              <a:t>月</a:t>
            </a:r>
            <a:r>
              <a:rPr lang="en-US" altLang="zh-CN" dirty="0">
                <a:solidFill>
                  <a:schemeClr val="bg2">
                    <a:lumMod val="25000"/>
                  </a:schemeClr>
                </a:solidFill>
                <a:latin typeface="+mn-ea"/>
                <a:cs typeface="+mn-ea"/>
                <a:sym typeface="+mn-lt"/>
              </a:rPr>
              <a:t>19</a:t>
            </a:r>
            <a:r>
              <a:rPr lang="zh-CN" altLang="en-US" dirty="0">
                <a:solidFill>
                  <a:schemeClr val="bg2">
                    <a:lumMod val="25000"/>
                  </a:schemeClr>
                </a:solidFill>
                <a:latin typeface="+mn-ea"/>
                <a:cs typeface="+mn-ea"/>
                <a:sym typeface="+mn-lt"/>
              </a:rPr>
              <a:t>日，面额</a:t>
            </a:r>
            <a:r>
              <a:rPr lang="en-US" altLang="zh-CN" dirty="0">
                <a:solidFill>
                  <a:srgbClr val="0070C0"/>
                </a:solidFill>
                <a:latin typeface="+mn-ea"/>
                <a:cs typeface="+mn-ea"/>
                <a:sym typeface="+mn-lt"/>
              </a:rPr>
              <a:t>100</a:t>
            </a:r>
            <a:r>
              <a:rPr lang="zh-CN" altLang="en-US" dirty="0">
                <a:solidFill>
                  <a:srgbClr val="0070C0"/>
                </a:solidFill>
                <a:latin typeface="+mn-ea"/>
                <a:cs typeface="+mn-ea"/>
                <a:sym typeface="+mn-lt"/>
              </a:rPr>
              <a:t>亿</a:t>
            </a:r>
            <a:r>
              <a:rPr lang="zh-CN" altLang="en-US" dirty="0">
                <a:solidFill>
                  <a:schemeClr val="bg2">
                    <a:lumMod val="25000"/>
                  </a:schemeClr>
                </a:solidFill>
                <a:latin typeface="+mn-ea"/>
                <a:cs typeface="+mn-ea"/>
                <a:sym typeface="+mn-lt"/>
              </a:rPr>
              <a:t>的钞票正式问世。</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36</a:t>
            </a:fld>
            <a:endParaRPr lang="zh-CN" altLang="en-US"/>
          </a:p>
        </p:txBody>
      </p:sp>
    </p:spTree>
    <p:extLst>
      <p:ext uri="{BB962C8B-B14F-4D97-AF65-F5344CB8AC3E}">
        <p14:creationId xmlns:p14="http://schemas.microsoft.com/office/powerpoint/2010/main" val="30536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通货膨胀的经典案例：津巴布韦</a:t>
            </a:r>
          </a:p>
        </p:txBody>
      </p:sp>
      <p:sp>
        <p:nvSpPr>
          <p:cNvPr id="3" name="内容占位符 2"/>
          <p:cNvSpPr>
            <a:spLocks noGrp="1"/>
          </p:cNvSpPr>
          <p:nvPr>
            <p:ph idx="1"/>
          </p:nvPr>
        </p:nvSpPr>
        <p:spPr/>
        <p:txBody>
          <a:bodyPr/>
          <a:lstStyle/>
          <a:p>
            <a:r>
              <a:rPr lang="en-US" altLang="zh-CN" sz="2000" dirty="0">
                <a:solidFill>
                  <a:schemeClr val="bg2">
                    <a:lumMod val="25000"/>
                  </a:schemeClr>
                </a:solidFill>
                <a:latin typeface="+mn-ea"/>
                <a:cs typeface="+mn-ea"/>
                <a:sym typeface="+mn-lt"/>
              </a:rPr>
              <a:t>2009</a:t>
            </a:r>
            <a:r>
              <a:rPr lang="zh-CN" altLang="en-US" sz="2000" dirty="0">
                <a:solidFill>
                  <a:schemeClr val="bg2">
                    <a:lumMod val="25000"/>
                  </a:schemeClr>
                </a:solidFill>
                <a:latin typeface="+mn-ea"/>
                <a:cs typeface="+mn-ea"/>
                <a:sym typeface="+mn-lt"/>
              </a:rPr>
              <a:t>年，在推出了“</a:t>
            </a:r>
            <a:r>
              <a:rPr lang="en-US" altLang="zh-CN" sz="2000" dirty="0">
                <a:solidFill>
                  <a:schemeClr val="bg2">
                    <a:lumMod val="25000"/>
                  </a:schemeClr>
                </a:solidFill>
                <a:latin typeface="+mn-ea"/>
                <a:cs typeface="+mn-ea"/>
                <a:sym typeface="+mn-lt"/>
              </a:rPr>
              <a:t>1”</a:t>
            </a:r>
            <a:r>
              <a:rPr lang="zh-CN" altLang="en-US" sz="2000" dirty="0">
                <a:solidFill>
                  <a:schemeClr val="bg2">
                    <a:lumMod val="25000"/>
                  </a:schemeClr>
                </a:solidFill>
                <a:latin typeface="+mn-ea"/>
                <a:cs typeface="+mn-ea"/>
                <a:sym typeface="+mn-lt"/>
              </a:rPr>
              <a:t>后面紧跟着</a:t>
            </a:r>
            <a:r>
              <a:rPr lang="en-US" altLang="zh-CN" sz="2000" dirty="0">
                <a:solidFill>
                  <a:schemeClr val="bg2">
                    <a:lumMod val="25000"/>
                  </a:schemeClr>
                </a:solidFill>
                <a:latin typeface="+mn-ea"/>
                <a:cs typeface="+mn-ea"/>
                <a:sym typeface="+mn-lt"/>
              </a:rPr>
              <a:t>14</a:t>
            </a:r>
            <a:r>
              <a:rPr lang="zh-CN" altLang="en-US" sz="2000" dirty="0">
                <a:solidFill>
                  <a:schemeClr val="bg2">
                    <a:lumMod val="25000"/>
                  </a:schemeClr>
                </a:solidFill>
                <a:latin typeface="+mn-ea"/>
                <a:cs typeface="+mn-ea"/>
                <a:sym typeface="+mn-lt"/>
              </a:rPr>
              <a:t>个“</a:t>
            </a:r>
            <a:r>
              <a:rPr lang="en-US" altLang="zh-CN" sz="2000" dirty="0">
                <a:solidFill>
                  <a:schemeClr val="bg2">
                    <a:lumMod val="25000"/>
                  </a:schemeClr>
                </a:solidFill>
                <a:latin typeface="+mn-ea"/>
                <a:cs typeface="+mn-ea"/>
                <a:sym typeface="+mn-lt"/>
              </a:rPr>
              <a:t>0”</a:t>
            </a:r>
            <a:r>
              <a:rPr lang="zh-CN" altLang="en-US" sz="2000" dirty="0">
                <a:solidFill>
                  <a:schemeClr val="bg2">
                    <a:lumMod val="25000"/>
                  </a:schemeClr>
                </a:solidFill>
                <a:latin typeface="+mn-ea"/>
                <a:cs typeface="+mn-ea"/>
                <a:sym typeface="+mn-lt"/>
              </a:rPr>
              <a:t>的</a:t>
            </a:r>
            <a:r>
              <a:rPr lang="en-US" altLang="zh-CN" sz="2000" dirty="0">
                <a:solidFill>
                  <a:srgbClr val="0070C0"/>
                </a:solidFill>
                <a:latin typeface="+mn-ea"/>
                <a:cs typeface="+mn-ea"/>
                <a:sym typeface="+mn-lt"/>
              </a:rPr>
              <a:t>100</a:t>
            </a:r>
            <a:r>
              <a:rPr lang="zh-CN" altLang="en-US" sz="2000" dirty="0">
                <a:solidFill>
                  <a:srgbClr val="0070C0"/>
                </a:solidFill>
                <a:latin typeface="+mn-ea"/>
                <a:cs typeface="+mn-ea"/>
                <a:sym typeface="+mn-lt"/>
              </a:rPr>
              <a:t>万亿</a:t>
            </a:r>
            <a:r>
              <a:rPr lang="zh-CN" altLang="en-US" sz="2000" dirty="0">
                <a:solidFill>
                  <a:schemeClr val="bg2">
                    <a:lumMod val="25000"/>
                  </a:schemeClr>
                </a:solidFill>
                <a:latin typeface="+mn-ea"/>
                <a:cs typeface="+mn-ea"/>
                <a:sym typeface="+mn-lt"/>
              </a:rPr>
              <a:t>面额钞票后，津巴布韦政府选择发行第四代新钞，划掉了前一代纸币上的</a:t>
            </a:r>
            <a:r>
              <a:rPr lang="en-US" altLang="zh-CN" sz="2000" dirty="0">
                <a:solidFill>
                  <a:schemeClr val="bg2">
                    <a:lumMod val="25000"/>
                  </a:schemeClr>
                </a:solidFill>
                <a:latin typeface="+mn-ea"/>
                <a:cs typeface="+mn-ea"/>
                <a:sym typeface="+mn-lt"/>
              </a:rPr>
              <a:t>12</a:t>
            </a:r>
            <a:r>
              <a:rPr lang="zh-CN" altLang="en-US" sz="2000" dirty="0">
                <a:solidFill>
                  <a:schemeClr val="bg2">
                    <a:lumMod val="25000"/>
                  </a:schemeClr>
                </a:solidFill>
                <a:latin typeface="+mn-ea"/>
                <a:cs typeface="+mn-ea"/>
                <a:sym typeface="+mn-lt"/>
              </a:rPr>
              <a:t>个“</a:t>
            </a:r>
            <a:r>
              <a:rPr lang="en-US" altLang="zh-CN" sz="2000" dirty="0">
                <a:solidFill>
                  <a:schemeClr val="bg2">
                    <a:lumMod val="25000"/>
                  </a:schemeClr>
                </a:solidFill>
                <a:latin typeface="+mn-ea"/>
                <a:cs typeface="+mn-ea"/>
                <a:sym typeface="+mn-lt"/>
              </a:rPr>
              <a:t>0”</a:t>
            </a:r>
            <a:r>
              <a:rPr lang="zh-CN" altLang="en-US" sz="2000" dirty="0">
                <a:solidFill>
                  <a:schemeClr val="bg2">
                    <a:lumMod val="25000"/>
                  </a:schemeClr>
                </a:solidFill>
                <a:latin typeface="+mn-ea"/>
                <a:cs typeface="+mn-ea"/>
                <a:sym typeface="+mn-lt"/>
              </a:rPr>
              <a:t>，即</a:t>
            </a:r>
            <a:r>
              <a:rPr lang="en-US" altLang="zh-CN" sz="2000" dirty="0">
                <a:solidFill>
                  <a:srgbClr val="0070C0"/>
                </a:solidFill>
                <a:latin typeface="+mn-ea"/>
                <a:cs typeface="+mn-ea"/>
                <a:sym typeface="+mn-lt"/>
              </a:rPr>
              <a:t>1</a:t>
            </a:r>
            <a:r>
              <a:rPr lang="zh-CN" altLang="en-US" sz="2000" dirty="0">
                <a:solidFill>
                  <a:srgbClr val="0070C0"/>
                </a:solidFill>
                <a:latin typeface="+mn-ea"/>
                <a:cs typeface="+mn-ea"/>
                <a:sym typeface="+mn-lt"/>
              </a:rPr>
              <a:t>万亿元第三代钞票</a:t>
            </a:r>
            <a:r>
              <a:rPr lang="en-US" altLang="zh-CN" sz="2000" dirty="0">
                <a:solidFill>
                  <a:srgbClr val="0070C0"/>
                </a:solidFill>
                <a:latin typeface="+mn-ea"/>
                <a:cs typeface="+mn-ea"/>
                <a:sym typeface="+mn-lt"/>
              </a:rPr>
              <a:t>=1</a:t>
            </a:r>
            <a:r>
              <a:rPr lang="zh-CN" altLang="en-US" sz="2000" dirty="0">
                <a:solidFill>
                  <a:srgbClr val="0070C0"/>
                </a:solidFill>
                <a:latin typeface="+mn-ea"/>
                <a:cs typeface="+mn-ea"/>
                <a:sym typeface="+mn-lt"/>
              </a:rPr>
              <a:t>元新钞</a:t>
            </a:r>
            <a:r>
              <a:rPr lang="zh-CN" altLang="en-US" sz="2000" dirty="0">
                <a:solidFill>
                  <a:schemeClr val="bg2">
                    <a:lumMod val="25000"/>
                  </a:schemeClr>
                </a:solidFill>
                <a:latin typeface="+mn-ea"/>
                <a:cs typeface="+mn-ea"/>
                <a:sym typeface="+mn-lt"/>
              </a:rPr>
              <a:t>。但由于恶性通货膨胀，这些“</a:t>
            </a:r>
            <a:r>
              <a:rPr lang="en-US" altLang="zh-CN" sz="2000" dirty="0">
                <a:solidFill>
                  <a:schemeClr val="bg2">
                    <a:lumMod val="25000"/>
                  </a:schemeClr>
                </a:solidFill>
                <a:latin typeface="+mn-ea"/>
                <a:cs typeface="+mn-ea"/>
                <a:sym typeface="+mn-lt"/>
              </a:rPr>
              <a:t>0”</a:t>
            </a:r>
            <a:r>
              <a:rPr lang="zh-CN" altLang="en-US" sz="2000" dirty="0">
                <a:solidFill>
                  <a:schemeClr val="bg2">
                    <a:lumMod val="25000"/>
                  </a:schemeClr>
                </a:solidFill>
                <a:latin typeface="+mn-ea"/>
                <a:cs typeface="+mn-ea"/>
                <a:sym typeface="+mn-lt"/>
              </a:rPr>
              <a:t>又迅速地涨了回来。最终，在该国通胀率达到</a:t>
            </a:r>
            <a:r>
              <a:rPr lang="en-US" altLang="zh-CN" sz="2000" dirty="0">
                <a:solidFill>
                  <a:srgbClr val="0070C0"/>
                </a:solidFill>
                <a:latin typeface="+mn-ea"/>
                <a:cs typeface="+mn-ea"/>
                <a:sym typeface="+mn-lt"/>
              </a:rPr>
              <a:t>1000000000%</a:t>
            </a:r>
            <a:r>
              <a:rPr lang="zh-CN" altLang="en-US" sz="2000" dirty="0">
                <a:solidFill>
                  <a:schemeClr val="bg2">
                    <a:lumMod val="25000"/>
                  </a:schemeClr>
                </a:solidFill>
                <a:latin typeface="+mn-ea"/>
                <a:cs typeface="+mn-ea"/>
                <a:sym typeface="+mn-lt"/>
              </a:rPr>
              <a:t>后，政府宣布停止发行本国货币，开始使用稳定经济体的一篮子货币组合。</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37</a:t>
            </a:fld>
            <a:endParaRPr lang="zh-CN" altLang="en-US"/>
          </a:p>
        </p:txBody>
      </p:sp>
      <p:pic>
        <p:nvPicPr>
          <p:cNvPr id="6" name="图片 5" descr="20180723234142_18173adfa5d51a774ae5e06915afc4b9_2"/>
          <p:cNvPicPr>
            <a:picLocks noChangeAspect="1"/>
          </p:cNvPicPr>
          <p:nvPr/>
        </p:nvPicPr>
        <p:blipFill>
          <a:blip r:embed="rId2"/>
          <a:srcRect l="5248" t="2754" r="1243" b="2310"/>
          <a:stretch>
            <a:fillRect/>
          </a:stretch>
        </p:blipFill>
        <p:spPr>
          <a:xfrm>
            <a:off x="3593465" y="3979332"/>
            <a:ext cx="4921885" cy="2714625"/>
          </a:xfrm>
          <a:prstGeom prst="rect">
            <a:avLst/>
          </a:prstGeom>
        </p:spPr>
      </p:pic>
    </p:spTree>
    <p:extLst>
      <p:ext uri="{BB962C8B-B14F-4D97-AF65-F5344CB8AC3E}">
        <p14:creationId xmlns:p14="http://schemas.microsoft.com/office/powerpoint/2010/main" val="3465487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通货膨胀的经典案例：津巴布韦</a:t>
            </a:r>
          </a:p>
        </p:txBody>
      </p:sp>
      <p:sp>
        <p:nvSpPr>
          <p:cNvPr id="3" name="内容占位符 2"/>
          <p:cNvSpPr>
            <a:spLocks noGrp="1"/>
          </p:cNvSpPr>
          <p:nvPr>
            <p:ph idx="1"/>
          </p:nvPr>
        </p:nvSpPr>
        <p:spPr/>
        <p:txBody>
          <a:bodyPr>
            <a:normAutofit fontScale="92500" lnSpcReduction="20000"/>
          </a:bodyPr>
          <a:lstStyle/>
          <a:p>
            <a:r>
              <a:rPr lang="zh-CN" altLang="en-US" dirty="0">
                <a:solidFill>
                  <a:schemeClr val="bg2">
                    <a:lumMod val="25000"/>
                  </a:schemeClr>
                </a:solidFill>
                <a:cs typeface="+mn-ea"/>
                <a:sym typeface="+mn-lt"/>
              </a:rPr>
              <a:t>为了促使已印发的津巴布韦币彻底退出历史舞台，</a:t>
            </a:r>
            <a:r>
              <a:rPr lang="en-US" altLang="zh-CN" dirty="0">
                <a:solidFill>
                  <a:schemeClr val="bg2">
                    <a:lumMod val="25000"/>
                  </a:schemeClr>
                </a:solidFill>
                <a:cs typeface="+mn-ea"/>
                <a:sym typeface="+mn-lt"/>
              </a:rPr>
              <a:t>2015</a:t>
            </a:r>
            <a:r>
              <a:rPr lang="zh-CN" altLang="en-US" dirty="0">
                <a:solidFill>
                  <a:schemeClr val="bg2">
                    <a:lumMod val="25000"/>
                  </a:schemeClr>
                </a:solidFill>
                <a:cs typeface="+mn-ea"/>
                <a:sym typeface="+mn-lt"/>
              </a:rPr>
              <a:t>年津巴布韦宣布采取“换币”行动，从当年</a:t>
            </a:r>
            <a:r>
              <a:rPr lang="en-US" altLang="zh-CN" dirty="0">
                <a:solidFill>
                  <a:schemeClr val="bg2">
                    <a:lumMod val="25000"/>
                  </a:schemeClr>
                </a:solidFill>
                <a:cs typeface="+mn-ea"/>
                <a:sym typeface="+mn-lt"/>
              </a:rPr>
              <a:t>6</a:t>
            </a:r>
            <a:r>
              <a:rPr lang="zh-CN" altLang="en-US" dirty="0">
                <a:solidFill>
                  <a:schemeClr val="bg2">
                    <a:lumMod val="25000"/>
                  </a:schemeClr>
                </a:solidFill>
                <a:cs typeface="+mn-ea"/>
                <a:sym typeface="+mn-lt"/>
              </a:rPr>
              <a:t>月</a:t>
            </a:r>
            <a:r>
              <a:rPr lang="en-US" altLang="zh-CN" dirty="0">
                <a:solidFill>
                  <a:schemeClr val="bg2">
                    <a:lumMod val="25000"/>
                  </a:schemeClr>
                </a:solidFill>
                <a:cs typeface="+mn-ea"/>
                <a:sym typeface="+mn-lt"/>
              </a:rPr>
              <a:t>15</a:t>
            </a:r>
            <a:r>
              <a:rPr lang="zh-CN" altLang="en-US" dirty="0">
                <a:solidFill>
                  <a:schemeClr val="bg2">
                    <a:lumMod val="25000"/>
                  </a:schemeClr>
                </a:solidFill>
                <a:cs typeface="+mn-ea"/>
                <a:sym typeface="+mn-lt"/>
              </a:rPr>
              <a:t>日起至</a:t>
            </a:r>
            <a:r>
              <a:rPr lang="en-US" altLang="zh-CN" dirty="0">
                <a:solidFill>
                  <a:schemeClr val="bg2">
                    <a:lumMod val="25000"/>
                  </a:schemeClr>
                </a:solidFill>
                <a:cs typeface="+mn-ea"/>
                <a:sym typeface="+mn-lt"/>
              </a:rPr>
              <a:t>9</a:t>
            </a:r>
            <a:r>
              <a:rPr lang="zh-CN" altLang="en-US" dirty="0">
                <a:solidFill>
                  <a:schemeClr val="bg2">
                    <a:lumMod val="25000"/>
                  </a:schemeClr>
                </a:solidFill>
                <a:cs typeface="+mn-ea"/>
                <a:sym typeface="+mn-lt"/>
              </a:rPr>
              <a:t>月</a:t>
            </a:r>
            <a:r>
              <a:rPr lang="en-US" altLang="zh-CN" dirty="0">
                <a:solidFill>
                  <a:schemeClr val="bg2">
                    <a:lumMod val="25000"/>
                  </a:schemeClr>
                </a:solidFill>
                <a:cs typeface="+mn-ea"/>
                <a:sym typeface="+mn-lt"/>
              </a:rPr>
              <a:t>30</a:t>
            </a:r>
            <a:r>
              <a:rPr lang="zh-CN" altLang="en-US" dirty="0">
                <a:solidFill>
                  <a:schemeClr val="bg2">
                    <a:lumMod val="25000"/>
                  </a:schemeClr>
                </a:solidFill>
                <a:cs typeface="+mn-ea"/>
                <a:sym typeface="+mn-lt"/>
              </a:rPr>
              <a:t>日内，</a:t>
            </a:r>
            <a:r>
              <a:rPr lang="en-US" altLang="zh-CN" dirty="0">
                <a:solidFill>
                  <a:srgbClr val="0070C0"/>
                </a:solidFill>
                <a:cs typeface="+mn-ea"/>
                <a:sym typeface="+mn-lt"/>
              </a:rPr>
              <a:t>175</a:t>
            </a:r>
            <a:r>
              <a:rPr lang="zh-CN" altLang="en-US" dirty="0">
                <a:solidFill>
                  <a:srgbClr val="0070C0"/>
                </a:solidFill>
                <a:cs typeface="+mn-ea"/>
                <a:sym typeface="+mn-lt"/>
              </a:rPr>
              <a:t>千万亿津巴布韦元可兑换</a:t>
            </a:r>
            <a:r>
              <a:rPr lang="en-US" altLang="zh-CN" dirty="0">
                <a:solidFill>
                  <a:srgbClr val="0070C0"/>
                </a:solidFill>
                <a:cs typeface="+mn-ea"/>
                <a:sym typeface="+mn-lt"/>
              </a:rPr>
              <a:t>5</a:t>
            </a:r>
            <a:r>
              <a:rPr lang="zh-CN" altLang="en-US" dirty="0">
                <a:solidFill>
                  <a:srgbClr val="0070C0"/>
                </a:solidFill>
                <a:cs typeface="+mn-ea"/>
                <a:sym typeface="+mn-lt"/>
              </a:rPr>
              <a:t>美元</a:t>
            </a:r>
            <a:r>
              <a:rPr lang="zh-CN" altLang="en-US" dirty="0">
                <a:solidFill>
                  <a:schemeClr val="bg2">
                    <a:lumMod val="25000"/>
                  </a:schemeClr>
                </a:solidFill>
                <a:cs typeface="+mn-ea"/>
                <a:sym typeface="+mn-lt"/>
              </a:rPr>
              <a:t>，每个津元账户最少可得</a:t>
            </a:r>
            <a:r>
              <a:rPr lang="en-US" altLang="zh-CN" dirty="0">
                <a:solidFill>
                  <a:schemeClr val="bg2">
                    <a:lumMod val="25000"/>
                  </a:schemeClr>
                </a:solidFill>
                <a:cs typeface="+mn-ea"/>
                <a:sym typeface="+mn-lt"/>
              </a:rPr>
              <a:t>5</a:t>
            </a:r>
            <a:r>
              <a:rPr lang="zh-CN" altLang="en-US" dirty="0">
                <a:solidFill>
                  <a:schemeClr val="bg2">
                    <a:lumMod val="25000"/>
                  </a:schemeClr>
                </a:solidFill>
                <a:cs typeface="+mn-ea"/>
                <a:sym typeface="+mn-lt"/>
              </a:rPr>
              <a:t>美元。此外，对于</a:t>
            </a:r>
            <a:r>
              <a:rPr lang="en-US" altLang="zh-CN" dirty="0">
                <a:solidFill>
                  <a:schemeClr val="bg2">
                    <a:lumMod val="25000"/>
                  </a:schemeClr>
                </a:solidFill>
                <a:cs typeface="+mn-ea"/>
                <a:sym typeface="+mn-lt"/>
              </a:rPr>
              <a:t>2009</a:t>
            </a:r>
            <a:r>
              <a:rPr lang="zh-CN" altLang="en-US" dirty="0">
                <a:solidFill>
                  <a:schemeClr val="bg2">
                    <a:lumMod val="25000"/>
                  </a:schemeClr>
                </a:solidFill>
                <a:cs typeface="+mn-ea"/>
                <a:sym typeface="+mn-lt"/>
              </a:rPr>
              <a:t>年以前发行的老版津元，</a:t>
            </a:r>
            <a:r>
              <a:rPr lang="en-US" altLang="zh-CN" dirty="0">
                <a:solidFill>
                  <a:srgbClr val="0070C0"/>
                </a:solidFill>
                <a:cs typeface="+mn-ea"/>
                <a:sym typeface="+mn-lt"/>
              </a:rPr>
              <a:t>250</a:t>
            </a:r>
            <a:r>
              <a:rPr lang="zh-CN" altLang="en-US" dirty="0">
                <a:solidFill>
                  <a:srgbClr val="0070C0"/>
                </a:solidFill>
                <a:cs typeface="+mn-ea"/>
                <a:sym typeface="+mn-lt"/>
              </a:rPr>
              <a:t>万亿津元可兑换</a:t>
            </a:r>
            <a:r>
              <a:rPr lang="en-US" altLang="zh-CN" dirty="0">
                <a:solidFill>
                  <a:srgbClr val="0070C0"/>
                </a:solidFill>
                <a:cs typeface="+mn-ea"/>
                <a:sym typeface="+mn-lt"/>
              </a:rPr>
              <a:t>1</a:t>
            </a:r>
            <a:r>
              <a:rPr lang="zh-CN" altLang="en-US" dirty="0">
                <a:solidFill>
                  <a:srgbClr val="0070C0"/>
                </a:solidFill>
                <a:cs typeface="+mn-ea"/>
                <a:sym typeface="+mn-lt"/>
              </a:rPr>
              <a:t>美元</a:t>
            </a:r>
            <a:r>
              <a:rPr lang="zh-CN" altLang="en-US" dirty="0">
                <a:solidFill>
                  <a:schemeClr val="bg2">
                    <a:lumMod val="25000"/>
                  </a:schemeClr>
                </a:solidFill>
                <a:cs typeface="+mn-ea"/>
                <a:sym typeface="+mn-lt"/>
              </a:rPr>
              <a:t>。</a:t>
            </a:r>
          </a:p>
          <a:p>
            <a:r>
              <a:rPr lang="en-US" altLang="zh-CN" dirty="0">
                <a:solidFill>
                  <a:schemeClr val="bg2">
                    <a:lumMod val="25000"/>
                  </a:schemeClr>
                </a:solidFill>
                <a:cs typeface="+mn-ea"/>
                <a:sym typeface="+mn-lt"/>
              </a:rPr>
              <a:t>2017</a:t>
            </a:r>
            <a:r>
              <a:rPr lang="zh-CN" altLang="en-US" dirty="0">
                <a:solidFill>
                  <a:schemeClr val="bg2">
                    <a:lumMod val="25000"/>
                  </a:schemeClr>
                </a:solidFill>
                <a:cs typeface="+mn-ea"/>
                <a:sym typeface="+mn-lt"/>
              </a:rPr>
              <a:t>年开始，由于长期缺乏美元储备，津巴布韦中央银行实行管制，规定每天每个账户只能提取</a:t>
            </a:r>
            <a:r>
              <a:rPr lang="en-US" altLang="zh-CN" dirty="0">
                <a:solidFill>
                  <a:srgbClr val="0070C0"/>
                </a:solidFill>
                <a:cs typeface="+mn-ea"/>
                <a:sym typeface="+mn-lt"/>
              </a:rPr>
              <a:t>50</a:t>
            </a:r>
            <a:r>
              <a:rPr lang="zh-CN" altLang="en-US" dirty="0">
                <a:solidFill>
                  <a:srgbClr val="0070C0"/>
                </a:solidFill>
                <a:cs typeface="+mn-ea"/>
                <a:sym typeface="+mn-lt"/>
              </a:rPr>
              <a:t>美元</a:t>
            </a:r>
            <a:r>
              <a:rPr lang="zh-CN" altLang="en-US" dirty="0">
                <a:solidFill>
                  <a:schemeClr val="bg2">
                    <a:lumMod val="25000"/>
                  </a:schemeClr>
                </a:solidFill>
                <a:cs typeface="+mn-ea"/>
                <a:sym typeface="+mn-lt"/>
              </a:rPr>
              <a:t>，而银行自身的限制则更为严苛</a:t>
            </a:r>
            <a:r>
              <a:rPr lang="en-US" altLang="zh-CN" dirty="0">
                <a:solidFill>
                  <a:schemeClr val="bg2">
                    <a:lumMod val="25000"/>
                  </a:schemeClr>
                </a:solidFill>
                <a:cs typeface="+mn-ea"/>
                <a:sym typeface="+mn-lt"/>
              </a:rPr>
              <a:t>——</a:t>
            </a:r>
            <a:r>
              <a:rPr lang="zh-CN" altLang="en-US" dirty="0">
                <a:solidFill>
                  <a:schemeClr val="bg2">
                    <a:lumMod val="25000"/>
                  </a:schemeClr>
                </a:solidFill>
                <a:cs typeface="+mn-ea"/>
                <a:sym typeface="+mn-lt"/>
              </a:rPr>
              <a:t>只能提取</a:t>
            </a:r>
            <a:r>
              <a:rPr lang="en-US" altLang="zh-CN" dirty="0">
                <a:solidFill>
                  <a:srgbClr val="0070C0"/>
                </a:solidFill>
                <a:cs typeface="+mn-ea"/>
                <a:sym typeface="+mn-lt"/>
              </a:rPr>
              <a:t>20</a:t>
            </a:r>
            <a:r>
              <a:rPr lang="zh-CN" altLang="en-US" dirty="0">
                <a:solidFill>
                  <a:srgbClr val="0070C0"/>
                </a:solidFill>
                <a:cs typeface="+mn-ea"/>
                <a:sym typeface="+mn-lt"/>
              </a:rPr>
              <a:t>美元</a:t>
            </a:r>
            <a:r>
              <a:rPr lang="zh-CN" altLang="en-US" dirty="0">
                <a:solidFill>
                  <a:schemeClr val="bg2">
                    <a:lumMod val="25000"/>
                  </a:schemeClr>
                </a:solidFill>
                <a:cs typeface="+mn-ea"/>
                <a:sym typeface="+mn-lt"/>
              </a:rPr>
              <a:t>。每天，都有民众在银行门口排起长龙，等待着将账户中的“津美元”变为手中真实存在的现钞。</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38</a:t>
            </a:fld>
            <a:endParaRPr lang="zh-CN" altLang="en-US"/>
          </a:p>
        </p:txBody>
      </p:sp>
    </p:spTree>
    <p:extLst>
      <p:ext uri="{BB962C8B-B14F-4D97-AF65-F5344CB8AC3E}">
        <p14:creationId xmlns:p14="http://schemas.microsoft.com/office/powerpoint/2010/main" val="937187268"/>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544</TotalTime>
  <Words>2664</Words>
  <Application>Microsoft Office PowerPoint</Application>
  <PresentationFormat>全屏显示(4:3)</PresentationFormat>
  <Paragraphs>299</Paragraphs>
  <Slides>38</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华文新魏</vt:lpstr>
      <vt:lpstr>宋体</vt:lpstr>
      <vt:lpstr>微软雅黑</vt:lpstr>
      <vt:lpstr>Arial</vt:lpstr>
      <vt:lpstr>Calibri</vt:lpstr>
      <vt:lpstr>Calibri Light</vt:lpstr>
      <vt:lpstr>Times New Roman</vt:lpstr>
      <vt:lpstr>Wingdings</vt:lpstr>
      <vt:lpstr>Office 主题</vt:lpstr>
      <vt:lpstr>第二章 货币</vt:lpstr>
      <vt:lpstr>第二章主要内容</vt:lpstr>
      <vt:lpstr>PowerPoint 演示文稿</vt:lpstr>
      <vt:lpstr>货币的起源和本质</vt:lpstr>
      <vt:lpstr>简单的、个别的或偶然的价值形式</vt:lpstr>
      <vt:lpstr>简单的、个别的或偶然的价值形式</vt:lpstr>
      <vt:lpstr>总和的或扩大价值形式</vt:lpstr>
      <vt:lpstr>一般价值形式</vt:lpstr>
      <vt:lpstr>货币形式</vt:lpstr>
      <vt:lpstr>货币形式</vt:lpstr>
      <vt:lpstr>货币的职能：价值尺度</vt:lpstr>
      <vt:lpstr>货币职能：流通手段</vt:lpstr>
      <vt:lpstr>货币职能：贮藏手段</vt:lpstr>
      <vt:lpstr>货币的职能：支付手段</vt:lpstr>
      <vt:lpstr>货币职能：支付手段</vt:lpstr>
      <vt:lpstr>货币职能：世界货币</vt:lpstr>
      <vt:lpstr>PowerPoint 演示文稿</vt:lpstr>
      <vt:lpstr>货币的形式</vt:lpstr>
      <vt:lpstr>货币的形式</vt:lpstr>
      <vt:lpstr>古代的货币</vt:lpstr>
      <vt:lpstr>人民币</vt:lpstr>
      <vt:lpstr>人民币</vt:lpstr>
      <vt:lpstr>纸币</vt:lpstr>
      <vt:lpstr>信用货币</vt:lpstr>
      <vt:lpstr>货币层次：国际货币基金组织（IMF）</vt:lpstr>
      <vt:lpstr>货币层次：中国</vt:lpstr>
      <vt:lpstr>PowerPoint 演示文稿</vt:lpstr>
      <vt:lpstr>货币和商品流通</vt:lpstr>
      <vt:lpstr>货币流通规律</vt:lpstr>
      <vt:lpstr>纸币流通规律</vt:lpstr>
      <vt:lpstr>通货膨胀</vt:lpstr>
      <vt:lpstr>通货膨胀的衡量CPI</vt:lpstr>
      <vt:lpstr>通货膨胀的经典案例：一战后的德国</vt:lpstr>
      <vt:lpstr>通货膨胀的经典案例：一战后的德国</vt:lpstr>
      <vt:lpstr>通货膨胀的经典案例：津巴布韦</vt:lpstr>
      <vt:lpstr>通货膨胀的经典案例：津巴布韦</vt:lpstr>
      <vt:lpstr>通货膨胀的经典案例：津巴布韦</vt:lpstr>
      <vt:lpstr>通货膨胀的经典案例：津巴布韦</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jiang</cp:lastModifiedBy>
  <cp:revision>47</cp:revision>
  <dcterms:created xsi:type="dcterms:W3CDTF">2013-11-29T11:59:20Z</dcterms:created>
  <dcterms:modified xsi:type="dcterms:W3CDTF">2023-10-10T11:18:38Z</dcterms:modified>
</cp:coreProperties>
</file>